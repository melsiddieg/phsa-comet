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4610"/>
  </p:normalViewPr>
  <p:slideViewPr>
    <p:cSldViewPr snapToGrid="0" snapToObjects="1">
      <p:cViewPr varScale="1">
        <p:scale>
          <a:sx n="155" d="100"/>
          <a:sy n="155"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761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about turning a hospital's private codes into the shared language of research — OMOP concept mapping — and the tool we built to do it: COMET. We'll cover the problem, the two vocabulary worlds we bridge, how the mapping actually builds the research database, and what the new COMET adds. Keep the through-line simple: incompatible local codes in, clean standardized data 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isn't missing data — it's incompatible data. Every hospital invents its own codes, so the same fact, "diabetes," is a different number in each system. Point at the example: same word, two codes, and you can't combine them. That is exactly what mapping fixes.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OMOP is the shared language that fixes Babel. Every clinical fact points to one concept in a giant reference table. Each domain has one "standard" vocabulary everyone analyzes against, and a source code reaches it through the "Maps to" relationship. The picture on the left is the whole idea: many local codes collapse into one standard concept.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isn't one hard decision, it's a hundred thousand small ones. Codes are ambiguous, rarely one-to-one, and there's a huge long tail — so you map by impact. Vocabularies also change quarterly, so correct maps silently rot. The one rule that makes it all work: only ever map to a standard, valid concept.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source side. Cerner Millennium names things four ways: nomenclature for diagnoses, event codes for labs and vitals, code sets for enumerated attributes, and Multum for drugs. Key point: these are local, numeric ids configured per hospital build, exported to COMET as "MR sheets" — one per Cerner area.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use these codes as-is? They're build-specific — the same term has a different id at every site. Some carry a CKI hint to SNOMED or ICD, but many are pure local free-text. Walk through the example: no standard reference, 60,000 records behind it — so a human has to map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crosswalk answers "where does each thing go?" Diagnoses become Conditions, labs become Measurements, meds become Drugs, and so on — each landing in the CDM table built for it. The important idea: you don't choose the table. The target concept's domain decides it, and the ETL routes the record automatically.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on the source data itself. Millennium exports each area as a MappingReport that COMET imports. Every row carries its record volume, so we map the busiest terms first. Reports are versioned — terms appear as New, Still present, or Absent as the build evolves. Note the scale: 189,000 terms describing 1.5 billion records.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standard vocabulary comes from — Athena, the OHDSI download portal. The big win: it bundles 100-plus source vocabularies into one model with standard flags and "Maps to" already computed, so we never harmonize them ourselves. You pick vocabularies and download a versioned "vintage"; a few, like CPT-4, need a licence.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COMET uses that download. Load it once through staged tables with an atomic swap — zero downtime — and stamp the vintage on the home page. Then every table earns its keep: concepts and synonyms drive search, ancestors drive hierarchy, domain drives the domain view, relationships drive guardrails and the impact report. Validated on real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a single concept. Eight fields carry the whole meaning of a clinical fact. The one to remember is standard_concept — "S" means it's a valid analysis target. Everything else routes or describes it. The bottom row is a real one: 316866, Hypertensive disorder, marked "S".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mechanics that matter downstream. First, a concept's domain decides its CDM table — one domain per concept, no ambiguity. Second, hierarchy: because concepts are linked by "Is a," you can query a parent like "Hypertensive disorder" and automatically get every descendant. That's what makes standardized data powerful, not just tidy.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it together. Two streams flow in — the OMOP vocabulary from Athena, and Cerner's source terms. People map in the middle, and one clean stream flows out to the CDM. The line to land: COMET never writes a map on its own. It's a shared web app that accelerates expert judgement and records every decision.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and how it builds the CDM. Follow the flow: a raw Cerner event, joined to STCM on its source code, becomes a CDM row with a standard concept_id filled in. Below is what's in each mapping row — the one that matters is target_concept_id, the standard concept the map points 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STCM is so high-leverage. One reviewed row standardizes every matching record — one decision, millions of events. And nothing is lost: the CDM keeps the original source value and source concept id alongside the standard one, so every fact traces back. Because targets are standard and valid, the same query runs at every OMOP site.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Situate COMET in the OHDSI ecosystem. Usagi is the community's standard mapping tool: it proposes candidates by lexical similarity, a human approves them, and it exports a source-to-concept map. COMET shares that exact philosophy — machine proposes, human decides — but makes it web-based, multi-user, and guardrailed, and it even exports Usagi format. The catch to flag: Usagi's candidates are purely lexical, which is where the next slides pick up.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product story. The original COMET did the job — and to be fair it already had multi-user accounts, the four roles, and a reviewer approval flow. But it was procedural PHP with literal search, no drift control, string-built SQL, and an audit trail that silently failed under strict mode. The mapping logic was sound; the foundation was fragile. That's what the rebuild set out to fix — same ideas, production-grade.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rebuild, on a modern OMOP-native stack: Laravel and Postgres, single sign-on with roles, 70 automated tests, and 16,000 maps migrated with verified parity — identical to the old system. Headline: all 12 modernization milestones complete. The full mapping loop, rebuilt.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enhancement — search. This isn't string matching. It's layered: exact code first, then trigram and accent-insensitive matching for typos and French synonyms, then token coverage for reordered phrases. The examples on the right are real: messy input still finds the right concept.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 mapping at scale. Candidates are precomputed for every unmapped term, so there's never a wait. A keyboard-driven mapping mode lets you fly down the queue, record equivalence, and propagate one decision to all identical terms. That's 124,000 candidates precomputed across 48,000 terms.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 the trust layer. Guardrails block non-standard targets and offer the replacement. Every decision is audited. There's a review-and-approve loop, the vocabulary impact report catches drift after each release, lightweight claims stop collisions, and a dashboard shows the team's throughput. The line: the difference between a spreadsheet and a system of record.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close the substance. One: first-class Canadian support — ICD-10-CA, CCI, SNOMED CT-CA, pCLOCD — with custom concepts in the 2-billion range and an SDO path for genuinely unmappable terms, so we never force a wrong map. Two: it's validated end-to-end on a real vocabulary, with byte-for-byte parity against the legacy system.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 two comparisons in one table. Versus Usagi: COMET is a multi-user web app with hybrid search, enforced guardrails, a real review-and-audit trail, drift detection, Canadian vocabularies, and Usagi-compatible export — same core loop, machine proposes and human decides. Versus the original COMET, be precise: the original already had the four roles and a reviewer flow, so the rebuild's real gains are SSO, enforced guardrails, an audit that actually works, drift detection, and team features like claims and a dashboard. Land it: not a different idea from Usagi — a production-grade, team-scale realization of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recent result — Ahmed and colleagues at Montefiore, presented at OHDSI 2025. Walk the pipeline: one agent expands the messy source term, then semantic embeddings plus the OMOP graph shortlist candidates, then a second agent filters and a third selects — each with a justification and a confidence. The headline: on 100 real lab terms, 48% matched the manual map exactly and 70% were within the top candidates, for about five dollars per hundred. The point isn't that it's perfect — it's that semantic, graph-aware mapping now works.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fits COMET specifically. COMET already loads the exact graph the approach needs — concepts, synonyms, ancestors, relationships — into Postgres. The agents' output would land in the same map_candidates slot our auto-mapper already fills, so the mapping screen doesn't change. Crucially, the guardrails and human review stay in place: suggestions are validated against CDM v5.4 and a person still approves, with the model and rationale logged for audit. Keep the principle explicit — COMET stays deterministic by default and human-in-the-loop; this augments candidate generation, it doesn't hand over judgement. And we'd evaluate it blind before trusting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From the original COMET to the new one: a tool a team can trust — modern stack, smart search, guardrails and review, Canadian-ready, built for teams. The numbers tell the story: 12 of 12 milestones, 70 tests, 189,000 terms, 124,000 candidates. And the real point: the goal was never to map faster than a human, but to help a team map consistently, correctly, and accountably, at a scale no one could manage alone.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8.png"/><Relationship Id="rId4" Type="http://schemas.openxmlformats.org/officeDocument/2006/relationships/image" Target="../media/image25.png"/><Relationship Id="rId9"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28.png"/><Relationship Id="rId9"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8.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2.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49.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50.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013"/>
        </a:solidFill>
        <a:effectLst/>
      </p:bgPr>
    </p:bg>
    <p:spTree>
      <p:nvGrpSpPr>
        <p:cNvPr id="1" name=""/>
        <p:cNvGrpSpPr/>
        <p:nvPr/>
      </p:nvGrpSpPr>
      <p:grpSpPr>
        <a:xfrm>
          <a:off x="0" y="0"/>
          <a:ext cx="0" cy="0"/>
          <a:chOff x="0" y="0"/>
          <a:chExt cx="0" cy="0"/>
        </a:xfrm>
      </p:grpSpPr>
      <p:pic>
        <p:nvPicPr>
          <p:cNvPr id="2" name="Image 0" descr="/private/tmp/claude-501/-Users-mohammedabdallah-Projects-commet/f78115b9-c404-4e19-b5c5-246250312e25/scratchpad/gen/title.png"/>
          <p:cNvPicPr>
            <a:picLocks noChangeAspect="1"/>
          </p:cNvPicPr>
          <p:nvPr/>
        </p:nvPicPr>
        <p:blipFill>
          <a:blip r:embed="rId3"/>
          <a:stretch>
            <a:fillRect/>
          </a:stretch>
        </p:blipFill>
        <p:spPr>
          <a:xfrm>
            <a:off x="-45720" y="0"/>
            <a:ext cx="12289536" cy="6858000"/>
          </a:xfrm>
          <a:prstGeom prst="rect">
            <a:avLst/>
          </a:prstGeom>
        </p:spPr>
      </p:pic>
      <p:sp>
        <p:nvSpPr>
          <p:cNvPr id="4" name="Shape 0"/>
          <p:cNvSpPr/>
          <p:nvPr/>
        </p:nvSpPr>
        <p:spPr>
          <a:xfrm>
            <a:off x="0" y="0"/>
            <a:ext cx="12191695" cy="6858000"/>
          </a:xfrm>
          <a:prstGeom prst="rect">
            <a:avLst/>
          </a:prstGeom>
          <a:solidFill>
            <a:srgbClr val="2A2013">
              <a:alpha val="20000"/>
            </a:srgbClr>
          </a:solidFill>
          <a:ln/>
        </p:spPr>
        <p:txBody>
          <a:bodyPr/>
          <a:lstStyle/>
          <a:p>
            <a:endParaRPr lang="en-US"/>
          </a:p>
        </p:txBody>
      </p:sp>
      <p:sp>
        <p:nvSpPr>
          <p:cNvPr id="5" name="Text 1"/>
          <p:cNvSpPr/>
          <p:nvPr/>
        </p:nvSpPr>
        <p:spPr>
          <a:xfrm>
            <a:off x="777240" y="1143000"/>
            <a:ext cx="7315200" cy="365760"/>
          </a:xfrm>
          <a:prstGeom prst="rect">
            <a:avLst/>
          </a:prstGeom>
          <a:noFill/>
          <a:ln/>
        </p:spPr>
        <p:txBody>
          <a:bodyPr wrap="square" lIns="0" tIns="0" rIns="0" bIns="0" rtlCol="0" anchor="ctr"/>
          <a:lstStyle/>
          <a:p>
            <a:pPr marL="0" indent="0">
              <a:buNone/>
            </a:pPr>
            <a:r>
              <a:rPr lang="en-US" sz="1400" b="1" kern="0" spc="300" dirty="0">
                <a:solidFill>
                  <a:srgbClr val="C7902B"/>
                </a:solidFill>
                <a:latin typeface="Calibri" pitchFamily="34" charset="0"/>
                <a:ea typeface="Calibri" pitchFamily="34" charset="-122"/>
                <a:cs typeface="Calibri" pitchFamily="34" charset="-120"/>
              </a:rPr>
              <a:t>CLINICAL DATA SCIENCE</a:t>
            </a:r>
            <a:endParaRPr lang="en-US" sz="1400" dirty="0"/>
          </a:p>
        </p:txBody>
      </p:sp>
      <p:sp>
        <p:nvSpPr>
          <p:cNvPr id="6" name="Text 2"/>
          <p:cNvSpPr/>
          <p:nvPr/>
        </p:nvSpPr>
        <p:spPr>
          <a:xfrm>
            <a:off x="731520" y="1600200"/>
            <a:ext cx="749808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OMOP Concept Mapping</a:t>
            </a:r>
            <a:endParaRPr lang="en-US" sz="4600" dirty="0"/>
          </a:p>
        </p:txBody>
      </p:sp>
      <p:sp>
        <p:nvSpPr>
          <p:cNvPr id="7" name="Text 3"/>
          <p:cNvSpPr/>
          <p:nvPr/>
        </p:nvSpPr>
        <p:spPr>
          <a:xfrm>
            <a:off x="777240" y="2788920"/>
            <a:ext cx="6035040" cy="1005840"/>
          </a:xfrm>
          <a:prstGeom prst="rect">
            <a:avLst/>
          </a:prstGeom>
          <a:noFill/>
          <a:ln/>
        </p:spPr>
        <p:txBody>
          <a:bodyPr wrap="square" lIns="0" tIns="0" rIns="0" bIns="0" rtlCol="0" anchor="ctr"/>
          <a:lstStyle/>
          <a:p>
            <a:pPr marL="0" indent="0">
              <a:buNone/>
            </a:pPr>
            <a:r>
              <a:rPr lang="en-US" sz="1900" i="1" dirty="0">
                <a:solidFill>
                  <a:srgbClr val="F1E7D6"/>
                </a:solidFill>
                <a:latin typeface="Calibri" pitchFamily="34" charset="0"/>
                <a:ea typeface="Calibri" pitchFamily="34" charset="-122"/>
                <a:cs typeface="Calibri" pitchFamily="34" charset="-120"/>
              </a:rPr>
              <a:t>From a hospital's private codes to the common language of research</a:t>
            </a:r>
            <a:endParaRPr lang="en-US" sz="1900" dirty="0"/>
          </a:p>
        </p:txBody>
      </p:sp>
      <p:sp>
        <p:nvSpPr>
          <p:cNvPr id="8" name="Text 4"/>
          <p:cNvSpPr/>
          <p:nvPr/>
        </p:nvSpPr>
        <p:spPr>
          <a:xfrm>
            <a:off x="777240" y="6172200"/>
            <a:ext cx="10058400" cy="365760"/>
          </a:xfrm>
          <a:prstGeom prst="rect">
            <a:avLst/>
          </a:prstGeom>
          <a:noFill/>
          <a:ln/>
        </p:spPr>
        <p:txBody>
          <a:bodyPr wrap="square" lIns="0" tIns="0" rIns="0" bIns="0" rtlCol="0" anchor="ctr"/>
          <a:lstStyle/>
          <a:p>
            <a:pPr marL="0" indent="0">
              <a:buNone/>
            </a:pPr>
            <a:r>
              <a:rPr lang="en-US" sz="1300" dirty="0">
                <a:solidFill>
                  <a:srgbClr val="C7902B"/>
                </a:solidFill>
                <a:latin typeface="Calibri" pitchFamily="34" charset="0"/>
                <a:ea typeface="Calibri" pitchFamily="34" charset="-122"/>
                <a:cs typeface="Calibri" pitchFamily="34" charset="-120"/>
              </a:rPr>
              <a:t>COMET  ·  Central Online Mapping &amp; Export Tool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The problem: a Babel of health data</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Every hospital records the same care in a different, private code language</a:t>
            </a:r>
            <a:endParaRPr lang="en-US" sz="1450" dirty="0"/>
          </a:p>
        </p:txBody>
      </p:sp>
      <p:sp>
        <p:nvSpPr>
          <p:cNvPr id="5" name="Text 2"/>
          <p:cNvSpPr/>
          <p:nvPr/>
        </p:nvSpPr>
        <p:spPr>
          <a:xfrm>
            <a:off x="640080" y="1554480"/>
            <a:ext cx="5120640" cy="2651760"/>
          </a:xfrm>
          <a:prstGeom prst="rect">
            <a:avLst/>
          </a:prstGeom>
          <a:noFill/>
          <a:ln/>
        </p:spPr>
        <p:txBody>
          <a:bodyPr wrap="square" lIns="0" tIns="0" rIns="0" bIns="0" rtlCol="0" anchor="ctr"/>
          <a:lstStyle/>
          <a:p>
            <a:pPr marL="0" indent="0">
              <a:lnSpc>
                <a:spcPct val="105000"/>
              </a:lnSpc>
              <a:spcAft>
                <a:spcPts val="600"/>
              </a:spcAft>
              <a:buNone/>
            </a:pPr>
            <a:r>
              <a:rPr lang="en-US" sz="1600" b="1" dirty="0">
                <a:solidFill>
                  <a:srgbClr val="2B2B2B"/>
                </a:solidFill>
              </a:rPr>
              <a:t>Two hospitals ask the same question</a:t>
            </a:r>
            <a:endParaRPr lang="en-US" sz="1600" dirty="0"/>
          </a:p>
          <a:p>
            <a:pPr marL="0" indent="0">
              <a:lnSpc>
                <a:spcPct val="105000"/>
              </a:lnSpc>
              <a:spcAft>
                <a:spcPts val="1200"/>
              </a:spcAft>
              <a:buNone/>
            </a:pPr>
            <a:r>
              <a:rPr lang="en-US" sz="1450" dirty="0">
                <a:solidFill>
                  <a:srgbClr val="6E6A63"/>
                </a:solidFill>
              </a:rPr>
              <a:t>— how many diabetic patients received a drug, and what happened? Both hold the answer. Neither can combine it.</a:t>
            </a:r>
            <a:endParaRPr lang="en-US" sz="1600" dirty="0"/>
          </a:p>
          <a:p>
            <a:pPr marL="0" indent="0">
              <a:lnSpc>
                <a:spcPct val="105000"/>
              </a:lnSpc>
              <a:buNone/>
            </a:pPr>
            <a:r>
              <a:rPr lang="en-US" sz="1450" dirty="0">
                <a:solidFill>
                  <a:srgbClr val="2B2B2B"/>
                </a:solidFill>
              </a:rPr>
              <a:t>The obstacle isn't missing data. It's that </a:t>
            </a:r>
            <a:r>
              <a:rPr lang="en-US" sz="1450" b="1" dirty="0">
                <a:solidFill>
                  <a:srgbClr val="C7902B"/>
                </a:solidFill>
              </a:rPr>
              <a:t>local codes</a:t>
            </a:r>
            <a:r>
              <a:rPr lang="en-US" sz="1450" dirty="0">
                <a:solidFill>
                  <a:srgbClr val="2B2B2B"/>
                </a:solidFill>
              </a:rPr>
              <a:t> mean nothing outside the walls that made them — diagnoses, drugs, labs, units, all defined in-house and subtly incompatible.</a:t>
            </a:r>
            <a:endParaRPr lang="en-US" sz="1600" dirty="0"/>
          </a:p>
        </p:txBody>
      </p:sp>
      <p:sp>
        <p:nvSpPr>
          <p:cNvPr id="6" name="Shape 3"/>
          <p:cNvSpPr/>
          <p:nvPr/>
        </p:nvSpPr>
        <p:spPr>
          <a:xfrm>
            <a:off x="640080" y="4343400"/>
            <a:ext cx="5120640" cy="914400"/>
          </a:xfrm>
          <a:prstGeom prst="roundRect">
            <a:avLst>
              <a:gd name="adj" fmla="val 6000"/>
            </a:avLst>
          </a:prstGeom>
          <a:solidFill>
            <a:srgbClr val="F6F2EB"/>
          </a:solidFill>
          <a:ln w="12700">
            <a:solidFill>
              <a:srgbClr val="DAD3C6"/>
            </a:solidFill>
            <a:prstDash val="solid"/>
          </a:ln>
        </p:spPr>
        <p:txBody>
          <a:bodyPr/>
          <a:lstStyle/>
          <a:p>
            <a:endParaRPr lang="en-US"/>
          </a:p>
        </p:txBody>
      </p:sp>
      <p:sp>
        <p:nvSpPr>
          <p:cNvPr id="7" name="Text 4"/>
          <p:cNvSpPr/>
          <p:nvPr/>
        </p:nvSpPr>
        <p:spPr>
          <a:xfrm>
            <a:off x="914400" y="4343400"/>
            <a:ext cx="4754880" cy="914400"/>
          </a:xfrm>
          <a:prstGeom prst="rect">
            <a:avLst/>
          </a:prstGeom>
          <a:noFill/>
          <a:ln/>
        </p:spPr>
        <p:txBody>
          <a:bodyPr wrap="square" lIns="0" tIns="0" rIns="0" bIns="0" rtlCol="0" anchor="ctr"/>
          <a:lstStyle/>
          <a:p>
            <a:pPr marL="0" indent="0">
              <a:lnSpc>
                <a:spcPct val="115000"/>
              </a:lnSpc>
              <a:buNone/>
            </a:pPr>
            <a:r>
              <a:rPr lang="en-US" sz="1300" b="1" dirty="0">
                <a:solidFill>
                  <a:srgbClr val="C7902B"/>
                </a:solidFill>
              </a:rPr>
              <a:t>"diabetes"</a:t>
            </a:r>
            <a:r>
              <a:rPr lang="en-US" sz="1300" dirty="0">
                <a:solidFill>
                  <a:srgbClr val="6E6A63"/>
                </a:solidFill>
              </a:rPr>
              <a:t>  →  </a:t>
            </a:r>
            <a:r>
              <a:rPr lang="en-US" sz="1300" b="1" dirty="0">
                <a:solidFill>
                  <a:srgbClr val="2B2B2B"/>
                </a:solidFill>
                <a:latin typeface="Courier New" pitchFamily="34" charset="0"/>
                <a:ea typeface="Courier New" pitchFamily="34" charset="-122"/>
                <a:cs typeface="Courier New" pitchFamily="34" charset="-120"/>
              </a:rPr>
              <a:t>2119534</a:t>
            </a:r>
            <a:r>
              <a:rPr lang="en-US" sz="1200" dirty="0">
                <a:solidFill>
                  <a:srgbClr val="6E6A63"/>
                </a:solidFill>
              </a:rPr>
              <a:t>   at Hospital A
</a:t>
            </a:r>
            <a:r>
              <a:rPr lang="en-US" sz="1300" b="1" dirty="0">
                <a:solidFill>
                  <a:srgbClr val="C7902B"/>
                </a:solidFill>
              </a:rPr>
              <a:t>"diabetes"</a:t>
            </a:r>
            <a:r>
              <a:rPr lang="en-US" sz="1300" dirty="0">
                <a:solidFill>
                  <a:srgbClr val="6E6A63"/>
                </a:solidFill>
              </a:rPr>
              <a:t>  →  </a:t>
            </a:r>
            <a:r>
              <a:rPr lang="en-US" sz="1300" b="1" dirty="0">
                <a:solidFill>
                  <a:srgbClr val="2B2B2B"/>
                </a:solidFill>
                <a:latin typeface="Courier New" pitchFamily="34" charset="0"/>
                <a:ea typeface="Courier New" pitchFamily="34" charset="-122"/>
                <a:cs typeface="Courier New" pitchFamily="34" charset="-120"/>
              </a:rPr>
              <a:t>44054006</a:t>
            </a:r>
            <a:r>
              <a:rPr lang="en-US" sz="1200" dirty="0">
                <a:solidFill>
                  <a:srgbClr val="6E6A63"/>
                </a:solidFill>
              </a:rPr>
              <a:t>   at Hospital B</a:t>
            </a:r>
            <a:endParaRPr lang="en-US" sz="1300" dirty="0"/>
          </a:p>
        </p:txBody>
      </p:sp>
      <p:sp>
        <p:nvSpPr>
          <p:cNvPr id="8" name="Text 5"/>
          <p:cNvSpPr/>
          <p:nvPr/>
        </p:nvSpPr>
        <p:spPr>
          <a:xfrm>
            <a:off x="640080" y="5440680"/>
            <a:ext cx="5394960" cy="640080"/>
          </a:xfrm>
          <a:prstGeom prst="rect">
            <a:avLst/>
          </a:prstGeom>
          <a:noFill/>
          <a:ln/>
        </p:spPr>
        <p:txBody>
          <a:bodyPr wrap="square" lIns="0" tIns="0" rIns="0" bIns="0" rtlCol="0" anchor="ctr"/>
          <a:lstStyle/>
          <a:p>
            <a:pPr marL="0" indent="0">
              <a:buNone/>
            </a:pPr>
            <a:r>
              <a:rPr lang="en-US" sz="1900" i="1" dirty="0">
                <a:solidFill>
                  <a:srgbClr val="23305F"/>
                </a:solidFill>
                <a:latin typeface="Cambria" pitchFamily="34" charset="0"/>
                <a:ea typeface="Cambria" pitchFamily="34" charset="-122"/>
                <a:cs typeface="Cambria" pitchFamily="34" charset="-120"/>
              </a:rPr>
              <a:t>Not a shortage of data — a Babel of it.</a:t>
            </a:r>
            <a:endParaRPr lang="en-US" sz="1900" dirty="0"/>
          </a:p>
        </p:txBody>
      </p:sp>
      <p:pic>
        <p:nvPicPr>
          <p:cNvPr id="9" name="Image 0" descr="/private/tmp/claude-501/-Users-mohammedabdallah-Projects-commet/f78115b9-c404-4e19-b5c5-246250312e25/scratchpad/gen/babel.png"/>
          <p:cNvPicPr>
            <a:picLocks noChangeAspect="1"/>
          </p:cNvPicPr>
          <p:nvPr/>
        </p:nvPicPr>
        <p:blipFill>
          <a:blip r:embed="rId3"/>
          <a:stretch>
            <a:fillRect/>
          </a:stretch>
        </p:blipFill>
        <p:spPr>
          <a:xfrm>
            <a:off x="6080760" y="1600200"/>
            <a:ext cx="5577840" cy="3112634"/>
          </a:xfrm>
          <a:prstGeom prst="rect">
            <a:avLst/>
          </a:prstGeom>
        </p:spPr>
      </p:pic>
      <p:sp>
        <p:nvSpPr>
          <p:cNvPr id="10" name="Text 6"/>
          <p:cNvSpPr/>
          <p:nvPr/>
        </p:nvSpPr>
        <p:spPr>
          <a:xfrm>
            <a:off x="6080760" y="4892040"/>
            <a:ext cx="5577840" cy="548640"/>
          </a:xfrm>
          <a:prstGeom prst="rect">
            <a:avLst/>
          </a:prstGeom>
          <a:noFill/>
          <a:ln/>
        </p:spPr>
        <p:txBody>
          <a:bodyPr wrap="square" lIns="0" tIns="0" rIns="0" bIns="0" rtlCol="0" anchor="ctr"/>
          <a:lstStyle/>
          <a:p>
            <a:pPr marL="0" indent="0" algn="ctr">
              <a:buNone/>
            </a:pPr>
            <a:r>
              <a:rPr lang="en-US" sz="1350" i="1" dirty="0">
                <a:solidFill>
                  <a:srgbClr val="6E6A63"/>
                </a:solidFill>
                <a:latin typeface="Calibri" pitchFamily="34" charset="0"/>
                <a:ea typeface="Calibri" pitchFamily="34" charset="-122"/>
                <a:cs typeface="Calibri" pitchFamily="34" charset="-120"/>
              </a:rPr>
              <a:t>Fragmented islands of incompatible code languages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OMOP: one shared vocabulary</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The OHDSI Common Data Model gives every clinical fact a universal concept</a:t>
            </a:r>
            <a:endParaRPr lang="en-US" sz="1450" dirty="0"/>
          </a:p>
        </p:txBody>
      </p:sp>
      <p:sp>
        <p:nvSpPr>
          <p:cNvPr id="5" name="Text 2"/>
          <p:cNvSpPr/>
          <p:nvPr/>
        </p:nvSpPr>
        <p:spPr>
          <a:xfrm>
            <a:off x="640080" y="1645920"/>
            <a:ext cx="5212080" cy="2194560"/>
          </a:xfrm>
          <a:prstGeom prst="rect">
            <a:avLst/>
          </a:prstGeom>
          <a:noFill/>
          <a:ln/>
        </p:spPr>
        <p:txBody>
          <a:bodyPr wrap="square" lIns="0" tIns="0" rIns="0" bIns="0" rtlCol="0" anchor="ctr"/>
          <a:lstStyle/>
          <a:p>
            <a:pPr marL="0" indent="0">
              <a:lnSpc>
                <a:spcPct val="105000"/>
              </a:lnSpc>
              <a:buNone/>
            </a:pPr>
            <a:r>
              <a:rPr lang="en-US" sz="1450" dirty="0">
                <a:solidFill>
                  <a:srgbClr val="2B2B2B"/>
                </a:solidFill>
              </a:rPr>
              <a:t>Every fact points at a </a:t>
            </a:r>
            <a:r>
              <a:rPr lang="en-US" sz="1450" b="1" dirty="0">
                <a:solidFill>
                  <a:srgbClr val="C7902B"/>
                </a:solidFill>
              </a:rPr>
              <a:t>concept</a:t>
            </a:r>
            <a:r>
              <a:rPr lang="en-US" sz="1450" dirty="0">
                <a:solidFill>
                  <a:srgbClr val="2B2B2B"/>
                </a:solidFill>
              </a:rPr>
              <a:t> in one giant reference table — millions of rows spanning SNOMED, LOINC, RxNorm and more.</a:t>
            </a:r>
            <a:endParaRPr lang="en-US" sz="1450" dirty="0"/>
          </a:p>
          <a:p>
            <a:pPr marL="0" indent="0">
              <a:lnSpc>
                <a:spcPct val="105000"/>
              </a:lnSpc>
              <a:buNone/>
            </a:pPr>
            <a:r>
              <a:rPr lang="en-US" sz="1450" dirty="0">
                <a:solidFill>
                  <a:srgbClr val="2B2B2B"/>
                </a:solidFill>
              </a:rPr>
              <a:t>One vocabulary per domain is the </a:t>
            </a:r>
            <a:r>
              <a:rPr lang="en-US" sz="1450" b="1" dirty="0">
                <a:solidFill>
                  <a:srgbClr val="23305F"/>
                </a:solidFill>
              </a:rPr>
              <a:t>standard</a:t>
            </a:r>
            <a:r>
              <a:rPr lang="en-US" sz="1450" dirty="0">
                <a:solidFill>
                  <a:srgbClr val="2B2B2B"/>
                </a:solidFill>
              </a:rPr>
              <a:t> everyone analyzes against. A source code reaches it through the </a:t>
            </a:r>
            <a:r>
              <a:rPr lang="en-US" sz="1450" b="1" dirty="0">
                <a:solidFill>
                  <a:srgbClr val="C7902B"/>
                </a:solidFill>
              </a:rPr>
              <a:t>"Maps to"</a:t>
            </a:r>
            <a:r>
              <a:rPr lang="en-US" sz="1450" dirty="0">
                <a:solidFill>
                  <a:srgbClr val="2B2B2B"/>
                </a:solidFill>
              </a:rPr>
              <a:t> relationship.</a:t>
            </a:r>
            <a:endParaRPr lang="en-US" sz="1450" dirty="0"/>
          </a:p>
        </p:txBody>
      </p:sp>
      <p:pic>
        <p:nvPicPr>
          <p:cNvPr id="6" name="Image 0" descr="/private/tmp/claude-501/-Users-mohammedabdallah-Projects-commet/f78115b9-c404-4e19-b5c5-246250312e25/scratchpad/gen/converge.png"/>
          <p:cNvPicPr>
            <a:picLocks noChangeAspect="1"/>
          </p:cNvPicPr>
          <p:nvPr/>
        </p:nvPicPr>
        <p:blipFill>
          <a:blip r:embed="rId3"/>
          <a:stretch>
            <a:fillRect/>
          </a:stretch>
        </p:blipFill>
        <p:spPr>
          <a:xfrm>
            <a:off x="640080" y="3977640"/>
            <a:ext cx="5029200" cy="2806473"/>
          </a:xfrm>
          <a:prstGeom prst="rect">
            <a:avLst/>
          </a:prstGeom>
        </p:spPr>
      </p:pic>
      <p:sp>
        <p:nvSpPr>
          <p:cNvPr id="7" name="Text 3"/>
          <p:cNvSpPr/>
          <p:nvPr/>
        </p:nvSpPr>
        <p:spPr>
          <a:xfrm>
            <a:off x="548640" y="3840480"/>
            <a:ext cx="5212080" cy="320040"/>
          </a:xfrm>
          <a:prstGeom prst="rect">
            <a:avLst/>
          </a:prstGeom>
          <a:noFill/>
          <a:ln/>
        </p:spPr>
        <p:txBody>
          <a:bodyPr wrap="square" lIns="0" tIns="0" rIns="0" bIns="0" rtlCol="0" anchor="ctr"/>
          <a:lstStyle/>
          <a:p>
            <a:pPr marL="0" indent="0" algn="ctr">
              <a:buNone/>
            </a:pPr>
            <a:r>
              <a:rPr lang="en-US" sz="1250" i="1" dirty="0">
                <a:solidFill>
                  <a:srgbClr val="6E6A63"/>
                </a:solidFill>
                <a:latin typeface="Calibri" pitchFamily="34" charset="0"/>
                <a:ea typeface="Calibri" pitchFamily="34" charset="-122"/>
                <a:cs typeface="Calibri" pitchFamily="34" charset="-120"/>
              </a:rPr>
              <a:t>many local codes  →  one standard concept</a:t>
            </a:r>
            <a:endParaRPr lang="en-US" sz="1250" dirty="0"/>
          </a:p>
        </p:txBody>
      </p:sp>
      <p:sp>
        <p:nvSpPr>
          <p:cNvPr id="8" name="Shape 4"/>
          <p:cNvSpPr/>
          <p:nvPr/>
        </p:nvSpPr>
        <p:spPr>
          <a:xfrm>
            <a:off x="6400800" y="2194560"/>
            <a:ext cx="2331720" cy="1371600"/>
          </a:xfrm>
          <a:prstGeom prst="roundRect">
            <a:avLst>
              <a:gd name="adj" fmla="val 5333"/>
            </a:avLst>
          </a:prstGeom>
          <a:solidFill>
            <a:srgbClr val="FBF2E1"/>
          </a:solidFill>
          <a:ln w="19050">
            <a:solidFill>
              <a:srgbClr val="C7902B"/>
            </a:solidFill>
            <a:prstDash val="solid"/>
          </a:ln>
          <a:effectLst>
            <a:outerShdw blurRad="76200" dist="25400" dir="5400000" algn="bl" rotWithShape="0">
              <a:srgbClr val="000000">
                <a:alpha val="14000"/>
              </a:srgbClr>
            </a:outerShdw>
          </a:effectLst>
        </p:spPr>
        <p:txBody>
          <a:bodyPr/>
          <a:lstStyle/>
          <a:p>
            <a:endParaRPr lang="en-US"/>
          </a:p>
        </p:txBody>
      </p:sp>
      <p:sp>
        <p:nvSpPr>
          <p:cNvPr id="9" name="Text 5"/>
          <p:cNvSpPr/>
          <p:nvPr/>
        </p:nvSpPr>
        <p:spPr>
          <a:xfrm>
            <a:off x="6492240" y="2194560"/>
            <a:ext cx="2148840" cy="1371600"/>
          </a:xfrm>
          <a:prstGeom prst="rect">
            <a:avLst/>
          </a:prstGeom>
          <a:noFill/>
          <a:ln/>
        </p:spPr>
        <p:txBody>
          <a:bodyPr wrap="square" lIns="0" tIns="0" rIns="0" bIns="0" rtlCol="0" anchor="ctr"/>
          <a:lstStyle/>
          <a:p>
            <a:pPr marL="0" indent="0" algn="ctr">
              <a:buNone/>
            </a:pPr>
            <a:r>
              <a:rPr lang="en-US" sz="1400" b="1" dirty="0">
                <a:solidFill>
                  <a:srgbClr val="2B2B2B"/>
                </a:solidFill>
              </a:rPr>
              <a:t>ICD-10-CA</a:t>
            </a:r>
            <a:endParaRPr lang="en-US" sz="1400" dirty="0"/>
          </a:p>
          <a:p>
            <a:pPr marL="0" indent="0" algn="ctr">
              <a:buNone/>
            </a:pPr>
            <a:r>
              <a:rPr lang="en-US" sz="1500" dirty="0">
                <a:solidFill>
                  <a:srgbClr val="2B2B2B"/>
                </a:solidFill>
                <a:latin typeface="Courier New" pitchFamily="34" charset="0"/>
                <a:ea typeface="Courier New" pitchFamily="34" charset="-122"/>
                <a:cs typeface="Courier New" pitchFamily="34" charset="-120"/>
              </a:rPr>
              <a:t>I10</a:t>
            </a:r>
            <a:endParaRPr lang="en-US" sz="1400" dirty="0"/>
          </a:p>
          <a:p>
            <a:pPr marL="0" indent="0" algn="ctr">
              <a:buNone/>
            </a:pPr>
            <a:r>
              <a:rPr lang="en-US" sz="1050" i="1" dirty="0">
                <a:solidFill>
                  <a:srgbClr val="6E6A63"/>
                </a:solidFill>
              </a:rPr>
              <a:t>non-standard source</a:t>
            </a:r>
            <a:endParaRPr lang="en-US" sz="1400" dirty="0"/>
          </a:p>
        </p:txBody>
      </p:sp>
      <p:sp>
        <p:nvSpPr>
          <p:cNvPr id="10" name="Shape 6"/>
          <p:cNvSpPr/>
          <p:nvPr/>
        </p:nvSpPr>
        <p:spPr>
          <a:xfrm>
            <a:off x="9646920" y="2194560"/>
            <a:ext cx="2377440" cy="1371600"/>
          </a:xfrm>
          <a:prstGeom prst="roundRect">
            <a:avLst>
              <a:gd name="adj" fmla="val 5333"/>
            </a:avLst>
          </a:prstGeom>
          <a:solidFill>
            <a:srgbClr val="EDEFF7"/>
          </a:solidFill>
          <a:ln w="19050">
            <a:solidFill>
              <a:srgbClr val="23305F"/>
            </a:solidFill>
            <a:prstDash val="solid"/>
          </a:ln>
          <a:effectLst>
            <a:outerShdw blurRad="76200" dist="25400" dir="5400000" algn="bl" rotWithShape="0">
              <a:srgbClr val="000000">
                <a:alpha val="14000"/>
              </a:srgbClr>
            </a:outerShdw>
          </a:effectLst>
        </p:spPr>
        <p:txBody>
          <a:bodyPr/>
          <a:lstStyle/>
          <a:p>
            <a:endParaRPr lang="en-US"/>
          </a:p>
        </p:txBody>
      </p:sp>
      <p:sp>
        <p:nvSpPr>
          <p:cNvPr id="11" name="Text 7"/>
          <p:cNvSpPr/>
          <p:nvPr/>
        </p:nvSpPr>
        <p:spPr>
          <a:xfrm>
            <a:off x="9738360" y="2194560"/>
            <a:ext cx="2194560" cy="1371600"/>
          </a:xfrm>
          <a:prstGeom prst="rect">
            <a:avLst/>
          </a:prstGeom>
          <a:noFill/>
          <a:ln/>
        </p:spPr>
        <p:txBody>
          <a:bodyPr wrap="square" lIns="0" tIns="0" rIns="0" bIns="0" rtlCol="0" anchor="ctr"/>
          <a:lstStyle/>
          <a:p>
            <a:pPr marL="0" indent="0" algn="ctr">
              <a:buNone/>
            </a:pPr>
            <a:r>
              <a:rPr lang="en-US" sz="1400" b="1" dirty="0">
                <a:solidFill>
                  <a:srgbClr val="23305F"/>
                </a:solidFill>
              </a:rPr>
              <a:t>SNOMED</a:t>
            </a:r>
            <a:endParaRPr lang="en-US" sz="1400" dirty="0"/>
          </a:p>
          <a:p>
            <a:pPr marL="0" indent="0" algn="ctr">
              <a:buNone/>
            </a:pPr>
            <a:r>
              <a:rPr lang="en-US" sz="1500" dirty="0">
                <a:solidFill>
                  <a:srgbClr val="2B2B2B"/>
                </a:solidFill>
                <a:latin typeface="Courier New" pitchFamily="34" charset="0"/>
                <a:ea typeface="Courier New" pitchFamily="34" charset="-122"/>
                <a:cs typeface="Courier New" pitchFamily="34" charset="-120"/>
              </a:rPr>
              <a:t>59621000</a:t>
            </a:r>
            <a:endParaRPr lang="en-US" sz="1400" dirty="0"/>
          </a:p>
          <a:p>
            <a:pPr marL="0" indent="0" algn="ctr">
              <a:buNone/>
            </a:pPr>
            <a:r>
              <a:rPr lang="en-US" sz="1050" i="1" dirty="0">
                <a:solidFill>
                  <a:srgbClr val="6E6A63"/>
                </a:solidFill>
              </a:rPr>
              <a:t>standard target</a:t>
            </a:r>
            <a:endParaRPr lang="en-US" sz="1400" dirty="0"/>
          </a:p>
        </p:txBody>
      </p:sp>
      <p:sp>
        <p:nvSpPr>
          <p:cNvPr id="12" name="Shape 8"/>
          <p:cNvSpPr/>
          <p:nvPr/>
        </p:nvSpPr>
        <p:spPr>
          <a:xfrm>
            <a:off x="8759952" y="2770632"/>
            <a:ext cx="868680" cy="219456"/>
          </a:xfrm>
          <a:prstGeom prst="rightArrow">
            <a:avLst/>
          </a:prstGeom>
          <a:solidFill>
            <a:srgbClr val="C7902B"/>
          </a:solidFill>
          <a:ln/>
        </p:spPr>
        <p:txBody>
          <a:bodyPr/>
          <a:lstStyle/>
          <a:p>
            <a:endParaRPr lang="en-US"/>
          </a:p>
        </p:txBody>
      </p:sp>
      <p:sp>
        <p:nvSpPr>
          <p:cNvPr id="13" name="Text 9"/>
          <p:cNvSpPr/>
          <p:nvPr/>
        </p:nvSpPr>
        <p:spPr>
          <a:xfrm>
            <a:off x="8641080" y="2395728"/>
            <a:ext cx="1097280" cy="274320"/>
          </a:xfrm>
          <a:prstGeom prst="rect">
            <a:avLst/>
          </a:prstGeom>
          <a:noFill/>
          <a:ln/>
        </p:spPr>
        <p:txBody>
          <a:bodyPr wrap="square" lIns="0" tIns="0" rIns="0" bIns="0" rtlCol="0" anchor="ctr"/>
          <a:lstStyle/>
          <a:p>
            <a:pPr marL="0" indent="0" algn="ctr">
              <a:buNone/>
            </a:pPr>
            <a:r>
              <a:rPr lang="en-US" sz="1100" i="1" dirty="0">
                <a:solidFill>
                  <a:srgbClr val="C7902B"/>
                </a:solidFill>
              </a:rPr>
              <a:t>"Maps to"</a:t>
            </a:r>
            <a:endParaRPr lang="en-US" sz="1100" dirty="0"/>
          </a:p>
        </p:txBody>
      </p:sp>
      <p:sp>
        <p:nvSpPr>
          <p:cNvPr id="14" name="Text 10"/>
          <p:cNvSpPr/>
          <p:nvPr/>
        </p:nvSpPr>
        <p:spPr>
          <a:xfrm>
            <a:off x="6400800" y="3639312"/>
            <a:ext cx="2331720" cy="274320"/>
          </a:xfrm>
          <a:prstGeom prst="rect">
            <a:avLst/>
          </a:prstGeom>
          <a:noFill/>
          <a:ln/>
        </p:spPr>
        <p:txBody>
          <a:bodyPr wrap="square" lIns="0" tIns="0" rIns="0" bIns="0" rtlCol="0" anchor="ctr"/>
          <a:lstStyle/>
          <a:p>
            <a:pPr marL="0" indent="0" algn="ctr">
              <a:buNone/>
            </a:pPr>
            <a:r>
              <a:rPr lang="en-US" sz="1050" i="1" dirty="0">
                <a:solidFill>
                  <a:srgbClr val="6E6A63"/>
                </a:solidFill>
              </a:rPr>
              <a:t>how the hospital wrote it</a:t>
            </a:r>
            <a:endParaRPr lang="en-US" sz="1050" dirty="0"/>
          </a:p>
        </p:txBody>
      </p:sp>
      <p:sp>
        <p:nvSpPr>
          <p:cNvPr id="15" name="Text 11"/>
          <p:cNvSpPr/>
          <p:nvPr/>
        </p:nvSpPr>
        <p:spPr>
          <a:xfrm>
            <a:off x="9646920" y="3639312"/>
            <a:ext cx="2377440" cy="274320"/>
          </a:xfrm>
          <a:prstGeom prst="rect">
            <a:avLst/>
          </a:prstGeom>
          <a:noFill/>
          <a:ln/>
        </p:spPr>
        <p:txBody>
          <a:bodyPr wrap="square" lIns="0" tIns="0" rIns="0" bIns="0" rtlCol="0" anchor="ctr"/>
          <a:lstStyle/>
          <a:p>
            <a:pPr marL="0" indent="0" algn="ctr">
              <a:buNone/>
            </a:pPr>
            <a:r>
              <a:rPr lang="en-US" sz="1050" i="1" dirty="0">
                <a:solidFill>
                  <a:srgbClr val="6E6A63"/>
                </a:solidFill>
              </a:rPr>
              <a:t>how OMOP analyzes it</a:t>
            </a:r>
            <a:endParaRPr lang="en-US" sz="1050" dirty="0"/>
          </a:p>
        </p:txBody>
      </p:sp>
      <p:sp>
        <p:nvSpPr>
          <p:cNvPr id="16" name="Shape 12"/>
          <p:cNvSpPr/>
          <p:nvPr/>
        </p:nvSpPr>
        <p:spPr>
          <a:xfrm>
            <a:off x="6400800" y="4617720"/>
            <a:ext cx="5623560" cy="1143000"/>
          </a:xfrm>
          <a:prstGeom prst="roundRect">
            <a:avLst>
              <a:gd name="adj" fmla="val 4800"/>
            </a:avLst>
          </a:prstGeom>
          <a:solidFill>
            <a:srgbClr val="F6F2EB"/>
          </a:solidFill>
          <a:ln w="12700">
            <a:solidFill>
              <a:srgbClr val="DAD3C6"/>
            </a:solidFill>
            <a:prstDash val="solid"/>
          </a:ln>
        </p:spPr>
        <p:txBody>
          <a:bodyPr/>
          <a:lstStyle/>
          <a:p>
            <a:endParaRPr lang="en-US"/>
          </a:p>
        </p:txBody>
      </p:sp>
      <p:sp>
        <p:nvSpPr>
          <p:cNvPr id="17" name="Shape 13"/>
          <p:cNvSpPr/>
          <p:nvPr/>
        </p:nvSpPr>
        <p:spPr>
          <a:xfrm>
            <a:off x="6583680" y="4892040"/>
            <a:ext cx="594360" cy="59436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8" name="Image 1" descr="preencoded.png"/>
          <p:cNvPicPr>
            <a:picLocks noChangeAspect="1"/>
          </p:cNvPicPr>
          <p:nvPr/>
        </p:nvPicPr>
        <p:blipFill>
          <a:blip r:embed="rId4"/>
          <a:stretch>
            <a:fillRect/>
          </a:stretch>
        </p:blipFill>
        <p:spPr>
          <a:xfrm>
            <a:off x="6744157" y="5052517"/>
            <a:ext cx="273406" cy="273406"/>
          </a:xfrm>
          <a:prstGeom prst="rect">
            <a:avLst/>
          </a:prstGeom>
        </p:spPr>
      </p:pic>
      <p:sp>
        <p:nvSpPr>
          <p:cNvPr id="19" name="Text 14"/>
          <p:cNvSpPr/>
          <p:nvPr/>
        </p:nvSpPr>
        <p:spPr>
          <a:xfrm>
            <a:off x="7315200" y="4681728"/>
            <a:ext cx="4617720" cy="1005840"/>
          </a:xfrm>
          <a:prstGeom prst="rect">
            <a:avLst/>
          </a:prstGeom>
          <a:noFill/>
          <a:ln/>
        </p:spPr>
        <p:txBody>
          <a:bodyPr wrap="square" lIns="0" tIns="0" rIns="0" bIns="0" rtlCol="0" anchor="ctr"/>
          <a:lstStyle/>
          <a:p>
            <a:pPr marL="0" indent="0">
              <a:buNone/>
            </a:pPr>
            <a:r>
              <a:rPr lang="en-US" sz="1350" b="1" dirty="0">
                <a:solidFill>
                  <a:srgbClr val="2B2B2B"/>
                </a:solidFill>
              </a:rPr>
              <a:t>The deliverable: SOURCE_TO_CONCEPT_MAP</a:t>
            </a:r>
            <a:endParaRPr lang="en-US" sz="1350" dirty="0"/>
          </a:p>
          <a:p>
            <a:pPr marL="0" indent="0">
              <a:buNone/>
            </a:pPr>
            <a:r>
              <a:rPr lang="en-US" sz="1200" dirty="0">
                <a:solidFill>
                  <a:srgbClr val="6E6A63"/>
                </a:solidFill>
              </a:rPr>
              <a:t>a clean list of local-code → standard-concept, ready to drive the ETL that populates the CDM.</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Why mapping is hard</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It is not one hard decision — it is a hundred thousand small ones</a:t>
            </a:r>
            <a:endParaRPr lang="en-US" sz="1450" dirty="0"/>
          </a:p>
        </p:txBody>
      </p:sp>
      <p:sp>
        <p:nvSpPr>
          <p:cNvPr id="5" name="Shape 2"/>
          <p:cNvSpPr/>
          <p:nvPr/>
        </p:nvSpPr>
        <p:spPr>
          <a:xfrm>
            <a:off x="640080" y="1600200"/>
            <a:ext cx="6675120" cy="914400"/>
          </a:xfrm>
          <a:prstGeom prst="roundRect">
            <a:avLst>
              <a:gd name="adj" fmla="val 6000"/>
            </a:avLst>
          </a:prstGeom>
          <a:solidFill>
            <a:srgbClr val="F6F2EB"/>
          </a:solidFill>
          <a:ln w="12700">
            <a:solidFill>
              <a:srgbClr val="DAD3C6"/>
            </a:solidFill>
            <a:prstDash val="solid"/>
          </a:ln>
        </p:spPr>
        <p:txBody>
          <a:bodyPr/>
          <a:lstStyle/>
          <a:p>
            <a:endParaRPr lang="en-US"/>
          </a:p>
        </p:txBody>
      </p:sp>
      <p:sp>
        <p:nvSpPr>
          <p:cNvPr id="6" name="Shape 3"/>
          <p:cNvSpPr/>
          <p:nvPr/>
        </p:nvSpPr>
        <p:spPr>
          <a:xfrm>
            <a:off x="841248" y="1773936"/>
            <a:ext cx="566928" cy="56692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994319" y="1927007"/>
            <a:ext cx="260787" cy="260787"/>
          </a:xfrm>
          <a:prstGeom prst="rect">
            <a:avLst/>
          </a:prstGeom>
        </p:spPr>
      </p:pic>
      <p:sp>
        <p:nvSpPr>
          <p:cNvPr id="8" name="Text 4"/>
          <p:cNvSpPr/>
          <p:nvPr/>
        </p:nvSpPr>
        <p:spPr>
          <a:xfrm>
            <a:off x="1600200" y="1600200"/>
            <a:ext cx="5577840" cy="914400"/>
          </a:xfrm>
          <a:prstGeom prst="rect">
            <a:avLst/>
          </a:prstGeom>
          <a:noFill/>
          <a:ln/>
        </p:spPr>
        <p:txBody>
          <a:bodyPr wrap="square" lIns="0" tIns="0" rIns="0" bIns="0" rtlCol="0" anchor="ctr"/>
          <a:lstStyle/>
          <a:p>
            <a:pPr marL="0" indent="0">
              <a:lnSpc>
                <a:spcPct val="100000"/>
              </a:lnSpc>
              <a:buNone/>
            </a:pPr>
            <a:r>
              <a:rPr lang="en-US" sz="1450" b="1" dirty="0">
                <a:solidFill>
                  <a:srgbClr val="23305F"/>
                </a:solidFill>
              </a:rPr>
              <a:t>Ambiguity   </a:t>
            </a:r>
            <a:r>
              <a:rPr lang="en-US" sz="1250" dirty="0">
                <a:solidFill>
                  <a:srgbClr val="6E6A63"/>
                </a:solidFill>
              </a:rPr>
              <a:t>"Ca" = cancer? calcium? Terse clinical shorthand needs judgement, not string matching.</a:t>
            </a:r>
            <a:endParaRPr lang="en-US" sz="1450" dirty="0"/>
          </a:p>
        </p:txBody>
      </p:sp>
      <p:sp>
        <p:nvSpPr>
          <p:cNvPr id="9" name="Shape 5"/>
          <p:cNvSpPr/>
          <p:nvPr/>
        </p:nvSpPr>
        <p:spPr>
          <a:xfrm>
            <a:off x="640080" y="2679192"/>
            <a:ext cx="6675120" cy="914400"/>
          </a:xfrm>
          <a:prstGeom prst="roundRect">
            <a:avLst>
              <a:gd name="adj" fmla="val 6000"/>
            </a:avLst>
          </a:prstGeom>
          <a:solidFill>
            <a:srgbClr val="F6F2EB"/>
          </a:solidFill>
          <a:ln w="12700">
            <a:solidFill>
              <a:srgbClr val="DAD3C6"/>
            </a:solidFill>
            <a:prstDash val="solid"/>
          </a:ln>
        </p:spPr>
        <p:txBody>
          <a:bodyPr/>
          <a:lstStyle/>
          <a:p>
            <a:endParaRPr lang="en-US"/>
          </a:p>
        </p:txBody>
      </p:sp>
      <p:sp>
        <p:nvSpPr>
          <p:cNvPr id="10" name="Shape 6"/>
          <p:cNvSpPr/>
          <p:nvPr/>
        </p:nvSpPr>
        <p:spPr>
          <a:xfrm>
            <a:off x="841248" y="2852928"/>
            <a:ext cx="566928" cy="56692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994319" y="3005999"/>
            <a:ext cx="260787" cy="260787"/>
          </a:xfrm>
          <a:prstGeom prst="rect">
            <a:avLst/>
          </a:prstGeom>
        </p:spPr>
      </p:pic>
      <p:sp>
        <p:nvSpPr>
          <p:cNvPr id="12" name="Text 7"/>
          <p:cNvSpPr/>
          <p:nvPr/>
        </p:nvSpPr>
        <p:spPr>
          <a:xfrm>
            <a:off x="1600200" y="2679192"/>
            <a:ext cx="5577840" cy="914400"/>
          </a:xfrm>
          <a:prstGeom prst="rect">
            <a:avLst/>
          </a:prstGeom>
          <a:noFill/>
          <a:ln/>
        </p:spPr>
        <p:txBody>
          <a:bodyPr wrap="square" lIns="0" tIns="0" rIns="0" bIns="0" rtlCol="0" anchor="ctr"/>
          <a:lstStyle/>
          <a:p>
            <a:pPr marL="0" indent="0">
              <a:lnSpc>
                <a:spcPct val="100000"/>
              </a:lnSpc>
              <a:buNone/>
            </a:pPr>
            <a:r>
              <a:rPr lang="en-US" sz="1450" b="1" dirty="0">
                <a:solidFill>
                  <a:srgbClr val="23305F"/>
                </a:solidFill>
              </a:rPr>
              <a:t>Granularity &amp; cardinality   </a:t>
            </a:r>
            <a:r>
              <a:rPr lang="en-US" sz="1250" dirty="0">
                <a:solidFill>
                  <a:srgbClr val="6E6A63"/>
                </a:solidFill>
              </a:rPr>
              <a:t>Source codes are broader or narrower than any one concept; rarely a tidy 1-to-1.</a:t>
            </a:r>
            <a:endParaRPr lang="en-US" sz="1450" dirty="0"/>
          </a:p>
        </p:txBody>
      </p:sp>
      <p:sp>
        <p:nvSpPr>
          <p:cNvPr id="13" name="Shape 8"/>
          <p:cNvSpPr/>
          <p:nvPr/>
        </p:nvSpPr>
        <p:spPr>
          <a:xfrm>
            <a:off x="640080" y="3758184"/>
            <a:ext cx="6675120" cy="914400"/>
          </a:xfrm>
          <a:prstGeom prst="roundRect">
            <a:avLst>
              <a:gd name="adj" fmla="val 6000"/>
            </a:avLst>
          </a:prstGeom>
          <a:solidFill>
            <a:srgbClr val="F6F2EB"/>
          </a:solidFill>
          <a:ln w="12700">
            <a:solidFill>
              <a:srgbClr val="DAD3C6"/>
            </a:solidFill>
            <a:prstDash val="solid"/>
          </a:ln>
        </p:spPr>
        <p:txBody>
          <a:bodyPr/>
          <a:lstStyle/>
          <a:p>
            <a:endParaRPr lang="en-US"/>
          </a:p>
        </p:txBody>
      </p:sp>
      <p:sp>
        <p:nvSpPr>
          <p:cNvPr id="14" name="Shape 9"/>
          <p:cNvSpPr/>
          <p:nvPr/>
        </p:nvSpPr>
        <p:spPr>
          <a:xfrm>
            <a:off x="841248" y="3931920"/>
            <a:ext cx="566928" cy="56692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5" name="Image 2" descr="preencoded.png"/>
          <p:cNvPicPr>
            <a:picLocks noChangeAspect="1"/>
          </p:cNvPicPr>
          <p:nvPr/>
        </p:nvPicPr>
        <p:blipFill>
          <a:blip r:embed="rId5"/>
          <a:stretch>
            <a:fillRect/>
          </a:stretch>
        </p:blipFill>
        <p:spPr>
          <a:xfrm>
            <a:off x="994319" y="4084991"/>
            <a:ext cx="260787" cy="260787"/>
          </a:xfrm>
          <a:prstGeom prst="rect">
            <a:avLst/>
          </a:prstGeom>
        </p:spPr>
      </p:pic>
      <p:sp>
        <p:nvSpPr>
          <p:cNvPr id="16" name="Text 10"/>
          <p:cNvSpPr/>
          <p:nvPr/>
        </p:nvSpPr>
        <p:spPr>
          <a:xfrm>
            <a:off x="1600200" y="3758184"/>
            <a:ext cx="5577840" cy="914400"/>
          </a:xfrm>
          <a:prstGeom prst="rect">
            <a:avLst/>
          </a:prstGeom>
          <a:noFill/>
          <a:ln/>
        </p:spPr>
        <p:txBody>
          <a:bodyPr wrap="square" lIns="0" tIns="0" rIns="0" bIns="0" rtlCol="0" anchor="ctr"/>
          <a:lstStyle/>
          <a:p>
            <a:pPr marL="0" indent="0">
              <a:lnSpc>
                <a:spcPct val="100000"/>
              </a:lnSpc>
              <a:buNone/>
            </a:pPr>
            <a:r>
              <a:rPr lang="en-US" sz="1450" b="1" dirty="0">
                <a:solidFill>
                  <a:srgbClr val="23305F"/>
                </a:solidFill>
              </a:rPr>
              <a:t>Scale &amp; the long tail   </a:t>
            </a:r>
            <a:r>
              <a:rPr lang="en-US" sz="1250" dirty="0">
                <a:solidFill>
                  <a:srgbClr val="6E6A63"/>
                </a:solidFill>
              </a:rPr>
              <a:t>100,000+ codes per hospital. You must map by impact — highest-usage first.</a:t>
            </a:r>
            <a:endParaRPr lang="en-US" sz="1450" dirty="0"/>
          </a:p>
        </p:txBody>
      </p:sp>
      <p:sp>
        <p:nvSpPr>
          <p:cNvPr id="17" name="Shape 11"/>
          <p:cNvSpPr/>
          <p:nvPr/>
        </p:nvSpPr>
        <p:spPr>
          <a:xfrm>
            <a:off x="640080" y="4837176"/>
            <a:ext cx="6675120" cy="914400"/>
          </a:xfrm>
          <a:prstGeom prst="roundRect">
            <a:avLst>
              <a:gd name="adj" fmla="val 6000"/>
            </a:avLst>
          </a:prstGeom>
          <a:solidFill>
            <a:srgbClr val="F6F2EB"/>
          </a:solidFill>
          <a:ln w="12700">
            <a:solidFill>
              <a:srgbClr val="DAD3C6"/>
            </a:solidFill>
            <a:prstDash val="solid"/>
          </a:ln>
        </p:spPr>
        <p:txBody>
          <a:bodyPr/>
          <a:lstStyle/>
          <a:p>
            <a:endParaRPr lang="en-US"/>
          </a:p>
        </p:txBody>
      </p:sp>
      <p:sp>
        <p:nvSpPr>
          <p:cNvPr id="18" name="Shape 12"/>
          <p:cNvSpPr/>
          <p:nvPr/>
        </p:nvSpPr>
        <p:spPr>
          <a:xfrm>
            <a:off x="841248" y="5010912"/>
            <a:ext cx="566928" cy="56692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9" name="Image 3" descr="preencoded.png"/>
          <p:cNvPicPr>
            <a:picLocks noChangeAspect="1"/>
          </p:cNvPicPr>
          <p:nvPr/>
        </p:nvPicPr>
        <p:blipFill>
          <a:blip r:embed="rId6"/>
          <a:stretch>
            <a:fillRect/>
          </a:stretch>
        </p:blipFill>
        <p:spPr>
          <a:xfrm>
            <a:off x="994319" y="5163983"/>
            <a:ext cx="260787" cy="260787"/>
          </a:xfrm>
          <a:prstGeom prst="rect">
            <a:avLst/>
          </a:prstGeom>
        </p:spPr>
      </p:pic>
      <p:sp>
        <p:nvSpPr>
          <p:cNvPr id="20" name="Text 13"/>
          <p:cNvSpPr/>
          <p:nvPr/>
        </p:nvSpPr>
        <p:spPr>
          <a:xfrm>
            <a:off x="1600200" y="4837176"/>
            <a:ext cx="5577840" cy="914400"/>
          </a:xfrm>
          <a:prstGeom prst="rect">
            <a:avLst/>
          </a:prstGeom>
          <a:noFill/>
          <a:ln/>
        </p:spPr>
        <p:txBody>
          <a:bodyPr wrap="square" lIns="0" tIns="0" rIns="0" bIns="0" rtlCol="0" anchor="ctr"/>
          <a:lstStyle/>
          <a:p>
            <a:pPr marL="0" indent="0">
              <a:lnSpc>
                <a:spcPct val="100000"/>
              </a:lnSpc>
              <a:buNone/>
            </a:pPr>
            <a:r>
              <a:rPr lang="en-US" sz="1450" b="1" dirty="0">
                <a:solidFill>
                  <a:srgbClr val="23305F"/>
                </a:solidFill>
              </a:rPr>
              <a:t>Drift &amp; versioning   </a:t>
            </a:r>
            <a:r>
              <a:rPr lang="en-US" sz="1250" dirty="0">
                <a:solidFill>
                  <a:srgbClr val="6E6A63"/>
                </a:solidFill>
              </a:rPr>
              <a:t>Quarterly vocabulary releases retire and replace concepts; correct maps silently rot.</a:t>
            </a:r>
            <a:endParaRPr lang="en-US" sz="1450" dirty="0"/>
          </a:p>
        </p:txBody>
      </p:sp>
      <p:sp>
        <p:nvSpPr>
          <p:cNvPr id="21" name="Shape 14"/>
          <p:cNvSpPr/>
          <p:nvPr/>
        </p:nvSpPr>
        <p:spPr>
          <a:xfrm>
            <a:off x="7635240" y="1600200"/>
            <a:ext cx="3931920" cy="4050792"/>
          </a:xfrm>
          <a:prstGeom prst="roundRect">
            <a:avLst>
              <a:gd name="adj" fmla="val 1860"/>
            </a:avLst>
          </a:prstGeom>
          <a:solidFill>
            <a:srgbClr val="23305F"/>
          </a:solidFill>
          <a:ln/>
        </p:spPr>
        <p:txBody>
          <a:bodyPr/>
          <a:lstStyle/>
          <a:p>
            <a:endParaRPr lang="en-US"/>
          </a:p>
        </p:txBody>
      </p:sp>
      <p:sp>
        <p:nvSpPr>
          <p:cNvPr id="22" name="Shape 15"/>
          <p:cNvSpPr/>
          <p:nvPr/>
        </p:nvSpPr>
        <p:spPr>
          <a:xfrm>
            <a:off x="7909560" y="1874520"/>
            <a:ext cx="731520" cy="731520"/>
          </a:xfrm>
          <a:prstGeom prst="ellipse">
            <a:avLst/>
          </a:prstGeom>
          <a:solidFill>
            <a:srgbClr val="C7902B"/>
          </a:solidFill>
          <a:ln/>
          <a:effectLst>
            <a:outerShdw blurRad="63500" dist="25400" dir="5400000" algn="bl" rotWithShape="0">
              <a:srgbClr val="000000">
                <a:alpha val="18000"/>
              </a:srgbClr>
            </a:outerShdw>
          </a:effectLst>
        </p:spPr>
        <p:txBody>
          <a:bodyPr/>
          <a:lstStyle/>
          <a:p>
            <a:endParaRPr lang="en-US"/>
          </a:p>
        </p:txBody>
      </p:sp>
      <p:pic>
        <p:nvPicPr>
          <p:cNvPr id="23" name="Image 4" descr="preencoded.png"/>
          <p:cNvPicPr>
            <a:picLocks noChangeAspect="1"/>
          </p:cNvPicPr>
          <p:nvPr/>
        </p:nvPicPr>
        <p:blipFill>
          <a:blip r:embed="rId7"/>
          <a:stretch>
            <a:fillRect/>
          </a:stretch>
        </p:blipFill>
        <p:spPr>
          <a:xfrm>
            <a:off x="8107070" y="2072030"/>
            <a:ext cx="336499" cy="336499"/>
          </a:xfrm>
          <a:prstGeom prst="rect">
            <a:avLst/>
          </a:prstGeom>
        </p:spPr>
      </p:pic>
      <p:sp>
        <p:nvSpPr>
          <p:cNvPr id="24" name="Text 16"/>
          <p:cNvSpPr/>
          <p:nvPr/>
        </p:nvSpPr>
        <p:spPr>
          <a:xfrm>
            <a:off x="8778240" y="1874520"/>
            <a:ext cx="2651760" cy="7772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The one rule that</a:t>
            </a:r>
            <a:endParaRPr lang="en-US" sz="1700" dirty="0"/>
          </a:p>
          <a:p>
            <a:pPr marL="0" indent="0">
              <a:buNone/>
            </a:pPr>
            <a:r>
              <a:rPr lang="en-US" sz="1700" b="1" dirty="0">
                <a:solidFill>
                  <a:srgbClr val="FFFFFF"/>
                </a:solidFill>
                <a:latin typeface="Cambria" pitchFamily="34" charset="0"/>
                <a:ea typeface="Cambria" pitchFamily="34" charset="-122"/>
                <a:cs typeface="Cambria" pitchFamily="34" charset="-120"/>
              </a:rPr>
              <a:t>makes it work</a:t>
            </a:r>
            <a:endParaRPr lang="en-US" sz="1700" dirty="0"/>
          </a:p>
        </p:txBody>
      </p:sp>
      <p:sp>
        <p:nvSpPr>
          <p:cNvPr id="25" name="Text 17"/>
          <p:cNvSpPr/>
          <p:nvPr/>
        </p:nvSpPr>
        <p:spPr>
          <a:xfrm>
            <a:off x="7909560" y="2880360"/>
            <a:ext cx="3429000" cy="822960"/>
          </a:xfrm>
          <a:prstGeom prst="rect">
            <a:avLst/>
          </a:prstGeom>
          <a:noFill/>
          <a:ln/>
        </p:spPr>
        <p:txBody>
          <a:bodyPr wrap="square" lIns="0" tIns="0" rIns="0" bIns="0" rtlCol="0" anchor="ctr"/>
          <a:lstStyle/>
          <a:p>
            <a:pPr marL="0" indent="0">
              <a:buNone/>
            </a:pPr>
            <a:r>
              <a:rPr lang="en-US" sz="1550" dirty="0">
                <a:solidFill>
                  <a:srgbClr val="F1E7D6"/>
                </a:solidFill>
                <a:latin typeface="Calibri" pitchFamily="34" charset="0"/>
                <a:ea typeface="Calibri" pitchFamily="34" charset="-122"/>
                <a:cs typeface="Calibri" pitchFamily="34" charset="-120"/>
              </a:rPr>
              <a:t>A map may only target a </a:t>
            </a:r>
            <a:r>
              <a:rPr lang="en-US" sz="1550" b="1" dirty="0">
                <a:solidFill>
                  <a:srgbClr val="EBD9AE"/>
                </a:solidFill>
                <a:latin typeface="Calibri" pitchFamily="34" charset="0"/>
                <a:ea typeface="Calibri" pitchFamily="34" charset="-122"/>
                <a:cs typeface="Calibri" pitchFamily="34" charset="-120"/>
              </a:rPr>
              <a:t>standard, valid</a:t>
            </a:r>
            <a:r>
              <a:rPr lang="en-US" sz="1550" dirty="0">
                <a:solidFill>
                  <a:srgbClr val="F1E7D6"/>
                </a:solidFill>
                <a:latin typeface="Calibri" pitchFamily="34" charset="0"/>
                <a:ea typeface="Calibri" pitchFamily="34" charset="-122"/>
                <a:cs typeface="Calibri" pitchFamily="34" charset="-120"/>
              </a:rPr>
              <a:t> concept.</a:t>
            </a:r>
            <a:endParaRPr lang="en-US" sz="1550" dirty="0"/>
          </a:p>
        </p:txBody>
      </p:sp>
      <p:sp>
        <p:nvSpPr>
          <p:cNvPr id="26" name="Text 18"/>
          <p:cNvSpPr/>
          <p:nvPr/>
        </p:nvSpPr>
        <p:spPr>
          <a:xfrm>
            <a:off x="7909560" y="3794760"/>
            <a:ext cx="3429000" cy="1737360"/>
          </a:xfrm>
          <a:prstGeom prst="rect">
            <a:avLst/>
          </a:prstGeom>
          <a:noFill/>
          <a:ln/>
        </p:spPr>
        <p:txBody>
          <a:bodyPr wrap="square" lIns="0" tIns="0" rIns="0" bIns="0" rtlCol="0" anchor="ctr"/>
          <a:lstStyle/>
          <a:p>
            <a:pPr marL="0" indent="0">
              <a:lnSpc>
                <a:spcPct val="106000"/>
              </a:lnSpc>
              <a:buNone/>
            </a:pPr>
            <a:r>
              <a:rPr lang="en-US" sz="1250" dirty="0">
                <a:solidFill>
                  <a:srgbClr val="D8D2E4"/>
                </a:solidFill>
                <a:latin typeface="Calibri" pitchFamily="34" charset="0"/>
                <a:ea typeface="Calibri" pitchFamily="34" charset="-122"/>
                <a:cs typeface="Calibri" pitchFamily="34" charset="-120"/>
              </a:rPr>
              <a:t>Map to a non-standard or retired code and the data silently drops out of every standard analysis. COMET enforces this at the moment of decision — and offers the correct replacement.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The source side: Cerner Millennium terminology</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How a Millennium build names the things it records</a:t>
            </a:r>
            <a:endParaRPr lang="en-US" sz="1450" dirty="0"/>
          </a:p>
        </p:txBody>
      </p:sp>
      <p:sp>
        <p:nvSpPr>
          <p:cNvPr id="5" name="Shape 2"/>
          <p:cNvSpPr/>
          <p:nvPr/>
        </p:nvSpPr>
        <p:spPr>
          <a:xfrm>
            <a:off x="594360" y="1691640"/>
            <a:ext cx="5394960" cy="1737360"/>
          </a:xfrm>
          <a:prstGeom prst="roundRect">
            <a:avLst>
              <a:gd name="adj" fmla="val 4211"/>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6" name="Shape 3"/>
          <p:cNvSpPr/>
          <p:nvPr/>
        </p:nvSpPr>
        <p:spPr>
          <a:xfrm>
            <a:off x="850392" y="1929384"/>
            <a:ext cx="658368" cy="65836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028151" y="2107143"/>
            <a:ext cx="302849" cy="302849"/>
          </a:xfrm>
          <a:prstGeom prst="rect">
            <a:avLst/>
          </a:prstGeom>
        </p:spPr>
      </p:pic>
      <p:sp>
        <p:nvSpPr>
          <p:cNvPr id="8" name="Text 4"/>
          <p:cNvSpPr/>
          <p:nvPr/>
        </p:nvSpPr>
        <p:spPr>
          <a:xfrm>
            <a:off x="1691640" y="1892808"/>
            <a:ext cx="4023360" cy="658368"/>
          </a:xfrm>
          <a:prstGeom prst="rect">
            <a:avLst/>
          </a:prstGeom>
          <a:noFill/>
          <a:ln/>
        </p:spPr>
        <p:txBody>
          <a:bodyPr wrap="square" lIns="0" tIns="0" rIns="0" bIns="0" rtlCol="0" anchor="ctr"/>
          <a:lstStyle/>
          <a:p>
            <a:pPr marL="0" indent="0">
              <a:buNone/>
            </a:pPr>
            <a:r>
              <a:rPr lang="en-US" sz="1600" b="1" dirty="0">
                <a:solidFill>
                  <a:srgbClr val="23305F"/>
                </a:solidFill>
                <a:latin typeface="Calibri" pitchFamily="34" charset="0"/>
                <a:ea typeface="Calibri" pitchFamily="34" charset="-122"/>
                <a:cs typeface="Calibri" pitchFamily="34" charset="-120"/>
              </a:rPr>
              <a:t>Nomenclature</a:t>
            </a:r>
            <a:endParaRPr lang="en-US" sz="1600" dirty="0"/>
          </a:p>
        </p:txBody>
      </p:sp>
      <p:sp>
        <p:nvSpPr>
          <p:cNvPr id="9" name="Text 5"/>
          <p:cNvSpPr/>
          <p:nvPr/>
        </p:nvSpPr>
        <p:spPr>
          <a:xfrm>
            <a:off x="868680" y="2624328"/>
            <a:ext cx="4892040" cy="502920"/>
          </a:xfrm>
          <a:prstGeom prst="rect">
            <a:avLst/>
          </a:prstGeom>
          <a:noFill/>
          <a:ln/>
        </p:spPr>
        <p:txBody>
          <a:bodyPr wrap="square" lIns="0" tIns="0" rIns="0" bIns="0" rtlCol="0" anchor="ctr"/>
          <a:lstStyle/>
          <a:p>
            <a:pPr marL="0" indent="0">
              <a:lnSpc>
                <a:spcPct val="100000"/>
              </a:lnSpc>
              <a:buNone/>
            </a:pPr>
            <a:r>
              <a:rPr lang="en-US" sz="1150" dirty="0">
                <a:solidFill>
                  <a:srgbClr val="6E6A63"/>
                </a:solidFill>
                <a:latin typeface="Calibri" pitchFamily="34" charset="0"/>
                <a:ea typeface="Calibri" pitchFamily="34" charset="-122"/>
                <a:cs typeface="Calibri" pitchFamily="34" charset="-120"/>
              </a:rPr>
              <a:t>Coded clinical terms — diagnoses &amp; problems. Each row is a nomenclature_id + mnemonic + description.</a:t>
            </a:r>
            <a:endParaRPr lang="en-US" sz="1150" dirty="0"/>
          </a:p>
        </p:txBody>
      </p:sp>
      <p:sp>
        <p:nvSpPr>
          <p:cNvPr id="10" name="Text 6"/>
          <p:cNvSpPr/>
          <p:nvPr/>
        </p:nvSpPr>
        <p:spPr>
          <a:xfrm>
            <a:off x="868680" y="3108960"/>
            <a:ext cx="4892040" cy="274320"/>
          </a:xfrm>
          <a:prstGeom prst="rect">
            <a:avLst/>
          </a:prstGeom>
          <a:noFill/>
          <a:ln/>
        </p:spPr>
        <p:txBody>
          <a:bodyPr wrap="square" lIns="0" tIns="0" rIns="0" bIns="0" rtlCol="0" anchor="ctr"/>
          <a:lstStyle/>
          <a:p>
            <a:pPr marL="0" indent="0">
              <a:buNone/>
            </a:pPr>
            <a:r>
              <a:rPr lang="en-US" sz="1050" i="1" dirty="0">
                <a:solidFill>
                  <a:srgbClr val="6E6A63"/>
                </a:solidFill>
              </a:rPr>
              <a:t>MR sheet:  </a:t>
            </a:r>
            <a:r>
              <a:rPr lang="en-US" sz="1050" b="1" dirty="0">
                <a:solidFill>
                  <a:srgbClr val="8A5A12"/>
                </a:solidFill>
              </a:rPr>
              <a:t>Diagnosis &amp; Problem</a:t>
            </a:r>
            <a:endParaRPr lang="en-US" sz="1050" dirty="0"/>
          </a:p>
        </p:txBody>
      </p:sp>
      <p:sp>
        <p:nvSpPr>
          <p:cNvPr id="11" name="Shape 7"/>
          <p:cNvSpPr/>
          <p:nvPr/>
        </p:nvSpPr>
        <p:spPr>
          <a:xfrm>
            <a:off x="6217920" y="1691640"/>
            <a:ext cx="5394960" cy="1737360"/>
          </a:xfrm>
          <a:prstGeom prst="roundRect">
            <a:avLst>
              <a:gd name="adj" fmla="val 4211"/>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12" name="Shape 8"/>
          <p:cNvSpPr/>
          <p:nvPr/>
        </p:nvSpPr>
        <p:spPr>
          <a:xfrm>
            <a:off x="6473952" y="1929384"/>
            <a:ext cx="658368" cy="65836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651711" y="2107143"/>
            <a:ext cx="302849" cy="302849"/>
          </a:xfrm>
          <a:prstGeom prst="rect">
            <a:avLst/>
          </a:prstGeom>
        </p:spPr>
      </p:pic>
      <p:sp>
        <p:nvSpPr>
          <p:cNvPr id="14" name="Text 9"/>
          <p:cNvSpPr/>
          <p:nvPr/>
        </p:nvSpPr>
        <p:spPr>
          <a:xfrm>
            <a:off x="7315200" y="1892808"/>
            <a:ext cx="4023360" cy="658368"/>
          </a:xfrm>
          <a:prstGeom prst="rect">
            <a:avLst/>
          </a:prstGeom>
          <a:noFill/>
          <a:ln/>
        </p:spPr>
        <p:txBody>
          <a:bodyPr wrap="square" lIns="0" tIns="0" rIns="0" bIns="0" rtlCol="0" anchor="ctr"/>
          <a:lstStyle/>
          <a:p>
            <a:pPr marL="0" indent="0">
              <a:buNone/>
            </a:pPr>
            <a:r>
              <a:rPr lang="en-US" sz="1600" b="1" dirty="0">
                <a:solidFill>
                  <a:srgbClr val="23305F"/>
                </a:solidFill>
                <a:latin typeface="Calibri" pitchFamily="34" charset="0"/>
                <a:ea typeface="Calibri" pitchFamily="34" charset="-122"/>
                <a:cs typeface="Calibri" pitchFamily="34" charset="-120"/>
              </a:rPr>
              <a:t>Clinical Event Codes</a:t>
            </a:r>
            <a:endParaRPr lang="en-US" sz="1600" dirty="0"/>
          </a:p>
        </p:txBody>
      </p:sp>
      <p:sp>
        <p:nvSpPr>
          <p:cNvPr id="15" name="Text 10"/>
          <p:cNvSpPr/>
          <p:nvPr/>
        </p:nvSpPr>
        <p:spPr>
          <a:xfrm>
            <a:off x="6492240" y="2624328"/>
            <a:ext cx="4892040" cy="502920"/>
          </a:xfrm>
          <a:prstGeom prst="rect">
            <a:avLst/>
          </a:prstGeom>
          <a:noFill/>
          <a:ln/>
        </p:spPr>
        <p:txBody>
          <a:bodyPr wrap="square" lIns="0" tIns="0" rIns="0" bIns="0" rtlCol="0" anchor="ctr"/>
          <a:lstStyle/>
          <a:p>
            <a:pPr marL="0" indent="0">
              <a:lnSpc>
                <a:spcPct val="100000"/>
              </a:lnSpc>
              <a:buNone/>
            </a:pPr>
            <a:r>
              <a:rPr lang="en-US" sz="1150" dirty="0">
                <a:solidFill>
                  <a:srgbClr val="6E6A63"/>
                </a:solidFill>
                <a:latin typeface="Calibri" pitchFamily="34" charset="0"/>
                <a:ea typeface="Calibri" pitchFamily="34" charset="-122"/>
                <a:cs typeface="Calibri" pitchFamily="34" charset="-120"/>
              </a:rPr>
              <a:t>event_cd identifies every kind of clinical event — labs, vitals, observations, documents.</a:t>
            </a:r>
            <a:endParaRPr lang="en-US" sz="1150" dirty="0"/>
          </a:p>
        </p:txBody>
      </p:sp>
      <p:sp>
        <p:nvSpPr>
          <p:cNvPr id="16" name="Text 11"/>
          <p:cNvSpPr/>
          <p:nvPr/>
        </p:nvSpPr>
        <p:spPr>
          <a:xfrm>
            <a:off x="6492240" y="3108960"/>
            <a:ext cx="4892040" cy="274320"/>
          </a:xfrm>
          <a:prstGeom prst="rect">
            <a:avLst/>
          </a:prstGeom>
          <a:noFill/>
          <a:ln/>
        </p:spPr>
        <p:txBody>
          <a:bodyPr wrap="square" lIns="0" tIns="0" rIns="0" bIns="0" rtlCol="0" anchor="ctr"/>
          <a:lstStyle/>
          <a:p>
            <a:pPr marL="0" indent="0">
              <a:buNone/>
            </a:pPr>
            <a:r>
              <a:rPr lang="en-US" sz="1050" i="1" dirty="0">
                <a:solidFill>
                  <a:srgbClr val="6E6A63"/>
                </a:solidFill>
              </a:rPr>
              <a:t>MR sheet:  </a:t>
            </a:r>
            <a:r>
              <a:rPr lang="en-US" sz="1050" b="1" dirty="0">
                <a:solidFill>
                  <a:srgbClr val="8A5A12"/>
                </a:solidFill>
              </a:rPr>
              <a:t>Event · Event Result</a:t>
            </a:r>
            <a:endParaRPr lang="en-US" sz="1050" dirty="0"/>
          </a:p>
        </p:txBody>
      </p:sp>
      <p:sp>
        <p:nvSpPr>
          <p:cNvPr id="17" name="Shape 12"/>
          <p:cNvSpPr/>
          <p:nvPr/>
        </p:nvSpPr>
        <p:spPr>
          <a:xfrm>
            <a:off x="594360" y="3611880"/>
            <a:ext cx="5394960" cy="1737360"/>
          </a:xfrm>
          <a:prstGeom prst="roundRect">
            <a:avLst>
              <a:gd name="adj" fmla="val 4211"/>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18" name="Shape 13"/>
          <p:cNvSpPr/>
          <p:nvPr/>
        </p:nvSpPr>
        <p:spPr>
          <a:xfrm>
            <a:off x="850392" y="3849624"/>
            <a:ext cx="658368" cy="65836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9" name="Image 2" descr="preencoded.png"/>
          <p:cNvPicPr>
            <a:picLocks noChangeAspect="1"/>
          </p:cNvPicPr>
          <p:nvPr/>
        </p:nvPicPr>
        <p:blipFill>
          <a:blip r:embed="rId5"/>
          <a:stretch>
            <a:fillRect/>
          </a:stretch>
        </p:blipFill>
        <p:spPr>
          <a:xfrm>
            <a:off x="1028151" y="4027383"/>
            <a:ext cx="302849" cy="302849"/>
          </a:xfrm>
          <a:prstGeom prst="rect">
            <a:avLst/>
          </a:prstGeom>
        </p:spPr>
      </p:pic>
      <p:sp>
        <p:nvSpPr>
          <p:cNvPr id="20" name="Text 14"/>
          <p:cNvSpPr/>
          <p:nvPr/>
        </p:nvSpPr>
        <p:spPr>
          <a:xfrm>
            <a:off x="1691640" y="3813048"/>
            <a:ext cx="4023360" cy="658368"/>
          </a:xfrm>
          <a:prstGeom prst="rect">
            <a:avLst/>
          </a:prstGeom>
          <a:noFill/>
          <a:ln/>
        </p:spPr>
        <p:txBody>
          <a:bodyPr wrap="square" lIns="0" tIns="0" rIns="0" bIns="0" rtlCol="0" anchor="ctr"/>
          <a:lstStyle/>
          <a:p>
            <a:pPr marL="0" indent="0">
              <a:buNone/>
            </a:pPr>
            <a:r>
              <a:rPr lang="en-US" sz="1600" b="1" dirty="0">
                <a:solidFill>
                  <a:srgbClr val="23305F"/>
                </a:solidFill>
                <a:latin typeface="Calibri" pitchFamily="34" charset="0"/>
                <a:ea typeface="Calibri" pitchFamily="34" charset="-122"/>
                <a:cs typeface="Calibri" pitchFamily="34" charset="-120"/>
              </a:rPr>
              <a:t>Code Sets &amp; Code Values</a:t>
            </a:r>
            <a:endParaRPr lang="en-US" sz="1600" dirty="0"/>
          </a:p>
        </p:txBody>
      </p:sp>
      <p:sp>
        <p:nvSpPr>
          <p:cNvPr id="21" name="Text 15"/>
          <p:cNvSpPr/>
          <p:nvPr/>
        </p:nvSpPr>
        <p:spPr>
          <a:xfrm>
            <a:off x="868680" y="4544568"/>
            <a:ext cx="4892040" cy="502920"/>
          </a:xfrm>
          <a:prstGeom prst="rect">
            <a:avLst/>
          </a:prstGeom>
          <a:noFill/>
          <a:ln/>
        </p:spPr>
        <p:txBody>
          <a:bodyPr wrap="square" lIns="0" tIns="0" rIns="0" bIns="0" rtlCol="0" anchor="ctr"/>
          <a:lstStyle/>
          <a:p>
            <a:pPr marL="0" indent="0">
              <a:lnSpc>
                <a:spcPct val="100000"/>
              </a:lnSpc>
              <a:buNone/>
            </a:pPr>
            <a:r>
              <a:rPr lang="en-US" sz="1150" dirty="0">
                <a:solidFill>
                  <a:srgbClr val="6E6A63"/>
                </a:solidFill>
                <a:latin typeface="Calibri" pitchFamily="34" charset="0"/>
                <a:ea typeface="Calibri" pitchFamily="34" charset="-122"/>
                <a:cs typeface="Calibri" pitchFamily="34" charset="-120"/>
              </a:rPr>
              <a:t>Enumerated attributes — admit source, discharge disposition, encounter type — keyed by code_set + code_value.</a:t>
            </a:r>
            <a:endParaRPr lang="en-US" sz="1150" dirty="0"/>
          </a:p>
        </p:txBody>
      </p:sp>
      <p:sp>
        <p:nvSpPr>
          <p:cNvPr id="22" name="Text 16"/>
          <p:cNvSpPr/>
          <p:nvPr/>
        </p:nvSpPr>
        <p:spPr>
          <a:xfrm>
            <a:off x="868680" y="5029200"/>
            <a:ext cx="4892040" cy="274320"/>
          </a:xfrm>
          <a:prstGeom prst="rect">
            <a:avLst/>
          </a:prstGeom>
          <a:noFill/>
          <a:ln/>
        </p:spPr>
        <p:txBody>
          <a:bodyPr wrap="square" lIns="0" tIns="0" rIns="0" bIns="0" rtlCol="0" anchor="ctr"/>
          <a:lstStyle/>
          <a:p>
            <a:pPr marL="0" indent="0">
              <a:buNone/>
            </a:pPr>
            <a:r>
              <a:rPr lang="en-US" sz="1050" i="1" dirty="0">
                <a:solidFill>
                  <a:srgbClr val="6E6A63"/>
                </a:solidFill>
              </a:rPr>
              <a:t>MR sheet:  </a:t>
            </a:r>
            <a:r>
              <a:rPr lang="en-US" sz="1050" b="1" dirty="0">
                <a:solidFill>
                  <a:srgbClr val="8A5A12"/>
                </a:solidFill>
              </a:rPr>
              <a:t>Admit Source · Encounter</a:t>
            </a:r>
            <a:endParaRPr lang="en-US" sz="1050" dirty="0"/>
          </a:p>
        </p:txBody>
      </p:sp>
      <p:sp>
        <p:nvSpPr>
          <p:cNvPr id="23" name="Shape 17"/>
          <p:cNvSpPr/>
          <p:nvPr/>
        </p:nvSpPr>
        <p:spPr>
          <a:xfrm>
            <a:off x="6217920" y="3611880"/>
            <a:ext cx="5394960" cy="1737360"/>
          </a:xfrm>
          <a:prstGeom prst="roundRect">
            <a:avLst>
              <a:gd name="adj" fmla="val 4211"/>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24" name="Shape 18"/>
          <p:cNvSpPr/>
          <p:nvPr/>
        </p:nvSpPr>
        <p:spPr>
          <a:xfrm>
            <a:off x="6473952" y="3849624"/>
            <a:ext cx="658368" cy="65836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25" name="Image 3" descr="preencoded.png"/>
          <p:cNvPicPr>
            <a:picLocks noChangeAspect="1"/>
          </p:cNvPicPr>
          <p:nvPr/>
        </p:nvPicPr>
        <p:blipFill>
          <a:blip r:embed="rId6"/>
          <a:stretch>
            <a:fillRect/>
          </a:stretch>
        </p:blipFill>
        <p:spPr>
          <a:xfrm>
            <a:off x="6651711" y="4027383"/>
            <a:ext cx="302849" cy="302849"/>
          </a:xfrm>
          <a:prstGeom prst="rect">
            <a:avLst/>
          </a:prstGeom>
        </p:spPr>
      </p:pic>
      <p:sp>
        <p:nvSpPr>
          <p:cNvPr id="26" name="Text 19"/>
          <p:cNvSpPr/>
          <p:nvPr/>
        </p:nvSpPr>
        <p:spPr>
          <a:xfrm>
            <a:off x="7315200" y="3813048"/>
            <a:ext cx="4023360" cy="658368"/>
          </a:xfrm>
          <a:prstGeom prst="rect">
            <a:avLst/>
          </a:prstGeom>
          <a:noFill/>
          <a:ln/>
        </p:spPr>
        <p:txBody>
          <a:bodyPr wrap="square" lIns="0" tIns="0" rIns="0" bIns="0" rtlCol="0" anchor="ctr"/>
          <a:lstStyle/>
          <a:p>
            <a:pPr marL="0" indent="0">
              <a:buNone/>
            </a:pPr>
            <a:r>
              <a:rPr lang="en-US" sz="1600" b="1" dirty="0">
                <a:solidFill>
                  <a:srgbClr val="23305F"/>
                </a:solidFill>
                <a:latin typeface="Calibri" pitchFamily="34" charset="0"/>
                <a:ea typeface="Calibri" pitchFamily="34" charset="-122"/>
                <a:cs typeface="Calibri" pitchFamily="34" charset="-120"/>
              </a:rPr>
              <a:t>Multum</a:t>
            </a:r>
            <a:endParaRPr lang="en-US" sz="1600" dirty="0"/>
          </a:p>
        </p:txBody>
      </p:sp>
      <p:sp>
        <p:nvSpPr>
          <p:cNvPr id="27" name="Text 20"/>
          <p:cNvSpPr/>
          <p:nvPr/>
        </p:nvSpPr>
        <p:spPr>
          <a:xfrm>
            <a:off x="6492240" y="4544568"/>
            <a:ext cx="4892040" cy="502920"/>
          </a:xfrm>
          <a:prstGeom prst="rect">
            <a:avLst/>
          </a:prstGeom>
          <a:noFill/>
          <a:ln/>
        </p:spPr>
        <p:txBody>
          <a:bodyPr wrap="square" lIns="0" tIns="0" rIns="0" bIns="0" rtlCol="0" anchor="ctr"/>
          <a:lstStyle/>
          <a:p>
            <a:pPr marL="0" indent="0">
              <a:lnSpc>
                <a:spcPct val="100000"/>
              </a:lnSpc>
              <a:buNone/>
            </a:pPr>
            <a:r>
              <a:rPr lang="en-US" sz="1150" dirty="0">
                <a:solidFill>
                  <a:srgbClr val="6E6A63"/>
                </a:solidFill>
                <a:latin typeface="Calibri" pitchFamily="34" charset="0"/>
                <a:ea typeface="Calibri" pitchFamily="34" charset="-122"/>
                <a:cs typeface="Calibri" pitchFamily="34" charset="-120"/>
              </a:rPr>
              <a:t>Cerner's bundled medication vocabulary for orders &amp; meds — becomes RxNorm on the OMOP side.</a:t>
            </a:r>
            <a:endParaRPr lang="en-US" sz="1150" dirty="0"/>
          </a:p>
        </p:txBody>
      </p:sp>
      <p:sp>
        <p:nvSpPr>
          <p:cNvPr id="28" name="Text 21"/>
          <p:cNvSpPr/>
          <p:nvPr/>
        </p:nvSpPr>
        <p:spPr>
          <a:xfrm>
            <a:off x="6492240" y="5029200"/>
            <a:ext cx="4892040" cy="274320"/>
          </a:xfrm>
          <a:prstGeom prst="rect">
            <a:avLst/>
          </a:prstGeom>
          <a:noFill/>
          <a:ln/>
        </p:spPr>
        <p:txBody>
          <a:bodyPr wrap="square" lIns="0" tIns="0" rIns="0" bIns="0" rtlCol="0" anchor="ctr"/>
          <a:lstStyle/>
          <a:p>
            <a:pPr marL="0" indent="0">
              <a:buNone/>
            </a:pPr>
            <a:r>
              <a:rPr lang="en-US" sz="1050" i="1" dirty="0">
                <a:solidFill>
                  <a:srgbClr val="6E6A63"/>
                </a:solidFill>
              </a:rPr>
              <a:t>MR sheet:  </a:t>
            </a:r>
            <a:r>
              <a:rPr lang="en-US" sz="1050" b="1" dirty="0">
                <a:solidFill>
                  <a:srgbClr val="8A5A12"/>
                </a:solidFill>
              </a:rPr>
              <a:t>Medication orders</a:t>
            </a:r>
            <a:endParaRPr lang="en-US" sz="1050" dirty="0"/>
          </a:p>
        </p:txBody>
      </p:sp>
      <p:sp>
        <p:nvSpPr>
          <p:cNvPr id="29" name="Text 22"/>
          <p:cNvSpPr/>
          <p:nvPr/>
        </p:nvSpPr>
        <p:spPr>
          <a:xfrm>
            <a:off x="594360" y="5715000"/>
            <a:ext cx="11018520" cy="640080"/>
          </a:xfrm>
          <a:prstGeom prst="rect">
            <a:avLst/>
          </a:prstGeom>
          <a:noFill/>
          <a:ln/>
        </p:spPr>
        <p:txBody>
          <a:bodyPr wrap="square" lIns="0" tIns="0" rIns="0" bIns="0" rtlCol="0" anchor="ctr"/>
          <a:lstStyle/>
          <a:p>
            <a:pPr marL="0" indent="0" algn="ctr">
              <a:buNone/>
            </a:pPr>
            <a:r>
              <a:rPr lang="en-US" sz="1350" b="1" dirty="0">
                <a:solidFill>
                  <a:srgbClr val="23305F"/>
                </a:solidFill>
                <a:latin typeface="Calibri" pitchFamily="34" charset="0"/>
                <a:ea typeface="Calibri" pitchFamily="34" charset="-122"/>
                <a:cs typeface="Calibri" pitchFamily="34" charset="-120"/>
              </a:rPr>
              <a:t>Every entry is a local, numeric id </a:t>
            </a:r>
            <a:r>
              <a:rPr lang="en-US" sz="1350" dirty="0">
                <a:solidFill>
                  <a:srgbClr val="6E6A63"/>
                </a:solidFill>
                <a:latin typeface="Calibri" pitchFamily="34" charset="0"/>
                <a:ea typeface="Calibri" pitchFamily="34" charset="-122"/>
                <a:cs typeface="Calibri" pitchFamily="34" charset="-120"/>
              </a:rPr>
              <a:t>with a mnemonic and free-text description — configured per Millennium build, and exported to COMET as "MR sheets," one per Cerner area.</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Why Cerner codes need mapping</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Local, build-specific, and only sometimes carrying a standard reference</a:t>
            </a:r>
            <a:endParaRPr lang="en-US" sz="1450" dirty="0"/>
          </a:p>
        </p:txBody>
      </p:sp>
      <p:sp>
        <p:nvSpPr>
          <p:cNvPr id="5" name="Shape 2"/>
          <p:cNvSpPr/>
          <p:nvPr/>
        </p:nvSpPr>
        <p:spPr>
          <a:xfrm>
            <a:off x="640080" y="1691640"/>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93151" y="1844711"/>
            <a:ext cx="260787" cy="260787"/>
          </a:xfrm>
          <a:prstGeom prst="rect">
            <a:avLst/>
          </a:prstGeom>
        </p:spPr>
      </p:pic>
      <p:sp>
        <p:nvSpPr>
          <p:cNvPr id="7" name="Text 3"/>
          <p:cNvSpPr/>
          <p:nvPr/>
        </p:nvSpPr>
        <p:spPr>
          <a:xfrm>
            <a:off x="1417320" y="1618488"/>
            <a:ext cx="525780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Site &amp; build specific</a:t>
            </a:r>
            <a:endParaRPr lang="en-US" sz="1400" dirty="0"/>
          </a:p>
          <a:p>
            <a:pPr marL="0" indent="0">
              <a:lnSpc>
                <a:spcPct val="100000"/>
              </a:lnSpc>
              <a:buNone/>
            </a:pPr>
            <a:r>
              <a:rPr lang="en-US" sz="1150" dirty="0">
                <a:solidFill>
                  <a:srgbClr val="6E6A63"/>
                </a:solidFill>
              </a:rPr>
              <a:t>the same term gets a different nomenclature_id in every Millennium build — ids don't travel between hospitals</a:t>
            </a:r>
            <a:endParaRPr lang="en-US" sz="1400" dirty="0"/>
          </a:p>
        </p:txBody>
      </p:sp>
      <p:sp>
        <p:nvSpPr>
          <p:cNvPr id="8" name="Shape 4"/>
          <p:cNvSpPr/>
          <p:nvPr/>
        </p:nvSpPr>
        <p:spPr>
          <a:xfrm>
            <a:off x="640080" y="2752344"/>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793151" y="2905415"/>
            <a:ext cx="260787" cy="260787"/>
          </a:xfrm>
          <a:prstGeom prst="rect">
            <a:avLst/>
          </a:prstGeom>
        </p:spPr>
      </p:pic>
      <p:sp>
        <p:nvSpPr>
          <p:cNvPr id="10" name="Text 5"/>
          <p:cNvSpPr/>
          <p:nvPr/>
        </p:nvSpPr>
        <p:spPr>
          <a:xfrm>
            <a:off x="1417320" y="2679192"/>
            <a:ext cx="525780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Mixed provenance</a:t>
            </a:r>
            <a:endParaRPr lang="en-US" sz="1400" dirty="0"/>
          </a:p>
          <a:p>
            <a:pPr marL="0" indent="0">
              <a:lnSpc>
                <a:spcPct val="100000"/>
              </a:lnSpc>
              <a:buNone/>
            </a:pPr>
            <a:r>
              <a:rPr lang="en-US" sz="1150" dirty="0">
                <a:solidFill>
                  <a:srgbClr val="6E6A63"/>
                </a:solidFill>
              </a:rPr>
              <a:t>some rows carry a CKI pointing at SNOMED / ICD-10 / Multum (a head start); many are pure local free-text</a:t>
            </a:r>
            <a:endParaRPr lang="en-US" sz="1400" dirty="0"/>
          </a:p>
        </p:txBody>
      </p:sp>
      <p:sp>
        <p:nvSpPr>
          <p:cNvPr id="11" name="Shape 6"/>
          <p:cNvSpPr/>
          <p:nvPr/>
        </p:nvSpPr>
        <p:spPr>
          <a:xfrm>
            <a:off x="640080" y="3813048"/>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793151" y="3966119"/>
            <a:ext cx="260787" cy="260787"/>
          </a:xfrm>
          <a:prstGeom prst="rect">
            <a:avLst/>
          </a:prstGeom>
        </p:spPr>
      </p:pic>
      <p:sp>
        <p:nvSpPr>
          <p:cNvPr id="13" name="Text 7"/>
          <p:cNvSpPr/>
          <p:nvPr/>
        </p:nvSpPr>
        <p:spPr>
          <a:xfrm>
            <a:off x="1417320" y="3739896"/>
            <a:ext cx="525780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Up to six code "spots" per row</a:t>
            </a:r>
            <a:endParaRPr lang="en-US" sz="1400" dirty="0"/>
          </a:p>
          <a:p>
            <a:pPr marL="0" indent="0">
              <a:lnSpc>
                <a:spcPct val="100000"/>
              </a:lnSpc>
              <a:buNone/>
            </a:pPr>
            <a:r>
              <a:rPr lang="en-US" sz="1150" dirty="0">
                <a:solidFill>
                  <a:srgbClr val="6E6A63"/>
                </a:solidFill>
              </a:rPr>
              <a:t>mnemonic, description, source vocabulary, source code… COMET reconciles them into one decision</a:t>
            </a:r>
            <a:endParaRPr lang="en-US" sz="1400" dirty="0"/>
          </a:p>
        </p:txBody>
      </p:sp>
      <p:sp>
        <p:nvSpPr>
          <p:cNvPr id="14" name="Shape 8"/>
          <p:cNvSpPr/>
          <p:nvPr/>
        </p:nvSpPr>
        <p:spPr>
          <a:xfrm>
            <a:off x="640080" y="4873752"/>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793151" y="5026823"/>
            <a:ext cx="260787" cy="260787"/>
          </a:xfrm>
          <a:prstGeom prst="rect">
            <a:avLst/>
          </a:prstGeom>
        </p:spPr>
      </p:pic>
      <p:sp>
        <p:nvSpPr>
          <p:cNvPr id="16" name="Text 9"/>
          <p:cNvSpPr/>
          <p:nvPr/>
        </p:nvSpPr>
        <p:spPr>
          <a:xfrm>
            <a:off x="1417320" y="4800600"/>
            <a:ext cx="525780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Usage-weighted long tail</a:t>
            </a:r>
            <a:endParaRPr lang="en-US" sz="1400" dirty="0"/>
          </a:p>
          <a:p>
            <a:pPr marL="0" indent="0">
              <a:lnSpc>
                <a:spcPct val="100000"/>
              </a:lnSpc>
              <a:buNone/>
            </a:pPr>
            <a:r>
              <a:rPr lang="en-US" sz="1150" dirty="0">
                <a:solidFill>
                  <a:srgbClr val="6E6A63"/>
                </a:solidFill>
              </a:rPr>
              <a:t>a few codes cover most records; tens of thousands of rare ones form the tail — so you map by impact</a:t>
            </a:r>
            <a:endParaRPr lang="en-US" sz="1400" dirty="0"/>
          </a:p>
        </p:txBody>
      </p:sp>
      <p:sp>
        <p:nvSpPr>
          <p:cNvPr id="17" name="Shape 10"/>
          <p:cNvSpPr/>
          <p:nvPr/>
        </p:nvSpPr>
        <p:spPr>
          <a:xfrm>
            <a:off x="7040880" y="1783080"/>
            <a:ext cx="4572000" cy="3794760"/>
          </a:xfrm>
          <a:prstGeom prst="roundRect">
            <a:avLst>
              <a:gd name="adj" fmla="val 2169"/>
            </a:avLst>
          </a:prstGeom>
          <a:solidFill>
            <a:srgbClr val="F6F2EB"/>
          </a:solidFill>
          <a:ln w="12700">
            <a:solidFill>
              <a:srgbClr val="DAD3C6"/>
            </a:solidFill>
            <a:prstDash val="solid"/>
          </a:ln>
        </p:spPr>
        <p:txBody>
          <a:bodyPr/>
          <a:lstStyle/>
          <a:p>
            <a:endParaRPr lang="en-US"/>
          </a:p>
        </p:txBody>
      </p:sp>
      <p:sp>
        <p:nvSpPr>
          <p:cNvPr id="18" name="Text 11"/>
          <p:cNvSpPr/>
          <p:nvPr/>
        </p:nvSpPr>
        <p:spPr>
          <a:xfrm>
            <a:off x="7315200" y="1965960"/>
            <a:ext cx="4023360" cy="411480"/>
          </a:xfrm>
          <a:prstGeom prst="rect">
            <a:avLst/>
          </a:prstGeom>
          <a:noFill/>
          <a:ln/>
        </p:spPr>
        <p:txBody>
          <a:bodyPr wrap="square" lIns="0" tIns="0" rIns="0" bIns="0"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A real source row</a:t>
            </a:r>
            <a:endParaRPr lang="en-US" sz="1600" dirty="0"/>
          </a:p>
        </p:txBody>
      </p:sp>
      <p:sp>
        <p:nvSpPr>
          <p:cNvPr id="19" name="Text 12"/>
          <p:cNvSpPr/>
          <p:nvPr/>
        </p:nvSpPr>
        <p:spPr>
          <a:xfrm>
            <a:off x="7315200" y="2560320"/>
            <a:ext cx="1691640" cy="384048"/>
          </a:xfrm>
          <a:prstGeom prst="rect">
            <a:avLst/>
          </a:prstGeom>
          <a:noFill/>
          <a:ln/>
        </p:spPr>
        <p:txBody>
          <a:bodyPr wrap="square" lIns="0" tIns="0" rIns="0" bIns="0" rtlCol="0" anchor="t"/>
          <a:lstStyle/>
          <a:p>
            <a:pPr marL="0" indent="0">
              <a:buNone/>
            </a:pPr>
            <a:r>
              <a:rPr lang="en-US" sz="1050" dirty="0">
                <a:solidFill>
                  <a:srgbClr val="6E6A63"/>
                </a:solidFill>
                <a:latin typeface="Courier New" pitchFamily="34" charset="0"/>
                <a:ea typeface="Courier New" pitchFamily="34" charset="-122"/>
                <a:cs typeface="Courier New" pitchFamily="34" charset="-120"/>
              </a:rPr>
              <a:t>nomenclature_id</a:t>
            </a:r>
            <a:endParaRPr lang="en-US" sz="1050" dirty="0"/>
          </a:p>
        </p:txBody>
      </p:sp>
      <p:sp>
        <p:nvSpPr>
          <p:cNvPr id="20" name="Text 13"/>
          <p:cNvSpPr/>
          <p:nvPr/>
        </p:nvSpPr>
        <p:spPr>
          <a:xfrm>
            <a:off x="9052560" y="2560320"/>
            <a:ext cx="2286000" cy="384048"/>
          </a:xfrm>
          <a:prstGeom prst="rect">
            <a:avLst/>
          </a:prstGeom>
          <a:noFill/>
          <a:ln/>
        </p:spPr>
        <p:txBody>
          <a:bodyPr wrap="square" lIns="0" tIns="0" rIns="0" bIns="0" rtlCol="0" anchor="t"/>
          <a:lstStyle/>
          <a:p>
            <a:pPr marL="0" indent="0">
              <a:lnSpc>
                <a:spcPct val="95000"/>
              </a:lnSpc>
              <a:buNone/>
            </a:pPr>
            <a:r>
              <a:rPr lang="en-US" sz="1150" b="1" dirty="0">
                <a:solidFill>
                  <a:srgbClr val="2B2B2B"/>
                </a:solidFill>
                <a:latin typeface="Calibri" pitchFamily="34" charset="0"/>
                <a:ea typeface="Calibri" pitchFamily="34" charset="-122"/>
                <a:cs typeface="Calibri" pitchFamily="34" charset="-120"/>
              </a:rPr>
              <a:t>270660884</a:t>
            </a:r>
            <a:endParaRPr lang="en-US" sz="1150" dirty="0"/>
          </a:p>
        </p:txBody>
      </p:sp>
      <p:sp>
        <p:nvSpPr>
          <p:cNvPr id="21" name="Text 14"/>
          <p:cNvSpPr/>
          <p:nvPr/>
        </p:nvSpPr>
        <p:spPr>
          <a:xfrm>
            <a:off x="7315200" y="3054096"/>
            <a:ext cx="1691640" cy="566928"/>
          </a:xfrm>
          <a:prstGeom prst="rect">
            <a:avLst/>
          </a:prstGeom>
          <a:noFill/>
          <a:ln/>
        </p:spPr>
        <p:txBody>
          <a:bodyPr wrap="square" lIns="0" tIns="0" rIns="0" bIns="0" rtlCol="0" anchor="t"/>
          <a:lstStyle/>
          <a:p>
            <a:pPr marL="0" indent="0">
              <a:buNone/>
            </a:pPr>
            <a:r>
              <a:rPr lang="en-US" sz="1050" dirty="0">
                <a:solidFill>
                  <a:srgbClr val="6E6A63"/>
                </a:solidFill>
                <a:latin typeface="Courier New" pitchFamily="34" charset="0"/>
                <a:ea typeface="Courier New" pitchFamily="34" charset="-122"/>
                <a:cs typeface="Courier New" pitchFamily="34" charset="-120"/>
              </a:rPr>
              <a:t>description</a:t>
            </a:r>
            <a:endParaRPr lang="en-US" sz="1050" dirty="0"/>
          </a:p>
        </p:txBody>
      </p:sp>
      <p:sp>
        <p:nvSpPr>
          <p:cNvPr id="22" name="Text 15"/>
          <p:cNvSpPr/>
          <p:nvPr/>
        </p:nvSpPr>
        <p:spPr>
          <a:xfrm>
            <a:off x="9052560" y="3054096"/>
            <a:ext cx="2286000" cy="566928"/>
          </a:xfrm>
          <a:prstGeom prst="rect">
            <a:avLst/>
          </a:prstGeom>
          <a:noFill/>
          <a:ln/>
        </p:spPr>
        <p:txBody>
          <a:bodyPr wrap="square" lIns="0" tIns="0" rIns="0" bIns="0" rtlCol="0" anchor="t"/>
          <a:lstStyle/>
          <a:p>
            <a:pPr marL="0" indent="0">
              <a:lnSpc>
                <a:spcPct val="95000"/>
              </a:lnSpc>
              <a:buNone/>
            </a:pPr>
            <a:r>
              <a:rPr lang="en-US" sz="1150" b="1" dirty="0">
                <a:solidFill>
                  <a:srgbClr val="2B2B2B"/>
                </a:solidFill>
                <a:latin typeface="Calibri" pitchFamily="34" charset="0"/>
                <a:ea typeface="Calibri" pitchFamily="34" charset="-122"/>
                <a:cs typeface="Calibri" pitchFamily="34" charset="-120"/>
              </a:rPr>
              <a:t>"Abdominal pain (3),</a:t>
            </a:r>
            <a:endParaRPr lang="en-US" sz="1150" dirty="0"/>
          </a:p>
          <a:p>
            <a:pPr marL="0" indent="0">
              <a:lnSpc>
                <a:spcPct val="95000"/>
              </a:lnSpc>
              <a:buNone/>
            </a:pPr>
            <a:r>
              <a:rPr lang="en-US" sz="1150" b="1" dirty="0">
                <a:solidFill>
                  <a:srgbClr val="2B2B2B"/>
                </a:solidFill>
                <a:latin typeface="Calibri" pitchFamily="34" charset="0"/>
                <a:ea typeface="Calibri" pitchFamily="34" charset="-122"/>
                <a:cs typeface="Calibri" pitchFamily="34" charset="-120"/>
              </a:rPr>
              <a:t>moderate… GI003"</a:t>
            </a:r>
            <a:endParaRPr lang="en-US" sz="1150" dirty="0"/>
          </a:p>
        </p:txBody>
      </p:sp>
      <p:sp>
        <p:nvSpPr>
          <p:cNvPr id="23" name="Text 16"/>
          <p:cNvSpPr/>
          <p:nvPr/>
        </p:nvSpPr>
        <p:spPr>
          <a:xfrm>
            <a:off x="7315200" y="3730752"/>
            <a:ext cx="1691640" cy="384048"/>
          </a:xfrm>
          <a:prstGeom prst="rect">
            <a:avLst/>
          </a:prstGeom>
          <a:noFill/>
          <a:ln/>
        </p:spPr>
        <p:txBody>
          <a:bodyPr wrap="square" lIns="0" tIns="0" rIns="0" bIns="0" rtlCol="0" anchor="t"/>
          <a:lstStyle/>
          <a:p>
            <a:pPr marL="0" indent="0">
              <a:buNone/>
            </a:pPr>
            <a:r>
              <a:rPr lang="en-US" sz="1050" dirty="0">
                <a:solidFill>
                  <a:srgbClr val="6E6A63"/>
                </a:solidFill>
                <a:latin typeface="Courier New" pitchFamily="34" charset="0"/>
                <a:ea typeface="Courier New" pitchFamily="34" charset="-122"/>
                <a:cs typeface="Courier New" pitchFamily="34" charset="-120"/>
              </a:rPr>
              <a:t>source vocabulary</a:t>
            </a:r>
            <a:endParaRPr lang="en-US" sz="1050" dirty="0"/>
          </a:p>
        </p:txBody>
      </p:sp>
      <p:sp>
        <p:nvSpPr>
          <p:cNvPr id="24" name="Text 17"/>
          <p:cNvSpPr/>
          <p:nvPr/>
        </p:nvSpPr>
        <p:spPr>
          <a:xfrm>
            <a:off x="9052560" y="3730752"/>
            <a:ext cx="2286000" cy="384048"/>
          </a:xfrm>
          <a:prstGeom prst="rect">
            <a:avLst/>
          </a:prstGeom>
          <a:noFill/>
          <a:ln/>
        </p:spPr>
        <p:txBody>
          <a:bodyPr wrap="square" lIns="0" tIns="0" rIns="0" bIns="0" rtlCol="0" anchor="t"/>
          <a:lstStyle/>
          <a:p>
            <a:pPr marL="0" indent="0">
              <a:lnSpc>
                <a:spcPct val="95000"/>
              </a:lnSpc>
              <a:buNone/>
            </a:pPr>
            <a:r>
              <a:rPr lang="en-US" sz="1150" b="1" dirty="0">
                <a:solidFill>
                  <a:srgbClr val="2B2B2B"/>
                </a:solidFill>
                <a:latin typeface="Calibri" pitchFamily="34" charset="0"/>
                <a:ea typeface="Calibri" pitchFamily="34" charset="-122"/>
                <a:cs typeface="Calibri" pitchFamily="34" charset="-120"/>
              </a:rPr>
              <a:t>Cerner (local)</a:t>
            </a:r>
            <a:endParaRPr lang="en-US" sz="1150" dirty="0"/>
          </a:p>
        </p:txBody>
      </p:sp>
      <p:sp>
        <p:nvSpPr>
          <p:cNvPr id="25" name="Text 18"/>
          <p:cNvSpPr/>
          <p:nvPr/>
        </p:nvSpPr>
        <p:spPr>
          <a:xfrm>
            <a:off x="7315200" y="4224528"/>
            <a:ext cx="1691640" cy="384048"/>
          </a:xfrm>
          <a:prstGeom prst="rect">
            <a:avLst/>
          </a:prstGeom>
          <a:noFill/>
          <a:ln/>
        </p:spPr>
        <p:txBody>
          <a:bodyPr wrap="square" lIns="0" tIns="0" rIns="0" bIns="0" rtlCol="0" anchor="t"/>
          <a:lstStyle/>
          <a:p>
            <a:pPr marL="0" indent="0">
              <a:buNone/>
            </a:pPr>
            <a:r>
              <a:rPr lang="en-US" sz="1050" dirty="0">
                <a:solidFill>
                  <a:srgbClr val="6E6A63"/>
                </a:solidFill>
                <a:latin typeface="Courier New" pitchFamily="34" charset="0"/>
                <a:ea typeface="Courier New" pitchFamily="34" charset="-122"/>
                <a:cs typeface="Courier New" pitchFamily="34" charset="-120"/>
              </a:rPr>
              <a:t>CKI</a:t>
            </a:r>
            <a:endParaRPr lang="en-US" sz="1050" dirty="0"/>
          </a:p>
        </p:txBody>
      </p:sp>
      <p:sp>
        <p:nvSpPr>
          <p:cNvPr id="26" name="Text 19"/>
          <p:cNvSpPr/>
          <p:nvPr/>
        </p:nvSpPr>
        <p:spPr>
          <a:xfrm>
            <a:off x="9052560" y="4224528"/>
            <a:ext cx="2286000" cy="384048"/>
          </a:xfrm>
          <a:prstGeom prst="rect">
            <a:avLst/>
          </a:prstGeom>
          <a:noFill/>
          <a:ln/>
        </p:spPr>
        <p:txBody>
          <a:bodyPr wrap="square" lIns="0" tIns="0" rIns="0" bIns="0" rtlCol="0" anchor="t"/>
          <a:lstStyle/>
          <a:p>
            <a:pPr marL="0" indent="0">
              <a:lnSpc>
                <a:spcPct val="95000"/>
              </a:lnSpc>
              <a:buNone/>
            </a:pPr>
            <a:r>
              <a:rPr lang="en-US" sz="1150" b="1" dirty="0">
                <a:solidFill>
                  <a:srgbClr val="B23A2E"/>
                </a:solidFill>
                <a:latin typeface="Calibri" pitchFamily="34" charset="0"/>
                <a:ea typeface="Calibri" pitchFamily="34" charset="-122"/>
                <a:cs typeface="Calibri" pitchFamily="34" charset="-120"/>
              </a:rPr>
              <a:t>—  none</a:t>
            </a:r>
            <a:endParaRPr lang="en-US" sz="1150" dirty="0"/>
          </a:p>
        </p:txBody>
      </p:sp>
      <p:sp>
        <p:nvSpPr>
          <p:cNvPr id="27" name="Text 20"/>
          <p:cNvSpPr/>
          <p:nvPr/>
        </p:nvSpPr>
        <p:spPr>
          <a:xfrm>
            <a:off x="7315200" y="4718304"/>
            <a:ext cx="1691640" cy="384048"/>
          </a:xfrm>
          <a:prstGeom prst="rect">
            <a:avLst/>
          </a:prstGeom>
          <a:noFill/>
          <a:ln/>
        </p:spPr>
        <p:txBody>
          <a:bodyPr wrap="square" lIns="0" tIns="0" rIns="0" bIns="0" rtlCol="0" anchor="t"/>
          <a:lstStyle/>
          <a:p>
            <a:pPr marL="0" indent="0">
              <a:buNone/>
            </a:pPr>
            <a:r>
              <a:rPr lang="en-US" sz="1050" dirty="0">
                <a:solidFill>
                  <a:srgbClr val="6E6A63"/>
                </a:solidFill>
                <a:latin typeface="Courier New" pitchFamily="34" charset="0"/>
                <a:ea typeface="Courier New" pitchFamily="34" charset="-122"/>
                <a:cs typeface="Courier New" pitchFamily="34" charset="-120"/>
              </a:rPr>
              <a:t>records</a:t>
            </a:r>
            <a:endParaRPr lang="en-US" sz="1050" dirty="0"/>
          </a:p>
        </p:txBody>
      </p:sp>
      <p:sp>
        <p:nvSpPr>
          <p:cNvPr id="28" name="Text 21"/>
          <p:cNvSpPr/>
          <p:nvPr/>
        </p:nvSpPr>
        <p:spPr>
          <a:xfrm>
            <a:off x="9052560" y="4718304"/>
            <a:ext cx="2286000" cy="384048"/>
          </a:xfrm>
          <a:prstGeom prst="rect">
            <a:avLst/>
          </a:prstGeom>
          <a:noFill/>
          <a:ln/>
        </p:spPr>
        <p:txBody>
          <a:bodyPr wrap="square" lIns="0" tIns="0" rIns="0" bIns="0" rtlCol="0" anchor="t"/>
          <a:lstStyle/>
          <a:p>
            <a:pPr marL="0" indent="0">
              <a:lnSpc>
                <a:spcPct val="95000"/>
              </a:lnSpc>
              <a:buNone/>
            </a:pPr>
            <a:r>
              <a:rPr lang="en-US" sz="1150" b="1" dirty="0">
                <a:solidFill>
                  <a:srgbClr val="2B2B2B"/>
                </a:solidFill>
                <a:latin typeface="Calibri" pitchFamily="34" charset="0"/>
                <a:ea typeface="Calibri" pitchFamily="34" charset="-122"/>
                <a:cs typeface="Calibri" pitchFamily="34" charset="-120"/>
              </a:rPr>
              <a:t>60,055</a:t>
            </a:r>
            <a:endParaRPr lang="en-US" sz="1150" dirty="0"/>
          </a:p>
        </p:txBody>
      </p:sp>
      <p:sp>
        <p:nvSpPr>
          <p:cNvPr id="29" name="Text 22"/>
          <p:cNvSpPr/>
          <p:nvPr/>
        </p:nvSpPr>
        <p:spPr>
          <a:xfrm>
            <a:off x="7315200" y="5193792"/>
            <a:ext cx="4023360" cy="320040"/>
          </a:xfrm>
          <a:prstGeom prst="rect">
            <a:avLst/>
          </a:prstGeom>
          <a:noFill/>
          <a:ln/>
        </p:spPr>
        <p:txBody>
          <a:bodyPr wrap="square" lIns="0" tIns="0" rIns="0" bIns="0" rtlCol="0" anchor="ctr"/>
          <a:lstStyle/>
          <a:p>
            <a:pPr marL="0" indent="0">
              <a:buNone/>
            </a:pPr>
            <a:r>
              <a:rPr lang="en-US" sz="1100" i="1" dirty="0">
                <a:solidFill>
                  <a:srgbClr val="6E6A63"/>
                </a:solidFill>
              </a:rPr>
              <a:t>no standard reference → </a:t>
            </a:r>
            <a:r>
              <a:rPr lang="en-US" sz="1100" b="1" dirty="0">
                <a:solidFill>
                  <a:srgbClr val="2E7D32"/>
                </a:solidFill>
              </a:rPr>
              <a:t>a human maps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From Cerner area to OMOP domain</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Each source area lands in the CDM table built for it</a:t>
            </a:r>
            <a:endParaRPr lang="en-US" sz="1450" dirty="0"/>
          </a:p>
        </p:txBody>
      </p:sp>
      <p:sp>
        <p:nvSpPr>
          <p:cNvPr id="5" name="Shape 2"/>
          <p:cNvSpPr/>
          <p:nvPr/>
        </p:nvSpPr>
        <p:spPr>
          <a:xfrm>
            <a:off x="594360" y="1691640"/>
            <a:ext cx="11018520" cy="457200"/>
          </a:xfrm>
          <a:prstGeom prst="rect">
            <a:avLst/>
          </a:prstGeom>
          <a:solidFill>
            <a:srgbClr val="23305F"/>
          </a:solidFill>
          <a:ln/>
        </p:spPr>
        <p:txBody>
          <a:bodyPr/>
          <a:lstStyle/>
          <a:p>
            <a:endParaRPr lang="en-US"/>
          </a:p>
        </p:txBody>
      </p:sp>
      <p:sp>
        <p:nvSpPr>
          <p:cNvPr id="6" name="Text 3"/>
          <p:cNvSpPr/>
          <p:nvPr/>
        </p:nvSpPr>
        <p:spPr>
          <a:xfrm>
            <a:off x="1417320" y="1691640"/>
            <a:ext cx="393192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Cerner area</a:t>
            </a:r>
            <a:endParaRPr lang="en-US" sz="1250" dirty="0"/>
          </a:p>
        </p:txBody>
      </p:sp>
      <p:sp>
        <p:nvSpPr>
          <p:cNvPr id="7" name="Text 4"/>
          <p:cNvSpPr/>
          <p:nvPr/>
        </p:nvSpPr>
        <p:spPr>
          <a:xfrm>
            <a:off x="5577840" y="1691640"/>
            <a:ext cx="283464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OMOP domain</a:t>
            </a:r>
            <a:endParaRPr lang="en-US" sz="1250" dirty="0"/>
          </a:p>
        </p:txBody>
      </p:sp>
      <p:sp>
        <p:nvSpPr>
          <p:cNvPr id="8" name="Text 5"/>
          <p:cNvSpPr/>
          <p:nvPr/>
        </p:nvSpPr>
        <p:spPr>
          <a:xfrm>
            <a:off x="8503920" y="1691640"/>
            <a:ext cx="2926080" cy="45720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CDM table</a:t>
            </a:r>
            <a:endParaRPr lang="en-US" sz="1250" dirty="0"/>
          </a:p>
        </p:txBody>
      </p:sp>
      <p:sp>
        <p:nvSpPr>
          <p:cNvPr id="9" name="Shape 6"/>
          <p:cNvSpPr/>
          <p:nvPr/>
        </p:nvSpPr>
        <p:spPr>
          <a:xfrm>
            <a:off x="594360" y="2148840"/>
            <a:ext cx="11018520" cy="658368"/>
          </a:xfrm>
          <a:prstGeom prst="rect">
            <a:avLst/>
          </a:prstGeom>
          <a:solidFill>
            <a:srgbClr val="F6F2EB"/>
          </a:solidFill>
          <a:ln w="6350">
            <a:solidFill>
              <a:srgbClr val="DAD3C6"/>
            </a:solidFill>
            <a:prstDash val="solid"/>
          </a:ln>
        </p:spPr>
        <p:txBody>
          <a:bodyPr/>
          <a:lstStyle/>
          <a:p>
            <a:endParaRPr lang="en-US"/>
          </a:p>
        </p:txBody>
      </p:sp>
      <p:sp>
        <p:nvSpPr>
          <p:cNvPr id="10" name="Shape 7"/>
          <p:cNvSpPr/>
          <p:nvPr/>
        </p:nvSpPr>
        <p:spPr>
          <a:xfrm>
            <a:off x="749808" y="2240280"/>
            <a:ext cx="475488" cy="47548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1" name="Image 0" descr="preencoded.png"/>
          <p:cNvPicPr>
            <a:picLocks noChangeAspect="1"/>
          </p:cNvPicPr>
          <p:nvPr/>
        </p:nvPicPr>
        <p:blipFill>
          <a:blip r:embed="rId3"/>
          <a:stretch>
            <a:fillRect/>
          </a:stretch>
        </p:blipFill>
        <p:spPr>
          <a:xfrm>
            <a:off x="878190" y="2368662"/>
            <a:ext cx="218724" cy="218724"/>
          </a:xfrm>
          <a:prstGeom prst="rect">
            <a:avLst/>
          </a:prstGeom>
        </p:spPr>
      </p:pic>
      <p:sp>
        <p:nvSpPr>
          <p:cNvPr id="12" name="Text 8"/>
          <p:cNvSpPr/>
          <p:nvPr/>
        </p:nvSpPr>
        <p:spPr>
          <a:xfrm>
            <a:off x="1417320" y="2148840"/>
            <a:ext cx="402336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Diagnosis &amp; Problem</a:t>
            </a:r>
            <a:endParaRPr lang="en-US" sz="1250" dirty="0"/>
          </a:p>
        </p:txBody>
      </p:sp>
      <p:sp>
        <p:nvSpPr>
          <p:cNvPr id="13" name="Text 9"/>
          <p:cNvSpPr/>
          <p:nvPr/>
        </p:nvSpPr>
        <p:spPr>
          <a:xfrm>
            <a:off x="5577840" y="2148840"/>
            <a:ext cx="2834640" cy="658368"/>
          </a:xfrm>
          <a:prstGeom prst="rect">
            <a:avLst/>
          </a:prstGeom>
          <a:noFill/>
          <a:ln/>
        </p:spPr>
        <p:txBody>
          <a:bodyPr wrap="square" lIns="0" tIns="0" rIns="0" bIns="0" rtlCol="0" anchor="ctr"/>
          <a:lstStyle/>
          <a:p>
            <a:pPr marL="0" indent="0">
              <a:buNone/>
            </a:pPr>
            <a:r>
              <a:rPr lang="en-US" sz="1250" b="1" dirty="0">
                <a:solidFill>
                  <a:srgbClr val="23305F"/>
                </a:solidFill>
                <a:latin typeface="Calibri" pitchFamily="34" charset="0"/>
                <a:ea typeface="Calibri" pitchFamily="34" charset="-122"/>
                <a:cs typeface="Calibri" pitchFamily="34" charset="-120"/>
              </a:rPr>
              <a:t>→  Condition</a:t>
            </a:r>
            <a:endParaRPr lang="en-US" sz="1250" dirty="0"/>
          </a:p>
        </p:txBody>
      </p:sp>
      <p:sp>
        <p:nvSpPr>
          <p:cNvPr id="14" name="Text 10"/>
          <p:cNvSpPr/>
          <p:nvPr/>
        </p:nvSpPr>
        <p:spPr>
          <a:xfrm>
            <a:off x="8503920" y="2148840"/>
            <a:ext cx="3017520" cy="658368"/>
          </a:xfrm>
          <a:prstGeom prst="rect">
            <a:avLst/>
          </a:prstGeom>
          <a:noFill/>
          <a:ln/>
        </p:spPr>
        <p:txBody>
          <a:bodyPr wrap="square" lIns="0" tIns="0" rIns="0" bIns="0" rtlCol="0" anchor="ctr"/>
          <a:lstStyle/>
          <a:p>
            <a:pPr marL="0" indent="0">
              <a:buNone/>
            </a:pPr>
            <a:r>
              <a:rPr lang="en-US" sz="1100" dirty="0">
                <a:solidFill>
                  <a:srgbClr val="6E6A63"/>
                </a:solidFill>
                <a:latin typeface="Courier New" pitchFamily="34" charset="0"/>
                <a:ea typeface="Courier New" pitchFamily="34" charset="-122"/>
                <a:cs typeface="Courier New" pitchFamily="34" charset="-120"/>
              </a:rPr>
              <a:t>CONDITION_OCCURRENCE</a:t>
            </a:r>
            <a:endParaRPr lang="en-US" sz="1100" dirty="0"/>
          </a:p>
        </p:txBody>
      </p:sp>
      <p:sp>
        <p:nvSpPr>
          <p:cNvPr id="15" name="Shape 11"/>
          <p:cNvSpPr/>
          <p:nvPr/>
        </p:nvSpPr>
        <p:spPr>
          <a:xfrm>
            <a:off x="594360" y="2807208"/>
            <a:ext cx="11018520" cy="658368"/>
          </a:xfrm>
          <a:prstGeom prst="rect">
            <a:avLst/>
          </a:prstGeom>
          <a:solidFill>
            <a:srgbClr val="FFFFFF"/>
          </a:solidFill>
          <a:ln w="6350">
            <a:solidFill>
              <a:srgbClr val="DAD3C6"/>
            </a:solidFill>
            <a:prstDash val="solid"/>
          </a:ln>
        </p:spPr>
        <p:txBody>
          <a:bodyPr/>
          <a:lstStyle/>
          <a:p>
            <a:endParaRPr lang="en-US"/>
          </a:p>
        </p:txBody>
      </p:sp>
      <p:sp>
        <p:nvSpPr>
          <p:cNvPr id="16" name="Shape 12"/>
          <p:cNvSpPr/>
          <p:nvPr/>
        </p:nvSpPr>
        <p:spPr>
          <a:xfrm>
            <a:off x="749808" y="2898648"/>
            <a:ext cx="475488" cy="47548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7" name="Image 1" descr="preencoded.png"/>
          <p:cNvPicPr>
            <a:picLocks noChangeAspect="1"/>
          </p:cNvPicPr>
          <p:nvPr/>
        </p:nvPicPr>
        <p:blipFill>
          <a:blip r:embed="rId4"/>
          <a:stretch>
            <a:fillRect/>
          </a:stretch>
        </p:blipFill>
        <p:spPr>
          <a:xfrm>
            <a:off x="878190" y="3027030"/>
            <a:ext cx="218724" cy="218724"/>
          </a:xfrm>
          <a:prstGeom prst="rect">
            <a:avLst/>
          </a:prstGeom>
        </p:spPr>
      </p:pic>
      <p:sp>
        <p:nvSpPr>
          <p:cNvPr id="18" name="Text 13"/>
          <p:cNvSpPr/>
          <p:nvPr/>
        </p:nvSpPr>
        <p:spPr>
          <a:xfrm>
            <a:off x="1417320" y="2807208"/>
            <a:ext cx="402336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Event Result — labs &amp; vitals</a:t>
            </a:r>
            <a:endParaRPr lang="en-US" sz="1250" dirty="0"/>
          </a:p>
        </p:txBody>
      </p:sp>
      <p:sp>
        <p:nvSpPr>
          <p:cNvPr id="19" name="Text 14"/>
          <p:cNvSpPr/>
          <p:nvPr/>
        </p:nvSpPr>
        <p:spPr>
          <a:xfrm>
            <a:off x="5577840" y="2807208"/>
            <a:ext cx="2834640" cy="658368"/>
          </a:xfrm>
          <a:prstGeom prst="rect">
            <a:avLst/>
          </a:prstGeom>
          <a:noFill/>
          <a:ln/>
        </p:spPr>
        <p:txBody>
          <a:bodyPr wrap="square" lIns="0" tIns="0" rIns="0" bIns="0" rtlCol="0" anchor="ctr"/>
          <a:lstStyle/>
          <a:p>
            <a:pPr marL="0" indent="0">
              <a:buNone/>
            </a:pPr>
            <a:r>
              <a:rPr lang="en-US" sz="1250" b="1" dirty="0">
                <a:solidFill>
                  <a:srgbClr val="23305F"/>
                </a:solidFill>
                <a:latin typeface="Calibri" pitchFamily="34" charset="0"/>
                <a:ea typeface="Calibri" pitchFamily="34" charset="-122"/>
                <a:cs typeface="Calibri" pitchFamily="34" charset="-120"/>
              </a:rPr>
              <a:t>→  Measurement / Observation</a:t>
            </a:r>
            <a:endParaRPr lang="en-US" sz="1250" dirty="0"/>
          </a:p>
        </p:txBody>
      </p:sp>
      <p:sp>
        <p:nvSpPr>
          <p:cNvPr id="20" name="Text 15"/>
          <p:cNvSpPr/>
          <p:nvPr/>
        </p:nvSpPr>
        <p:spPr>
          <a:xfrm>
            <a:off x="8503920" y="2807208"/>
            <a:ext cx="3017520" cy="658368"/>
          </a:xfrm>
          <a:prstGeom prst="rect">
            <a:avLst/>
          </a:prstGeom>
          <a:noFill/>
          <a:ln/>
        </p:spPr>
        <p:txBody>
          <a:bodyPr wrap="square" lIns="0" tIns="0" rIns="0" bIns="0" rtlCol="0" anchor="ctr"/>
          <a:lstStyle/>
          <a:p>
            <a:pPr marL="0" indent="0">
              <a:buNone/>
            </a:pPr>
            <a:r>
              <a:rPr lang="en-US" sz="1100" dirty="0">
                <a:solidFill>
                  <a:srgbClr val="6E6A63"/>
                </a:solidFill>
                <a:latin typeface="Courier New" pitchFamily="34" charset="0"/>
                <a:ea typeface="Courier New" pitchFamily="34" charset="-122"/>
                <a:cs typeface="Courier New" pitchFamily="34" charset="-120"/>
              </a:rPr>
              <a:t>MEASUREMENT · OBSERVATION</a:t>
            </a:r>
            <a:endParaRPr lang="en-US" sz="1100" dirty="0"/>
          </a:p>
        </p:txBody>
      </p:sp>
      <p:sp>
        <p:nvSpPr>
          <p:cNvPr id="21" name="Shape 16"/>
          <p:cNvSpPr/>
          <p:nvPr/>
        </p:nvSpPr>
        <p:spPr>
          <a:xfrm>
            <a:off x="594360" y="3465576"/>
            <a:ext cx="11018520" cy="658368"/>
          </a:xfrm>
          <a:prstGeom prst="rect">
            <a:avLst/>
          </a:prstGeom>
          <a:solidFill>
            <a:srgbClr val="F6F2EB"/>
          </a:solidFill>
          <a:ln w="6350">
            <a:solidFill>
              <a:srgbClr val="DAD3C6"/>
            </a:solidFill>
            <a:prstDash val="solid"/>
          </a:ln>
        </p:spPr>
        <p:txBody>
          <a:bodyPr/>
          <a:lstStyle/>
          <a:p>
            <a:endParaRPr lang="en-US"/>
          </a:p>
        </p:txBody>
      </p:sp>
      <p:sp>
        <p:nvSpPr>
          <p:cNvPr id="22" name="Shape 17"/>
          <p:cNvSpPr/>
          <p:nvPr/>
        </p:nvSpPr>
        <p:spPr>
          <a:xfrm>
            <a:off x="749808" y="3557016"/>
            <a:ext cx="475488" cy="47548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23" name="Image 2" descr="preencoded.png"/>
          <p:cNvPicPr>
            <a:picLocks noChangeAspect="1"/>
          </p:cNvPicPr>
          <p:nvPr/>
        </p:nvPicPr>
        <p:blipFill>
          <a:blip r:embed="rId5"/>
          <a:stretch>
            <a:fillRect/>
          </a:stretch>
        </p:blipFill>
        <p:spPr>
          <a:xfrm>
            <a:off x="878190" y="3685398"/>
            <a:ext cx="218724" cy="218724"/>
          </a:xfrm>
          <a:prstGeom prst="rect">
            <a:avLst/>
          </a:prstGeom>
        </p:spPr>
      </p:pic>
      <p:sp>
        <p:nvSpPr>
          <p:cNvPr id="24" name="Text 18"/>
          <p:cNvSpPr/>
          <p:nvPr/>
        </p:nvSpPr>
        <p:spPr>
          <a:xfrm>
            <a:off x="1417320" y="3465576"/>
            <a:ext cx="402336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Medications (Multum)</a:t>
            </a:r>
            <a:endParaRPr lang="en-US" sz="1250" dirty="0"/>
          </a:p>
        </p:txBody>
      </p:sp>
      <p:sp>
        <p:nvSpPr>
          <p:cNvPr id="25" name="Text 19"/>
          <p:cNvSpPr/>
          <p:nvPr/>
        </p:nvSpPr>
        <p:spPr>
          <a:xfrm>
            <a:off x="5577840" y="3465576"/>
            <a:ext cx="2834640" cy="658368"/>
          </a:xfrm>
          <a:prstGeom prst="rect">
            <a:avLst/>
          </a:prstGeom>
          <a:noFill/>
          <a:ln/>
        </p:spPr>
        <p:txBody>
          <a:bodyPr wrap="square" lIns="0" tIns="0" rIns="0" bIns="0" rtlCol="0" anchor="ctr"/>
          <a:lstStyle/>
          <a:p>
            <a:pPr marL="0" indent="0">
              <a:buNone/>
            </a:pPr>
            <a:r>
              <a:rPr lang="en-US" sz="1250" b="1" dirty="0">
                <a:solidFill>
                  <a:srgbClr val="23305F"/>
                </a:solidFill>
                <a:latin typeface="Calibri" pitchFamily="34" charset="0"/>
                <a:ea typeface="Calibri" pitchFamily="34" charset="-122"/>
                <a:cs typeface="Calibri" pitchFamily="34" charset="-120"/>
              </a:rPr>
              <a:t>→  Drug</a:t>
            </a:r>
            <a:endParaRPr lang="en-US" sz="1250" dirty="0"/>
          </a:p>
        </p:txBody>
      </p:sp>
      <p:sp>
        <p:nvSpPr>
          <p:cNvPr id="26" name="Text 20"/>
          <p:cNvSpPr/>
          <p:nvPr/>
        </p:nvSpPr>
        <p:spPr>
          <a:xfrm>
            <a:off x="8503920" y="3465576"/>
            <a:ext cx="3017520" cy="658368"/>
          </a:xfrm>
          <a:prstGeom prst="rect">
            <a:avLst/>
          </a:prstGeom>
          <a:noFill/>
          <a:ln/>
        </p:spPr>
        <p:txBody>
          <a:bodyPr wrap="square" lIns="0" tIns="0" rIns="0" bIns="0" rtlCol="0" anchor="ctr"/>
          <a:lstStyle/>
          <a:p>
            <a:pPr marL="0" indent="0">
              <a:buNone/>
            </a:pPr>
            <a:r>
              <a:rPr lang="en-US" sz="1100" dirty="0">
                <a:solidFill>
                  <a:srgbClr val="6E6A63"/>
                </a:solidFill>
                <a:latin typeface="Courier New" pitchFamily="34" charset="0"/>
                <a:ea typeface="Courier New" pitchFamily="34" charset="-122"/>
                <a:cs typeface="Courier New" pitchFamily="34" charset="-120"/>
              </a:rPr>
              <a:t>DRUG_EXPOSURE</a:t>
            </a:r>
            <a:endParaRPr lang="en-US" sz="1100" dirty="0"/>
          </a:p>
        </p:txBody>
      </p:sp>
      <p:sp>
        <p:nvSpPr>
          <p:cNvPr id="27" name="Shape 21"/>
          <p:cNvSpPr/>
          <p:nvPr/>
        </p:nvSpPr>
        <p:spPr>
          <a:xfrm>
            <a:off x="594360" y="4123944"/>
            <a:ext cx="11018520" cy="658368"/>
          </a:xfrm>
          <a:prstGeom prst="rect">
            <a:avLst/>
          </a:prstGeom>
          <a:solidFill>
            <a:srgbClr val="FFFFFF"/>
          </a:solidFill>
          <a:ln w="6350">
            <a:solidFill>
              <a:srgbClr val="DAD3C6"/>
            </a:solidFill>
            <a:prstDash val="solid"/>
          </a:ln>
        </p:spPr>
        <p:txBody>
          <a:bodyPr/>
          <a:lstStyle/>
          <a:p>
            <a:endParaRPr lang="en-US"/>
          </a:p>
        </p:txBody>
      </p:sp>
      <p:sp>
        <p:nvSpPr>
          <p:cNvPr id="28" name="Shape 22"/>
          <p:cNvSpPr/>
          <p:nvPr/>
        </p:nvSpPr>
        <p:spPr>
          <a:xfrm>
            <a:off x="749808" y="4215384"/>
            <a:ext cx="475488" cy="47548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29" name="Image 3" descr="preencoded.png"/>
          <p:cNvPicPr>
            <a:picLocks noChangeAspect="1"/>
          </p:cNvPicPr>
          <p:nvPr/>
        </p:nvPicPr>
        <p:blipFill>
          <a:blip r:embed="rId6"/>
          <a:stretch>
            <a:fillRect/>
          </a:stretch>
        </p:blipFill>
        <p:spPr>
          <a:xfrm>
            <a:off x="878190" y="4343766"/>
            <a:ext cx="218724" cy="218724"/>
          </a:xfrm>
          <a:prstGeom prst="rect">
            <a:avLst/>
          </a:prstGeom>
        </p:spPr>
      </p:pic>
      <p:sp>
        <p:nvSpPr>
          <p:cNvPr id="30" name="Text 23"/>
          <p:cNvSpPr/>
          <p:nvPr/>
        </p:nvSpPr>
        <p:spPr>
          <a:xfrm>
            <a:off x="1417320" y="4123944"/>
            <a:ext cx="402336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Procedures</a:t>
            </a:r>
            <a:endParaRPr lang="en-US" sz="1250" dirty="0"/>
          </a:p>
        </p:txBody>
      </p:sp>
      <p:sp>
        <p:nvSpPr>
          <p:cNvPr id="31" name="Text 24"/>
          <p:cNvSpPr/>
          <p:nvPr/>
        </p:nvSpPr>
        <p:spPr>
          <a:xfrm>
            <a:off x="5577840" y="4123944"/>
            <a:ext cx="2834640" cy="658368"/>
          </a:xfrm>
          <a:prstGeom prst="rect">
            <a:avLst/>
          </a:prstGeom>
          <a:noFill/>
          <a:ln/>
        </p:spPr>
        <p:txBody>
          <a:bodyPr wrap="square" lIns="0" tIns="0" rIns="0" bIns="0" rtlCol="0" anchor="ctr"/>
          <a:lstStyle/>
          <a:p>
            <a:pPr marL="0" indent="0">
              <a:buNone/>
            </a:pPr>
            <a:r>
              <a:rPr lang="en-US" sz="1250" b="1" dirty="0">
                <a:solidFill>
                  <a:srgbClr val="23305F"/>
                </a:solidFill>
                <a:latin typeface="Calibri" pitchFamily="34" charset="0"/>
                <a:ea typeface="Calibri" pitchFamily="34" charset="-122"/>
                <a:cs typeface="Calibri" pitchFamily="34" charset="-120"/>
              </a:rPr>
              <a:t>→  Procedure</a:t>
            </a:r>
            <a:endParaRPr lang="en-US" sz="1250" dirty="0"/>
          </a:p>
        </p:txBody>
      </p:sp>
      <p:sp>
        <p:nvSpPr>
          <p:cNvPr id="32" name="Text 25"/>
          <p:cNvSpPr/>
          <p:nvPr/>
        </p:nvSpPr>
        <p:spPr>
          <a:xfrm>
            <a:off x="8503920" y="4123944"/>
            <a:ext cx="3017520" cy="658368"/>
          </a:xfrm>
          <a:prstGeom prst="rect">
            <a:avLst/>
          </a:prstGeom>
          <a:noFill/>
          <a:ln/>
        </p:spPr>
        <p:txBody>
          <a:bodyPr wrap="square" lIns="0" tIns="0" rIns="0" bIns="0" rtlCol="0" anchor="ctr"/>
          <a:lstStyle/>
          <a:p>
            <a:pPr marL="0" indent="0">
              <a:buNone/>
            </a:pPr>
            <a:r>
              <a:rPr lang="en-US" sz="1100" dirty="0">
                <a:solidFill>
                  <a:srgbClr val="6E6A63"/>
                </a:solidFill>
                <a:latin typeface="Courier New" pitchFamily="34" charset="0"/>
                <a:ea typeface="Courier New" pitchFamily="34" charset="-122"/>
                <a:cs typeface="Courier New" pitchFamily="34" charset="-120"/>
              </a:rPr>
              <a:t>PROCEDURE_OCCURRENCE</a:t>
            </a:r>
            <a:endParaRPr lang="en-US" sz="1100" dirty="0"/>
          </a:p>
        </p:txBody>
      </p:sp>
      <p:sp>
        <p:nvSpPr>
          <p:cNvPr id="33" name="Shape 26"/>
          <p:cNvSpPr/>
          <p:nvPr/>
        </p:nvSpPr>
        <p:spPr>
          <a:xfrm>
            <a:off x="594360" y="4782312"/>
            <a:ext cx="11018520" cy="658368"/>
          </a:xfrm>
          <a:prstGeom prst="rect">
            <a:avLst/>
          </a:prstGeom>
          <a:solidFill>
            <a:srgbClr val="F6F2EB"/>
          </a:solidFill>
          <a:ln w="6350">
            <a:solidFill>
              <a:srgbClr val="DAD3C6"/>
            </a:solidFill>
            <a:prstDash val="solid"/>
          </a:ln>
        </p:spPr>
        <p:txBody>
          <a:bodyPr/>
          <a:lstStyle/>
          <a:p>
            <a:endParaRPr lang="en-US"/>
          </a:p>
        </p:txBody>
      </p:sp>
      <p:sp>
        <p:nvSpPr>
          <p:cNvPr id="34" name="Shape 27"/>
          <p:cNvSpPr/>
          <p:nvPr/>
        </p:nvSpPr>
        <p:spPr>
          <a:xfrm>
            <a:off x="749808" y="4873752"/>
            <a:ext cx="475488" cy="47548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35" name="Image 4" descr="preencoded.png"/>
          <p:cNvPicPr>
            <a:picLocks noChangeAspect="1"/>
          </p:cNvPicPr>
          <p:nvPr/>
        </p:nvPicPr>
        <p:blipFill>
          <a:blip r:embed="rId7"/>
          <a:stretch>
            <a:fillRect/>
          </a:stretch>
        </p:blipFill>
        <p:spPr>
          <a:xfrm>
            <a:off x="878190" y="5002134"/>
            <a:ext cx="218724" cy="218724"/>
          </a:xfrm>
          <a:prstGeom prst="rect">
            <a:avLst/>
          </a:prstGeom>
        </p:spPr>
      </p:pic>
      <p:sp>
        <p:nvSpPr>
          <p:cNvPr id="36" name="Text 28"/>
          <p:cNvSpPr/>
          <p:nvPr/>
        </p:nvSpPr>
        <p:spPr>
          <a:xfrm>
            <a:off x="1417320" y="4782312"/>
            <a:ext cx="402336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Encounter · Admit · Discharge</a:t>
            </a:r>
            <a:endParaRPr lang="en-US" sz="1250" dirty="0"/>
          </a:p>
        </p:txBody>
      </p:sp>
      <p:sp>
        <p:nvSpPr>
          <p:cNvPr id="37" name="Text 29"/>
          <p:cNvSpPr/>
          <p:nvPr/>
        </p:nvSpPr>
        <p:spPr>
          <a:xfrm>
            <a:off x="5577840" y="4782312"/>
            <a:ext cx="2834640" cy="658368"/>
          </a:xfrm>
          <a:prstGeom prst="rect">
            <a:avLst/>
          </a:prstGeom>
          <a:noFill/>
          <a:ln/>
        </p:spPr>
        <p:txBody>
          <a:bodyPr wrap="square" lIns="0" tIns="0" rIns="0" bIns="0" rtlCol="0" anchor="ctr"/>
          <a:lstStyle/>
          <a:p>
            <a:pPr marL="0" indent="0">
              <a:buNone/>
            </a:pPr>
            <a:r>
              <a:rPr lang="en-US" sz="1250" b="1" dirty="0">
                <a:solidFill>
                  <a:srgbClr val="23305F"/>
                </a:solidFill>
                <a:latin typeface="Calibri" pitchFamily="34" charset="0"/>
                <a:ea typeface="Calibri" pitchFamily="34" charset="-122"/>
                <a:cs typeface="Calibri" pitchFamily="34" charset="-120"/>
              </a:rPr>
              <a:t>→  Visit</a:t>
            </a:r>
            <a:endParaRPr lang="en-US" sz="1250" dirty="0"/>
          </a:p>
        </p:txBody>
      </p:sp>
      <p:sp>
        <p:nvSpPr>
          <p:cNvPr id="38" name="Text 30"/>
          <p:cNvSpPr/>
          <p:nvPr/>
        </p:nvSpPr>
        <p:spPr>
          <a:xfrm>
            <a:off x="8503920" y="4782312"/>
            <a:ext cx="3017520" cy="658368"/>
          </a:xfrm>
          <a:prstGeom prst="rect">
            <a:avLst/>
          </a:prstGeom>
          <a:noFill/>
          <a:ln/>
        </p:spPr>
        <p:txBody>
          <a:bodyPr wrap="square" lIns="0" tIns="0" rIns="0" bIns="0" rtlCol="0" anchor="ctr"/>
          <a:lstStyle/>
          <a:p>
            <a:pPr marL="0" indent="0">
              <a:buNone/>
            </a:pPr>
            <a:r>
              <a:rPr lang="en-US" sz="1100" dirty="0">
                <a:solidFill>
                  <a:srgbClr val="6E6A63"/>
                </a:solidFill>
                <a:latin typeface="Courier New" pitchFamily="34" charset="0"/>
                <a:ea typeface="Courier New" pitchFamily="34" charset="-122"/>
                <a:cs typeface="Courier New" pitchFamily="34" charset="-120"/>
              </a:rPr>
              <a:t>VISIT_OCCURRENCE</a:t>
            </a:r>
            <a:endParaRPr lang="en-US" sz="1100" dirty="0"/>
          </a:p>
        </p:txBody>
      </p:sp>
      <p:sp>
        <p:nvSpPr>
          <p:cNvPr id="39" name="Shape 31"/>
          <p:cNvSpPr/>
          <p:nvPr/>
        </p:nvSpPr>
        <p:spPr>
          <a:xfrm>
            <a:off x="594360" y="5440680"/>
            <a:ext cx="11018520" cy="658368"/>
          </a:xfrm>
          <a:prstGeom prst="rect">
            <a:avLst/>
          </a:prstGeom>
          <a:solidFill>
            <a:srgbClr val="FFFFFF"/>
          </a:solidFill>
          <a:ln w="6350">
            <a:solidFill>
              <a:srgbClr val="DAD3C6"/>
            </a:solidFill>
            <a:prstDash val="solid"/>
          </a:ln>
        </p:spPr>
        <p:txBody>
          <a:bodyPr/>
          <a:lstStyle/>
          <a:p>
            <a:endParaRPr lang="en-US"/>
          </a:p>
        </p:txBody>
      </p:sp>
      <p:sp>
        <p:nvSpPr>
          <p:cNvPr id="40" name="Shape 32"/>
          <p:cNvSpPr/>
          <p:nvPr/>
        </p:nvSpPr>
        <p:spPr>
          <a:xfrm>
            <a:off x="749808" y="5532120"/>
            <a:ext cx="475488" cy="475488"/>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41" name="Image 5" descr="preencoded.png"/>
          <p:cNvPicPr>
            <a:picLocks noChangeAspect="1"/>
          </p:cNvPicPr>
          <p:nvPr/>
        </p:nvPicPr>
        <p:blipFill>
          <a:blip r:embed="rId8"/>
          <a:stretch>
            <a:fillRect/>
          </a:stretch>
        </p:blipFill>
        <p:spPr>
          <a:xfrm>
            <a:off x="878190" y="5660502"/>
            <a:ext cx="218724" cy="218724"/>
          </a:xfrm>
          <a:prstGeom prst="rect">
            <a:avLst/>
          </a:prstGeom>
        </p:spPr>
      </p:pic>
      <p:sp>
        <p:nvSpPr>
          <p:cNvPr id="42" name="Text 33"/>
          <p:cNvSpPr/>
          <p:nvPr/>
        </p:nvSpPr>
        <p:spPr>
          <a:xfrm>
            <a:off x="1417320" y="5440680"/>
            <a:ext cx="4023360" cy="658368"/>
          </a:xfrm>
          <a:prstGeom prst="rect">
            <a:avLst/>
          </a:prstGeom>
          <a:noFill/>
          <a:ln/>
        </p:spPr>
        <p:txBody>
          <a:bodyPr wrap="square" lIns="0" tIns="0" rIns="0" bIns="0" rtlCol="0" anchor="ctr"/>
          <a:lstStyle/>
          <a:p>
            <a:pPr marL="0" indent="0">
              <a:buNone/>
            </a:pPr>
            <a:r>
              <a:rPr lang="en-US" sz="1250" b="1" dirty="0">
                <a:solidFill>
                  <a:srgbClr val="2B2B2B"/>
                </a:solidFill>
                <a:latin typeface="Calibri" pitchFamily="34" charset="0"/>
                <a:ea typeface="Calibri" pitchFamily="34" charset="-122"/>
                <a:cs typeface="Calibri" pitchFamily="34" charset="-120"/>
              </a:rPr>
              <a:t>Location · Org · Provider</a:t>
            </a:r>
            <a:endParaRPr lang="en-US" sz="1250" dirty="0"/>
          </a:p>
        </p:txBody>
      </p:sp>
      <p:sp>
        <p:nvSpPr>
          <p:cNvPr id="43" name="Text 34"/>
          <p:cNvSpPr/>
          <p:nvPr/>
        </p:nvSpPr>
        <p:spPr>
          <a:xfrm>
            <a:off x="5577840" y="5440680"/>
            <a:ext cx="2834640" cy="658368"/>
          </a:xfrm>
          <a:prstGeom prst="rect">
            <a:avLst/>
          </a:prstGeom>
          <a:noFill/>
          <a:ln/>
        </p:spPr>
        <p:txBody>
          <a:bodyPr wrap="square" lIns="0" tIns="0" rIns="0" bIns="0" rtlCol="0" anchor="ctr"/>
          <a:lstStyle/>
          <a:p>
            <a:pPr marL="0" indent="0">
              <a:buNone/>
            </a:pPr>
            <a:r>
              <a:rPr lang="en-US" sz="1250" b="1" dirty="0">
                <a:solidFill>
                  <a:srgbClr val="23305F"/>
                </a:solidFill>
                <a:latin typeface="Calibri" pitchFamily="34" charset="0"/>
                <a:ea typeface="Calibri" pitchFamily="34" charset="-122"/>
                <a:cs typeface="Calibri" pitchFamily="34" charset="-120"/>
              </a:rPr>
              <a:t>→  Metadata</a:t>
            </a:r>
            <a:endParaRPr lang="en-US" sz="1250" dirty="0"/>
          </a:p>
        </p:txBody>
      </p:sp>
      <p:sp>
        <p:nvSpPr>
          <p:cNvPr id="44" name="Text 35"/>
          <p:cNvSpPr/>
          <p:nvPr/>
        </p:nvSpPr>
        <p:spPr>
          <a:xfrm>
            <a:off x="8503920" y="5440680"/>
            <a:ext cx="3017520" cy="658368"/>
          </a:xfrm>
          <a:prstGeom prst="rect">
            <a:avLst/>
          </a:prstGeom>
          <a:noFill/>
          <a:ln/>
        </p:spPr>
        <p:txBody>
          <a:bodyPr wrap="square" lIns="0" tIns="0" rIns="0" bIns="0" rtlCol="0" anchor="ctr"/>
          <a:lstStyle/>
          <a:p>
            <a:pPr marL="0" indent="0">
              <a:buNone/>
            </a:pPr>
            <a:r>
              <a:rPr lang="en-US" sz="1100" dirty="0">
                <a:solidFill>
                  <a:srgbClr val="6E6A63"/>
                </a:solidFill>
                <a:latin typeface="Courier New" pitchFamily="34" charset="0"/>
                <a:ea typeface="Courier New" pitchFamily="34" charset="-122"/>
                <a:cs typeface="Courier New" pitchFamily="34" charset="-120"/>
              </a:rPr>
              <a:t>CARE_SITE · PROVIDER</a:t>
            </a:r>
            <a:endParaRPr lang="en-US" sz="1100" dirty="0"/>
          </a:p>
        </p:txBody>
      </p:sp>
      <p:sp>
        <p:nvSpPr>
          <p:cNvPr id="45" name="Text 36"/>
          <p:cNvSpPr/>
          <p:nvPr/>
        </p:nvSpPr>
        <p:spPr>
          <a:xfrm>
            <a:off x="594360" y="6281928"/>
            <a:ext cx="11018520" cy="548640"/>
          </a:xfrm>
          <a:prstGeom prst="rect">
            <a:avLst/>
          </a:prstGeom>
          <a:noFill/>
          <a:ln/>
        </p:spPr>
        <p:txBody>
          <a:bodyPr wrap="square" lIns="0" tIns="0" rIns="0" bIns="0" rtlCol="0" anchor="ctr"/>
          <a:lstStyle/>
          <a:p>
            <a:pPr marL="0" indent="0" algn="ctr">
              <a:buNone/>
            </a:pPr>
            <a:r>
              <a:rPr lang="en-US" sz="1300" b="1" dirty="0">
                <a:solidFill>
                  <a:srgbClr val="23305F"/>
                </a:solidFill>
                <a:latin typeface="Calibri" pitchFamily="34" charset="0"/>
                <a:ea typeface="Calibri" pitchFamily="34" charset="-122"/>
                <a:cs typeface="Calibri" pitchFamily="34" charset="-120"/>
              </a:rPr>
              <a:t>The target concept's domain decides the destination</a:t>
            </a:r>
            <a:r>
              <a:rPr lang="en-US" sz="1300" dirty="0">
                <a:solidFill>
                  <a:srgbClr val="6E6A63"/>
                </a:solidFill>
                <a:latin typeface="Calibri" pitchFamily="34" charset="0"/>
                <a:ea typeface="Calibri" pitchFamily="34" charset="-122"/>
                <a:cs typeface="Calibri" pitchFamily="34" charset="-120"/>
              </a:rPr>
              <a:t> — pick the right standard concept and the ETL routes the record to the correct CDM table automatically.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Where the MR sheets come from</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Extracted from Millennium, versioned, and weighted by real-world use</a:t>
            </a:r>
            <a:endParaRPr lang="en-US" sz="1450" dirty="0"/>
          </a:p>
        </p:txBody>
      </p:sp>
      <p:sp>
        <p:nvSpPr>
          <p:cNvPr id="5" name="Shape 2"/>
          <p:cNvSpPr/>
          <p:nvPr/>
        </p:nvSpPr>
        <p:spPr>
          <a:xfrm>
            <a:off x="640080" y="1691640"/>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93151" y="1844711"/>
            <a:ext cx="260787" cy="260787"/>
          </a:xfrm>
          <a:prstGeom prst="rect">
            <a:avLst/>
          </a:prstGeom>
        </p:spPr>
      </p:pic>
      <p:sp>
        <p:nvSpPr>
          <p:cNvPr id="7" name="Text 3"/>
          <p:cNvSpPr/>
          <p:nvPr/>
        </p:nvSpPr>
        <p:spPr>
          <a:xfrm>
            <a:off x="1417320" y="1618488"/>
            <a:ext cx="539496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Extracted per area</a:t>
            </a:r>
            <a:endParaRPr lang="en-US" sz="1400" dirty="0"/>
          </a:p>
          <a:p>
            <a:pPr marL="0" indent="0">
              <a:lnSpc>
                <a:spcPct val="100000"/>
              </a:lnSpc>
              <a:buNone/>
            </a:pPr>
            <a:r>
              <a:rPr lang="en-US" sz="1150" dirty="0">
                <a:solidFill>
                  <a:srgbClr val="6E6A63"/>
                </a:solidFill>
              </a:rPr>
              <a:t>Millennium exports each Cerner area as a tab-delimited MappingReport — the "MR sheet" COMET imports</a:t>
            </a:r>
            <a:endParaRPr lang="en-US" sz="1400" dirty="0"/>
          </a:p>
        </p:txBody>
      </p:sp>
      <p:sp>
        <p:nvSpPr>
          <p:cNvPr id="8" name="Shape 4"/>
          <p:cNvSpPr/>
          <p:nvPr/>
        </p:nvSpPr>
        <p:spPr>
          <a:xfrm>
            <a:off x="640080" y="2752344"/>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793151" y="2905415"/>
            <a:ext cx="260787" cy="260787"/>
          </a:xfrm>
          <a:prstGeom prst="rect">
            <a:avLst/>
          </a:prstGeom>
        </p:spPr>
      </p:pic>
      <p:sp>
        <p:nvSpPr>
          <p:cNvPr id="10" name="Text 5"/>
          <p:cNvSpPr/>
          <p:nvPr/>
        </p:nvSpPr>
        <p:spPr>
          <a:xfrm>
            <a:off x="1417320" y="2679192"/>
            <a:ext cx="539496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Weighted by usage</a:t>
            </a:r>
            <a:endParaRPr lang="en-US" sz="1400" dirty="0"/>
          </a:p>
          <a:p>
            <a:pPr marL="0" indent="0">
              <a:lnSpc>
                <a:spcPct val="100000"/>
              </a:lnSpc>
              <a:buNone/>
            </a:pPr>
            <a:r>
              <a:rPr lang="en-US" sz="1150" dirty="0">
                <a:solidFill>
                  <a:srgbClr val="6E6A63"/>
                </a:solidFill>
              </a:rPr>
              <a:t>every row carries its record volume — a handful of codes cover most data, so you map by impact first</a:t>
            </a:r>
            <a:endParaRPr lang="en-US" sz="1400" dirty="0"/>
          </a:p>
        </p:txBody>
      </p:sp>
      <p:sp>
        <p:nvSpPr>
          <p:cNvPr id="11" name="Shape 6"/>
          <p:cNvSpPr/>
          <p:nvPr/>
        </p:nvSpPr>
        <p:spPr>
          <a:xfrm>
            <a:off x="640080" y="3813048"/>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793151" y="3966119"/>
            <a:ext cx="260787" cy="260787"/>
          </a:xfrm>
          <a:prstGeom prst="rect">
            <a:avLst/>
          </a:prstGeom>
        </p:spPr>
      </p:pic>
      <p:sp>
        <p:nvSpPr>
          <p:cNvPr id="13" name="Text 7"/>
          <p:cNvSpPr/>
          <p:nvPr/>
        </p:nvSpPr>
        <p:spPr>
          <a:xfrm>
            <a:off x="1417320" y="3739896"/>
            <a:ext cx="539496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Versioned &amp; drifting</a:t>
            </a:r>
            <a:endParaRPr lang="en-US" sz="1400" dirty="0"/>
          </a:p>
          <a:p>
            <a:pPr marL="0" indent="0">
              <a:lnSpc>
                <a:spcPct val="100000"/>
              </a:lnSpc>
              <a:buNone/>
            </a:pPr>
            <a:r>
              <a:rPr lang="en-US" sz="1150" dirty="0">
                <a:solidFill>
                  <a:srgbClr val="6E6A63"/>
                </a:solidFill>
              </a:rPr>
              <a:t>each new MR marks a term New, Still present, or Absent as the Millennium build evolves</a:t>
            </a:r>
            <a:endParaRPr lang="en-US" sz="1400" dirty="0"/>
          </a:p>
        </p:txBody>
      </p:sp>
      <p:sp>
        <p:nvSpPr>
          <p:cNvPr id="14" name="Shape 8"/>
          <p:cNvSpPr/>
          <p:nvPr/>
        </p:nvSpPr>
        <p:spPr>
          <a:xfrm>
            <a:off x="640080" y="4873752"/>
            <a:ext cx="566928" cy="56692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793151" y="5026823"/>
            <a:ext cx="260787" cy="260787"/>
          </a:xfrm>
          <a:prstGeom prst="rect">
            <a:avLst/>
          </a:prstGeom>
        </p:spPr>
      </p:pic>
      <p:sp>
        <p:nvSpPr>
          <p:cNvPr id="16" name="Text 9"/>
          <p:cNvSpPr/>
          <p:nvPr/>
        </p:nvSpPr>
        <p:spPr>
          <a:xfrm>
            <a:off x="1417320" y="4800600"/>
            <a:ext cx="5394960" cy="960120"/>
          </a:xfrm>
          <a:prstGeom prst="rect">
            <a:avLst/>
          </a:prstGeom>
          <a:noFill/>
          <a:ln/>
        </p:spPr>
        <p:txBody>
          <a:bodyPr wrap="square" lIns="0" tIns="0" rIns="0" bIns="0" rtlCol="0" anchor="ctr"/>
          <a:lstStyle/>
          <a:p>
            <a:pPr marL="0" indent="0">
              <a:lnSpc>
                <a:spcPct val="100000"/>
              </a:lnSpc>
              <a:buNone/>
            </a:pPr>
            <a:r>
              <a:rPr lang="en-US" sz="1400" b="1" dirty="0">
                <a:solidFill>
                  <a:srgbClr val="23305F"/>
                </a:solidFill>
              </a:rPr>
              <a:t>A snapshot in time</a:t>
            </a:r>
            <a:endParaRPr lang="en-US" sz="1400" dirty="0"/>
          </a:p>
          <a:p>
            <a:pPr marL="0" indent="0">
              <a:lnSpc>
                <a:spcPct val="100000"/>
              </a:lnSpc>
              <a:buNone/>
            </a:pPr>
            <a:r>
              <a:rPr lang="en-US" sz="1150" dirty="0">
                <a:solidFill>
                  <a:srgbClr val="6E6A63"/>
                </a:solidFill>
              </a:rPr>
              <a:t>a map is made against the term as captured — COMET stores that snapshot so the decision stays auditable</a:t>
            </a:r>
            <a:endParaRPr lang="en-US" sz="1400" dirty="0"/>
          </a:p>
        </p:txBody>
      </p:sp>
      <p:sp>
        <p:nvSpPr>
          <p:cNvPr id="17" name="Shape 10"/>
          <p:cNvSpPr/>
          <p:nvPr/>
        </p:nvSpPr>
        <p:spPr>
          <a:xfrm>
            <a:off x="7132320" y="1783080"/>
            <a:ext cx="4480560" cy="3794760"/>
          </a:xfrm>
          <a:prstGeom prst="roundRect">
            <a:avLst>
              <a:gd name="adj" fmla="val 2410"/>
            </a:avLst>
          </a:prstGeom>
          <a:solidFill>
            <a:srgbClr val="2A2013"/>
          </a:solidFill>
          <a:ln/>
        </p:spPr>
        <p:txBody>
          <a:bodyPr/>
          <a:lstStyle/>
          <a:p>
            <a:endParaRPr lang="en-US"/>
          </a:p>
        </p:txBody>
      </p:sp>
      <p:sp>
        <p:nvSpPr>
          <p:cNvPr id="18" name="Text 11"/>
          <p:cNvSpPr/>
          <p:nvPr/>
        </p:nvSpPr>
        <p:spPr>
          <a:xfrm>
            <a:off x="7452360" y="2011680"/>
            <a:ext cx="384048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The scale COMET imports</a:t>
            </a:r>
            <a:endParaRPr lang="en-US" sz="1600" dirty="0"/>
          </a:p>
        </p:txBody>
      </p:sp>
      <p:sp>
        <p:nvSpPr>
          <p:cNvPr id="19" name="Text 12"/>
          <p:cNvSpPr/>
          <p:nvPr/>
        </p:nvSpPr>
        <p:spPr>
          <a:xfrm>
            <a:off x="7452360" y="2697480"/>
            <a:ext cx="1828800" cy="640080"/>
          </a:xfrm>
          <a:prstGeom prst="rect">
            <a:avLst/>
          </a:prstGeom>
          <a:noFill/>
          <a:ln/>
        </p:spPr>
        <p:txBody>
          <a:bodyPr wrap="square" lIns="0" tIns="0" rIns="0" bIns="0" rtlCol="0" anchor="ctr"/>
          <a:lstStyle/>
          <a:p>
            <a:pPr marL="0" indent="0">
              <a:buNone/>
            </a:pPr>
            <a:r>
              <a:rPr lang="en-US" sz="2600" b="1" dirty="0">
                <a:solidFill>
                  <a:srgbClr val="EBD9AE"/>
                </a:solidFill>
                <a:latin typeface="Cambria" pitchFamily="34" charset="0"/>
                <a:ea typeface="Cambria" pitchFamily="34" charset="-122"/>
                <a:cs typeface="Cambria" pitchFamily="34" charset="-120"/>
              </a:rPr>
              <a:t>189k</a:t>
            </a:r>
            <a:endParaRPr lang="en-US" sz="2600" dirty="0"/>
          </a:p>
        </p:txBody>
      </p:sp>
      <p:sp>
        <p:nvSpPr>
          <p:cNvPr id="20" name="Text 13"/>
          <p:cNvSpPr/>
          <p:nvPr/>
        </p:nvSpPr>
        <p:spPr>
          <a:xfrm>
            <a:off x="9281160" y="2697480"/>
            <a:ext cx="2103120" cy="640080"/>
          </a:xfrm>
          <a:prstGeom prst="rect">
            <a:avLst/>
          </a:prstGeom>
          <a:noFill/>
          <a:ln/>
        </p:spPr>
        <p:txBody>
          <a:bodyPr wrap="square" lIns="0" tIns="0" rIns="0" bIns="0" rtlCol="0" anchor="ctr"/>
          <a:lstStyle/>
          <a:p>
            <a:pPr marL="0" indent="0">
              <a:buNone/>
            </a:pPr>
            <a:r>
              <a:rPr lang="en-US" sz="1150" dirty="0">
                <a:solidFill>
                  <a:srgbClr val="F1E7D6"/>
                </a:solidFill>
                <a:latin typeface="Calibri" pitchFamily="34" charset="0"/>
                <a:ea typeface="Calibri" pitchFamily="34" charset="-122"/>
                <a:cs typeface="Calibri" pitchFamily="34" charset="-120"/>
              </a:rPr>
              <a:t>source terms across 22 Cerner areas</a:t>
            </a:r>
            <a:endParaRPr lang="en-US" sz="1150" dirty="0"/>
          </a:p>
        </p:txBody>
      </p:sp>
      <p:sp>
        <p:nvSpPr>
          <p:cNvPr id="21" name="Text 14"/>
          <p:cNvSpPr/>
          <p:nvPr/>
        </p:nvSpPr>
        <p:spPr>
          <a:xfrm>
            <a:off x="7452360" y="3520440"/>
            <a:ext cx="1828800" cy="640080"/>
          </a:xfrm>
          <a:prstGeom prst="rect">
            <a:avLst/>
          </a:prstGeom>
          <a:noFill/>
          <a:ln/>
        </p:spPr>
        <p:txBody>
          <a:bodyPr wrap="square" lIns="0" tIns="0" rIns="0" bIns="0" rtlCol="0" anchor="ctr"/>
          <a:lstStyle/>
          <a:p>
            <a:pPr marL="0" indent="0">
              <a:buNone/>
            </a:pPr>
            <a:r>
              <a:rPr lang="en-US" sz="2600" b="1" dirty="0">
                <a:solidFill>
                  <a:srgbClr val="EBD9AE"/>
                </a:solidFill>
                <a:latin typeface="Cambria" pitchFamily="34" charset="0"/>
                <a:ea typeface="Cambria" pitchFamily="34" charset="-122"/>
                <a:cs typeface="Cambria" pitchFamily="34" charset="-120"/>
              </a:rPr>
              <a:t>1.5B</a:t>
            </a:r>
            <a:endParaRPr lang="en-US" sz="2600" dirty="0"/>
          </a:p>
        </p:txBody>
      </p:sp>
      <p:sp>
        <p:nvSpPr>
          <p:cNvPr id="22" name="Text 15"/>
          <p:cNvSpPr/>
          <p:nvPr/>
        </p:nvSpPr>
        <p:spPr>
          <a:xfrm>
            <a:off x="9281160" y="3520440"/>
            <a:ext cx="2103120" cy="640080"/>
          </a:xfrm>
          <a:prstGeom prst="rect">
            <a:avLst/>
          </a:prstGeom>
          <a:noFill/>
          <a:ln/>
        </p:spPr>
        <p:txBody>
          <a:bodyPr wrap="square" lIns="0" tIns="0" rIns="0" bIns="0" rtlCol="0" anchor="ctr"/>
          <a:lstStyle/>
          <a:p>
            <a:pPr marL="0" indent="0">
              <a:buNone/>
            </a:pPr>
            <a:r>
              <a:rPr lang="en-US" sz="1150" dirty="0">
                <a:solidFill>
                  <a:srgbClr val="F1E7D6"/>
                </a:solidFill>
                <a:latin typeface="Calibri" pitchFamily="34" charset="0"/>
                <a:ea typeface="Calibri" pitchFamily="34" charset="-122"/>
                <a:cs typeface="Calibri" pitchFamily="34" charset="-120"/>
              </a:rPr>
              <a:t>patient records those terms describe</a:t>
            </a:r>
            <a:endParaRPr lang="en-US" sz="1150" dirty="0"/>
          </a:p>
        </p:txBody>
      </p:sp>
      <p:sp>
        <p:nvSpPr>
          <p:cNvPr id="23" name="Text 16"/>
          <p:cNvSpPr/>
          <p:nvPr/>
        </p:nvSpPr>
        <p:spPr>
          <a:xfrm>
            <a:off x="7452360" y="4343400"/>
            <a:ext cx="1828800" cy="640080"/>
          </a:xfrm>
          <a:prstGeom prst="rect">
            <a:avLst/>
          </a:prstGeom>
          <a:noFill/>
          <a:ln/>
        </p:spPr>
        <p:txBody>
          <a:bodyPr wrap="square" lIns="0" tIns="0" rIns="0" bIns="0" rtlCol="0" anchor="ctr"/>
          <a:lstStyle/>
          <a:p>
            <a:pPr marL="0" indent="0">
              <a:buNone/>
            </a:pPr>
            <a:r>
              <a:rPr lang="en-US" sz="2600" b="1" dirty="0">
                <a:solidFill>
                  <a:srgbClr val="EBD9AE"/>
                </a:solidFill>
                <a:latin typeface="Cambria" pitchFamily="34" charset="0"/>
                <a:ea typeface="Cambria" pitchFamily="34" charset="-122"/>
                <a:cs typeface="Cambria" pitchFamily="34" charset="-120"/>
              </a:rPr>
              <a:t>60,055</a:t>
            </a:r>
            <a:endParaRPr lang="en-US" sz="2600" dirty="0"/>
          </a:p>
        </p:txBody>
      </p:sp>
      <p:sp>
        <p:nvSpPr>
          <p:cNvPr id="24" name="Text 17"/>
          <p:cNvSpPr/>
          <p:nvPr/>
        </p:nvSpPr>
        <p:spPr>
          <a:xfrm>
            <a:off x="9281160" y="4343400"/>
            <a:ext cx="2103120" cy="640080"/>
          </a:xfrm>
          <a:prstGeom prst="rect">
            <a:avLst/>
          </a:prstGeom>
          <a:noFill/>
          <a:ln/>
        </p:spPr>
        <p:txBody>
          <a:bodyPr wrap="square" lIns="0" tIns="0" rIns="0" bIns="0" rtlCol="0" anchor="ctr"/>
          <a:lstStyle/>
          <a:p>
            <a:pPr marL="0" indent="0">
              <a:buNone/>
            </a:pPr>
            <a:r>
              <a:rPr lang="en-US" sz="1150" dirty="0">
                <a:solidFill>
                  <a:srgbClr val="F1E7D6"/>
                </a:solidFill>
                <a:latin typeface="Calibri" pitchFamily="34" charset="0"/>
                <a:ea typeface="Calibri" pitchFamily="34" charset="-122"/>
                <a:cs typeface="Calibri" pitchFamily="34" charset="-120"/>
              </a:rPr>
              <a:t>records behind the single busiest term</a:t>
            </a:r>
            <a:endParaRPr lang="en-US" sz="1150" dirty="0"/>
          </a:p>
        </p:txBody>
      </p:sp>
      <p:sp>
        <p:nvSpPr>
          <p:cNvPr id="25" name="Text 18"/>
          <p:cNvSpPr/>
          <p:nvPr/>
        </p:nvSpPr>
        <p:spPr>
          <a:xfrm>
            <a:off x="7452360" y="5074920"/>
            <a:ext cx="3840480" cy="457200"/>
          </a:xfrm>
          <a:prstGeom prst="rect">
            <a:avLst/>
          </a:prstGeom>
          <a:noFill/>
          <a:ln/>
        </p:spPr>
        <p:txBody>
          <a:bodyPr wrap="square" lIns="0" tIns="0" rIns="0" bIns="0" rtlCol="0" anchor="ctr"/>
          <a:lstStyle/>
          <a:p>
            <a:pPr marL="0" indent="0">
              <a:lnSpc>
                <a:spcPct val="105000"/>
              </a:lnSpc>
              <a:buNone/>
            </a:pPr>
            <a:r>
              <a:rPr lang="en-US" sz="1150" i="1" dirty="0">
                <a:solidFill>
                  <a:srgbClr val="EBD9AE"/>
                </a:solidFill>
                <a:latin typeface="Calibri" pitchFamily="34" charset="0"/>
                <a:ea typeface="Calibri" pitchFamily="34" charset="-122"/>
                <a:cs typeface="Calibri" pitchFamily="34" charset="-120"/>
              </a:rPr>
              <a:t>Map the top of the curve and you standardize the bulk of the data.</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OHDSI Athena: the standardized vocabularies</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One harmonized, versioned download that defines every standard concept</a:t>
            </a:r>
            <a:endParaRPr lang="en-US" sz="1450" dirty="0"/>
          </a:p>
        </p:txBody>
      </p:sp>
      <p:sp>
        <p:nvSpPr>
          <p:cNvPr id="5" name="Shape 2"/>
          <p:cNvSpPr/>
          <p:nvPr/>
        </p:nvSpPr>
        <p:spPr>
          <a:xfrm>
            <a:off x="640080" y="1691640"/>
            <a:ext cx="658368" cy="658368"/>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17839" y="1869399"/>
            <a:ext cx="302849" cy="302849"/>
          </a:xfrm>
          <a:prstGeom prst="rect">
            <a:avLst/>
          </a:prstGeom>
        </p:spPr>
      </p:pic>
      <p:sp>
        <p:nvSpPr>
          <p:cNvPr id="7" name="Text 3"/>
          <p:cNvSpPr/>
          <p:nvPr/>
        </p:nvSpPr>
        <p:spPr>
          <a:xfrm>
            <a:off x="1463040" y="1737360"/>
            <a:ext cx="4937760" cy="548640"/>
          </a:xfrm>
          <a:prstGeom prst="rect">
            <a:avLst/>
          </a:prstGeom>
          <a:noFill/>
          <a:ln/>
        </p:spPr>
        <p:txBody>
          <a:bodyPr wrap="square" lIns="0" tIns="0" rIns="0" bIns="0" rtlCol="0" anchor="ctr"/>
          <a:lstStyle/>
          <a:p>
            <a:pPr marL="0" indent="0">
              <a:buNone/>
            </a:pPr>
            <a:r>
              <a:rPr lang="en-US" sz="1700" b="1" dirty="0">
                <a:solidFill>
                  <a:srgbClr val="23305F"/>
                </a:solidFill>
                <a:latin typeface="Cambria" pitchFamily="34" charset="0"/>
                <a:ea typeface="Cambria" pitchFamily="34" charset="-122"/>
                <a:cs typeface="Cambria" pitchFamily="34" charset="-120"/>
              </a:rPr>
              <a:t>The reference side</a:t>
            </a:r>
            <a:endParaRPr lang="en-US" sz="1700" dirty="0"/>
          </a:p>
        </p:txBody>
      </p:sp>
      <p:sp>
        <p:nvSpPr>
          <p:cNvPr id="8" name="Text 4"/>
          <p:cNvSpPr/>
          <p:nvPr/>
        </p:nvSpPr>
        <p:spPr>
          <a:xfrm>
            <a:off x="640080" y="2514600"/>
            <a:ext cx="5486400" cy="868680"/>
          </a:xfrm>
          <a:prstGeom prst="rect">
            <a:avLst/>
          </a:prstGeom>
          <a:noFill/>
          <a:ln/>
        </p:spPr>
        <p:txBody>
          <a:bodyPr wrap="square" lIns="0" tIns="0" rIns="0" bIns="0" rtlCol="0" anchor="ctr"/>
          <a:lstStyle/>
          <a:p>
            <a:pPr marL="0" indent="0">
              <a:lnSpc>
                <a:spcPct val="105000"/>
              </a:lnSpc>
              <a:buNone/>
            </a:pPr>
            <a:r>
              <a:rPr lang="en-US" sz="1350" b="1" dirty="0">
                <a:solidFill>
                  <a:srgbClr val="2B2B2B"/>
                </a:solidFill>
                <a:latin typeface="Calibri" pitchFamily="34" charset="0"/>
                <a:ea typeface="Calibri" pitchFamily="34" charset="-122"/>
                <a:cs typeface="Calibri" pitchFamily="34" charset="-120"/>
              </a:rPr>
              <a:t>Athena</a:t>
            </a:r>
            <a:r>
              <a:rPr lang="en-US" sz="1350" dirty="0">
                <a:solidFill>
                  <a:srgbClr val="6E6A63"/>
                </a:solidFill>
                <a:latin typeface="Calibri" pitchFamily="34" charset="0"/>
                <a:ea typeface="Calibri" pitchFamily="34" charset="-122"/>
                <a:cs typeface="Calibri" pitchFamily="34" charset="-120"/>
              </a:rPr>
              <a:t> (athena.ohdsi.org) is the OHDSI download portal for the OMOP Standardized Vocabularies, curated by the OHDSI Vocabulary team.</a:t>
            </a:r>
            <a:endParaRPr lang="en-US" sz="1350" dirty="0"/>
          </a:p>
        </p:txBody>
      </p:sp>
      <p:sp>
        <p:nvSpPr>
          <p:cNvPr id="9" name="Text 5"/>
          <p:cNvSpPr/>
          <p:nvPr/>
        </p:nvSpPr>
        <p:spPr>
          <a:xfrm>
            <a:off x="640080" y="3520440"/>
            <a:ext cx="5486400" cy="1828800"/>
          </a:xfrm>
          <a:prstGeom prst="rect">
            <a:avLst/>
          </a:prstGeom>
          <a:noFill/>
          <a:ln/>
        </p:spPr>
        <p:txBody>
          <a:bodyPr wrap="square" lIns="0" tIns="0" rIns="0" bIns="0" rtlCol="0" anchor="ctr"/>
          <a:lstStyle/>
          <a:p>
            <a:pPr marL="0" indent="0">
              <a:lnSpc>
                <a:spcPct val="105000"/>
              </a:lnSpc>
              <a:buNone/>
            </a:pPr>
            <a:r>
              <a:rPr lang="en-US" sz="1350" dirty="0">
                <a:solidFill>
                  <a:srgbClr val="6E6A63"/>
                </a:solidFill>
                <a:latin typeface="Calibri" pitchFamily="34" charset="0"/>
                <a:ea typeface="Calibri" pitchFamily="34" charset="-122"/>
                <a:cs typeface="Calibri" pitchFamily="34" charset="-120"/>
              </a:rPr>
              <a:t>It bundles 100+ source vocabularies into one model — </a:t>
            </a:r>
            <a:r>
              <a:rPr lang="en-US" sz="1350" b="1" dirty="0">
                <a:solidFill>
                  <a:srgbClr val="23305F"/>
                </a:solidFill>
                <a:latin typeface="Calibri" pitchFamily="34" charset="0"/>
                <a:ea typeface="Calibri" pitchFamily="34" charset="-122"/>
                <a:cs typeface="Calibri" pitchFamily="34" charset="-120"/>
              </a:rPr>
              <a:t>standard-concept flags and every "Maps to" are pre-computed</a:t>
            </a:r>
            <a:r>
              <a:rPr lang="en-US" sz="1350" dirty="0">
                <a:solidFill>
                  <a:srgbClr val="6E6A63"/>
                </a:solidFill>
                <a:latin typeface="Calibri" pitchFamily="34" charset="0"/>
                <a:ea typeface="Calibri" pitchFamily="34" charset="-122"/>
                <a:cs typeface="Calibri" pitchFamily="34" charset="-120"/>
              </a:rPr>
              <a:t>, so you never harmonize them yourself. You pick vocabularies and download a versioned bundle (a "vintage"); a few (e.g. CPT-4) need a UMLS licence.</a:t>
            </a:r>
            <a:endParaRPr lang="en-US" sz="1350" dirty="0"/>
          </a:p>
        </p:txBody>
      </p:sp>
      <p:sp>
        <p:nvSpPr>
          <p:cNvPr id="10" name="Shape 6"/>
          <p:cNvSpPr/>
          <p:nvPr/>
        </p:nvSpPr>
        <p:spPr>
          <a:xfrm>
            <a:off x="6492240" y="1691640"/>
            <a:ext cx="5120640" cy="3246120"/>
          </a:xfrm>
          <a:prstGeom prst="roundRect">
            <a:avLst>
              <a:gd name="adj" fmla="val 2535"/>
            </a:avLst>
          </a:prstGeom>
          <a:solidFill>
            <a:srgbClr val="F1F3FA"/>
          </a:solidFill>
          <a:ln w="12700">
            <a:solidFill>
              <a:srgbClr val="23305F"/>
            </a:solidFill>
            <a:prstDash val="solid"/>
          </a:ln>
        </p:spPr>
        <p:txBody>
          <a:bodyPr/>
          <a:lstStyle/>
          <a:p>
            <a:endParaRPr lang="en-US"/>
          </a:p>
        </p:txBody>
      </p:sp>
      <p:sp>
        <p:nvSpPr>
          <p:cNvPr id="11" name="Text 7"/>
          <p:cNvSpPr/>
          <p:nvPr/>
        </p:nvSpPr>
        <p:spPr>
          <a:xfrm>
            <a:off x="6766560" y="1874520"/>
            <a:ext cx="4572000" cy="365760"/>
          </a:xfrm>
          <a:prstGeom prst="rect">
            <a:avLst/>
          </a:prstGeom>
          <a:noFill/>
          <a:ln/>
        </p:spPr>
        <p:txBody>
          <a:bodyPr wrap="square" lIns="0" tIns="0" rIns="0" bIns="0" rtlCol="0" anchor="ctr"/>
          <a:lstStyle/>
          <a:p>
            <a:pPr marL="0" indent="0">
              <a:buNone/>
            </a:pPr>
            <a:r>
              <a:rPr lang="en-US" sz="1350" b="1" dirty="0">
                <a:solidFill>
                  <a:srgbClr val="23305F"/>
                </a:solidFill>
                <a:latin typeface="Calibri" pitchFamily="34" charset="0"/>
                <a:ea typeface="Calibri" pitchFamily="34" charset="-122"/>
                <a:cs typeface="Calibri" pitchFamily="34" charset="-120"/>
              </a:rPr>
              <a:t>What's in the bundle</a:t>
            </a:r>
            <a:endParaRPr lang="en-US" sz="1350" dirty="0"/>
          </a:p>
        </p:txBody>
      </p:sp>
      <p:sp>
        <p:nvSpPr>
          <p:cNvPr id="12" name="Shape 8"/>
          <p:cNvSpPr/>
          <p:nvPr/>
        </p:nvSpPr>
        <p:spPr>
          <a:xfrm>
            <a:off x="6766560" y="2331720"/>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13" name="Text 9"/>
          <p:cNvSpPr/>
          <p:nvPr/>
        </p:nvSpPr>
        <p:spPr>
          <a:xfrm>
            <a:off x="6858000" y="2331720"/>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CONCEPT</a:t>
            </a:r>
            <a:endParaRPr lang="en-US" sz="1050" dirty="0"/>
          </a:p>
        </p:txBody>
      </p:sp>
      <p:sp>
        <p:nvSpPr>
          <p:cNvPr id="14" name="Shape 10"/>
          <p:cNvSpPr/>
          <p:nvPr/>
        </p:nvSpPr>
        <p:spPr>
          <a:xfrm>
            <a:off x="9098280" y="2331720"/>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15" name="Text 11"/>
          <p:cNvSpPr/>
          <p:nvPr/>
        </p:nvSpPr>
        <p:spPr>
          <a:xfrm>
            <a:off x="9189720" y="2331720"/>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CONCEPT_RELATIONSHIP</a:t>
            </a:r>
            <a:endParaRPr lang="en-US" sz="1050" dirty="0"/>
          </a:p>
        </p:txBody>
      </p:sp>
      <p:sp>
        <p:nvSpPr>
          <p:cNvPr id="16" name="Shape 12"/>
          <p:cNvSpPr/>
          <p:nvPr/>
        </p:nvSpPr>
        <p:spPr>
          <a:xfrm>
            <a:off x="6766560" y="2953512"/>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17" name="Text 13"/>
          <p:cNvSpPr/>
          <p:nvPr/>
        </p:nvSpPr>
        <p:spPr>
          <a:xfrm>
            <a:off x="6858000" y="2953512"/>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CONCEPT_ANCESTOR</a:t>
            </a:r>
            <a:endParaRPr lang="en-US" sz="1050" dirty="0"/>
          </a:p>
        </p:txBody>
      </p:sp>
      <p:sp>
        <p:nvSpPr>
          <p:cNvPr id="18" name="Shape 14"/>
          <p:cNvSpPr/>
          <p:nvPr/>
        </p:nvSpPr>
        <p:spPr>
          <a:xfrm>
            <a:off x="9098280" y="2953512"/>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19" name="Text 15"/>
          <p:cNvSpPr/>
          <p:nvPr/>
        </p:nvSpPr>
        <p:spPr>
          <a:xfrm>
            <a:off x="9189720" y="2953512"/>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CONCEPT_SYNONYM</a:t>
            </a:r>
            <a:endParaRPr lang="en-US" sz="1050" dirty="0"/>
          </a:p>
        </p:txBody>
      </p:sp>
      <p:sp>
        <p:nvSpPr>
          <p:cNvPr id="20" name="Shape 16"/>
          <p:cNvSpPr/>
          <p:nvPr/>
        </p:nvSpPr>
        <p:spPr>
          <a:xfrm>
            <a:off x="6766560" y="3575304"/>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21" name="Text 17"/>
          <p:cNvSpPr/>
          <p:nvPr/>
        </p:nvSpPr>
        <p:spPr>
          <a:xfrm>
            <a:off x="6858000" y="3575304"/>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VOCABULARY</a:t>
            </a:r>
            <a:endParaRPr lang="en-US" sz="1050" dirty="0"/>
          </a:p>
        </p:txBody>
      </p:sp>
      <p:sp>
        <p:nvSpPr>
          <p:cNvPr id="22" name="Shape 18"/>
          <p:cNvSpPr/>
          <p:nvPr/>
        </p:nvSpPr>
        <p:spPr>
          <a:xfrm>
            <a:off x="9098280" y="3575304"/>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23" name="Text 19"/>
          <p:cNvSpPr/>
          <p:nvPr/>
        </p:nvSpPr>
        <p:spPr>
          <a:xfrm>
            <a:off x="9189720" y="3575304"/>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DOMAIN</a:t>
            </a:r>
            <a:endParaRPr lang="en-US" sz="1050" dirty="0"/>
          </a:p>
        </p:txBody>
      </p:sp>
      <p:sp>
        <p:nvSpPr>
          <p:cNvPr id="24" name="Shape 20"/>
          <p:cNvSpPr/>
          <p:nvPr/>
        </p:nvSpPr>
        <p:spPr>
          <a:xfrm>
            <a:off x="6766560" y="4197096"/>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25" name="Text 21"/>
          <p:cNvSpPr/>
          <p:nvPr/>
        </p:nvSpPr>
        <p:spPr>
          <a:xfrm>
            <a:off x="6858000" y="4197096"/>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CONCEPT_CLASS</a:t>
            </a:r>
            <a:endParaRPr lang="en-US" sz="1050" dirty="0"/>
          </a:p>
        </p:txBody>
      </p:sp>
      <p:sp>
        <p:nvSpPr>
          <p:cNvPr id="26" name="Shape 22"/>
          <p:cNvSpPr/>
          <p:nvPr/>
        </p:nvSpPr>
        <p:spPr>
          <a:xfrm>
            <a:off x="9098280" y="4197096"/>
            <a:ext cx="2194560" cy="512064"/>
          </a:xfrm>
          <a:prstGeom prst="roundRect">
            <a:avLst>
              <a:gd name="adj" fmla="val 8929"/>
            </a:avLst>
          </a:prstGeom>
          <a:solidFill>
            <a:srgbClr val="FFFFFF"/>
          </a:solidFill>
          <a:ln w="12700">
            <a:solidFill>
              <a:srgbClr val="C5CBE0"/>
            </a:solidFill>
            <a:prstDash val="solid"/>
          </a:ln>
        </p:spPr>
        <p:txBody>
          <a:bodyPr/>
          <a:lstStyle/>
          <a:p>
            <a:endParaRPr lang="en-US"/>
          </a:p>
        </p:txBody>
      </p:sp>
      <p:sp>
        <p:nvSpPr>
          <p:cNvPr id="27" name="Text 23"/>
          <p:cNvSpPr/>
          <p:nvPr/>
        </p:nvSpPr>
        <p:spPr>
          <a:xfrm>
            <a:off x="9189720" y="4197096"/>
            <a:ext cx="2011680" cy="512064"/>
          </a:xfrm>
          <a:prstGeom prst="rect">
            <a:avLst/>
          </a:prstGeom>
          <a:noFill/>
          <a:ln/>
        </p:spPr>
        <p:txBody>
          <a:bodyPr wrap="square" lIns="0" tIns="0" rIns="0" bIns="0" rtlCol="0" anchor="ctr"/>
          <a:lstStyle/>
          <a:p>
            <a:pPr marL="0" indent="0">
              <a:buNone/>
            </a:pPr>
            <a:r>
              <a:rPr lang="en-US" sz="1050" b="1" dirty="0">
                <a:solidFill>
                  <a:srgbClr val="23305F"/>
                </a:solidFill>
                <a:latin typeface="Courier New" pitchFamily="34" charset="0"/>
                <a:ea typeface="Courier New" pitchFamily="34" charset="-122"/>
                <a:cs typeface="Courier New" pitchFamily="34" charset="-120"/>
              </a:rPr>
              <a:t>DRUG_STRENGTH</a:t>
            </a:r>
            <a:endParaRPr lang="en-US" sz="1050" dirty="0"/>
          </a:p>
        </p:txBody>
      </p:sp>
      <p:sp>
        <p:nvSpPr>
          <p:cNvPr id="28" name="Shape 24"/>
          <p:cNvSpPr/>
          <p:nvPr/>
        </p:nvSpPr>
        <p:spPr>
          <a:xfrm>
            <a:off x="594360" y="5257800"/>
            <a:ext cx="11018520" cy="914400"/>
          </a:xfrm>
          <a:prstGeom prst="roundRect">
            <a:avLst>
              <a:gd name="adj" fmla="val 8000"/>
            </a:avLst>
          </a:prstGeom>
          <a:solidFill>
            <a:srgbClr val="F6F2EB"/>
          </a:solidFill>
          <a:ln w="12700">
            <a:solidFill>
              <a:srgbClr val="DAD3C6"/>
            </a:solidFill>
            <a:prstDash val="solid"/>
          </a:ln>
        </p:spPr>
        <p:txBody>
          <a:bodyPr/>
          <a:lstStyle/>
          <a:p>
            <a:endParaRPr lang="en-US"/>
          </a:p>
        </p:txBody>
      </p:sp>
      <p:sp>
        <p:nvSpPr>
          <p:cNvPr id="29" name="Text 25"/>
          <p:cNvSpPr/>
          <p:nvPr/>
        </p:nvSpPr>
        <p:spPr>
          <a:xfrm>
            <a:off x="822960" y="5257800"/>
            <a:ext cx="10607040" cy="914400"/>
          </a:xfrm>
          <a:prstGeom prst="rect">
            <a:avLst/>
          </a:prstGeom>
          <a:noFill/>
          <a:ln/>
        </p:spPr>
        <p:txBody>
          <a:bodyPr wrap="square" lIns="0" tIns="0" rIns="0" bIns="0" rtlCol="0" anchor="ctr"/>
          <a:lstStyle/>
          <a:p>
            <a:pPr marL="0" indent="0" algn="ctr">
              <a:buNone/>
            </a:pPr>
            <a:r>
              <a:rPr lang="en-US" sz="1250" b="1" dirty="0">
                <a:solidFill>
                  <a:srgbClr val="2B2B2B"/>
                </a:solidFill>
                <a:latin typeface="Calibri" pitchFamily="34" charset="0"/>
                <a:ea typeface="Calibri" pitchFamily="34" charset="-122"/>
                <a:cs typeface="Calibri" pitchFamily="34" charset="-120"/>
              </a:rPr>
              <a:t>Bundled source vocabularies   </a:t>
            </a:r>
            <a:r>
              <a:rPr lang="en-US" sz="1250" dirty="0">
                <a:solidFill>
                  <a:srgbClr val="6E6A63"/>
                </a:solidFill>
                <a:latin typeface="Calibri" pitchFamily="34" charset="0"/>
                <a:ea typeface="Calibri" pitchFamily="34" charset="-122"/>
                <a:cs typeface="Calibri" pitchFamily="34" charset="-120"/>
              </a:rPr>
              <a:t>SNOMED · RxNorm · LOINC · ICD-10 · ICD-10-CM · ATC · UCUM · HCPCS · CVX · Multum · NDC · read …</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How COMET consumes Athena</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Load once, version forever — the reference behind search, domains &amp; drift detection</a:t>
            </a:r>
            <a:endParaRPr lang="en-US" sz="1450" dirty="0"/>
          </a:p>
        </p:txBody>
      </p:sp>
      <p:sp>
        <p:nvSpPr>
          <p:cNvPr id="5" name="Shape 2"/>
          <p:cNvSpPr/>
          <p:nvPr/>
        </p:nvSpPr>
        <p:spPr>
          <a:xfrm>
            <a:off x="594360" y="1645920"/>
            <a:ext cx="2377440" cy="1234440"/>
          </a:xfrm>
          <a:prstGeom prst="roundRect">
            <a:avLst>
              <a:gd name="adj" fmla="val 5926"/>
            </a:avLst>
          </a:prstGeom>
          <a:solidFill>
            <a:srgbClr val="F6F2EB"/>
          </a:solidFill>
          <a:ln w="12700">
            <a:solidFill>
              <a:srgbClr val="DAD3C6"/>
            </a:solidFill>
            <a:prstDash val="solid"/>
          </a:ln>
        </p:spPr>
        <p:txBody>
          <a:bodyPr/>
          <a:lstStyle/>
          <a:p>
            <a:endParaRPr lang="en-US"/>
          </a:p>
        </p:txBody>
      </p:sp>
      <p:sp>
        <p:nvSpPr>
          <p:cNvPr id="6" name="Shape 3"/>
          <p:cNvSpPr/>
          <p:nvPr/>
        </p:nvSpPr>
        <p:spPr>
          <a:xfrm>
            <a:off x="1508760" y="1773936"/>
            <a:ext cx="548640" cy="54864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656893" y="1922069"/>
            <a:ext cx="252374" cy="252374"/>
          </a:xfrm>
          <a:prstGeom prst="rect">
            <a:avLst/>
          </a:prstGeom>
        </p:spPr>
      </p:pic>
      <p:sp>
        <p:nvSpPr>
          <p:cNvPr id="8" name="Text 4"/>
          <p:cNvSpPr/>
          <p:nvPr/>
        </p:nvSpPr>
        <p:spPr>
          <a:xfrm>
            <a:off x="594360" y="2304288"/>
            <a:ext cx="2377440" cy="274320"/>
          </a:xfrm>
          <a:prstGeom prst="rect">
            <a:avLst/>
          </a:prstGeom>
          <a:noFill/>
          <a:ln/>
        </p:spPr>
        <p:txBody>
          <a:bodyPr wrap="square" lIns="0" tIns="0" rIns="0" bIns="0" rtlCol="0" anchor="ctr"/>
          <a:lstStyle/>
          <a:p>
            <a:pPr marL="0" indent="0" algn="ctr">
              <a:buNone/>
            </a:pPr>
            <a:r>
              <a:rPr lang="en-US" sz="1250" b="1" dirty="0">
                <a:solidFill>
                  <a:srgbClr val="23305F"/>
                </a:solidFill>
                <a:latin typeface="Calibri" pitchFamily="34" charset="0"/>
                <a:ea typeface="Calibri" pitchFamily="34" charset="-122"/>
                <a:cs typeface="Calibri" pitchFamily="34" charset="-120"/>
              </a:rPr>
              <a:t>Download</a:t>
            </a:r>
            <a:endParaRPr lang="en-US" sz="1250" dirty="0"/>
          </a:p>
        </p:txBody>
      </p:sp>
      <p:sp>
        <p:nvSpPr>
          <p:cNvPr id="9" name="Text 5"/>
          <p:cNvSpPr/>
          <p:nvPr/>
        </p:nvSpPr>
        <p:spPr>
          <a:xfrm>
            <a:off x="594360" y="2560320"/>
            <a:ext cx="2377440" cy="320040"/>
          </a:xfrm>
          <a:prstGeom prst="rect">
            <a:avLst/>
          </a:prstGeom>
          <a:noFill/>
          <a:ln/>
        </p:spPr>
        <p:txBody>
          <a:bodyPr wrap="square" lIns="0" tIns="0" rIns="0" bIns="0" rtlCol="0" anchor="ctr"/>
          <a:lstStyle/>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pick vocabularies,</a:t>
            </a:r>
            <a:endParaRPr lang="en-US" sz="950" dirty="0"/>
          </a:p>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get a vintage</a:t>
            </a:r>
            <a:endParaRPr lang="en-US" sz="950" dirty="0"/>
          </a:p>
        </p:txBody>
      </p:sp>
      <p:sp>
        <p:nvSpPr>
          <p:cNvPr id="10" name="Shape 6"/>
          <p:cNvSpPr/>
          <p:nvPr/>
        </p:nvSpPr>
        <p:spPr>
          <a:xfrm>
            <a:off x="3474720" y="1645920"/>
            <a:ext cx="2377440" cy="1234440"/>
          </a:xfrm>
          <a:prstGeom prst="roundRect">
            <a:avLst>
              <a:gd name="adj" fmla="val 5926"/>
            </a:avLst>
          </a:prstGeom>
          <a:solidFill>
            <a:srgbClr val="F6F2EB"/>
          </a:solidFill>
          <a:ln w="12700">
            <a:solidFill>
              <a:srgbClr val="DAD3C6"/>
            </a:solidFill>
            <a:prstDash val="solid"/>
          </a:ln>
        </p:spPr>
        <p:txBody>
          <a:bodyPr/>
          <a:lstStyle/>
          <a:p>
            <a:endParaRPr lang="en-US"/>
          </a:p>
        </p:txBody>
      </p:sp>
      <p:sp>
        <p:nvSpPr>
          <p:cNvPr id="11" name="Shape 7"/>
          <p:cNvSpPr/>
          <p:nvPr/>
        </p:nvSpPr>
        <p:spPr>
          <a:xfrm>
            <a:off x="4389120" y="1773936"/>
            <a:ext cx="548640" cy="54864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537253" y="1922069"/>
            <a:ext cx="252374" cy="252374"/>
          </a:xfrm>
          <a:prstGeom prst="rect">
            <a:avLst/>
          </a:prstGeom>
        </p:spPr>
      </p:pic>
      <p:sp>
        <p:nvSpPr>
          <p:cNvPr id="13" name="Text 8"/>
          <p:cNvSpPr/>
          <p:nvPr/>
        </p:nvSpPr>
        <p:spPr>
          <a:xfrm>
            <a:off x="3474720" y="2304288"/>
            <a:ext cx="2377440" cy="274320"/>
          </a:xfrm>
          <a:prstGeom prst="rect">
            <a:avLst/>
          </a:prstGeom>
          <a:noFill/>
          <a:ln/>
        </p:spPr>
        <p:txBody>
          <a:bodyPr wrap="square" lIns="0" tIns="0" rIns="0" bIns="0" rtlCol="0" anchor="ctr"/>
          <a:lstStyle/>
          <a:p>
            <a:pPr marL="0" indent="0" algn="ctr">
              <a:buNone/>
            </a:pPr>
            <a:r>
              <a:rPr lang="en-US" sz="1250" b="1" dirty="0">
                <a:solidFill>
                  <a:srgbClr val="23305F"/>
                </a:solidFill>
                <a:latin typeface="Calibri" pitchFamily="34" charset="0"/>
                <a:ea typeface="Calibri" pitchFamily="34" charset="-122"/>
                <a:cs typeface="Calibri" pitchFamily="34" charset="-120"/>
              </a:rPr>
              <a:t>Stage</a:t>
            </a:r>
            <a:endParaRPr lang="en-US" sz="1250" dirty="0"/>
          </a:p>
        </p:txBody>
      </p:sp>
      <p:sp>
        <p:nvSpPr>
          <p:cNvPr id="14" name="Text 9"/>
          <p:cNvSpPr/>
          <p:nvPr/>
        </p:nvSpPr>
        <p:spPr>
          <a:xfrm>
            <a:off x="3474720" y="2560320"/>
            <a:ext cx="2377440" cy="320040"/>
          </a:xfrm>
          <a:prstGeom prst="rect">
            <a:avLst/>
          </a:prstGeom>
          <a:noFill/>
          <a:ln/>
        </p:spPr>
        <p:txBody>
          <a:bodyPr wrap="square" lIns="0" tIns="0" rIns="0" bIns="0" rtlCol="0" anchor="ctr"/>
          <a:lstStyle/>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bulk-load into</a:t>
            </a:r>
            <a:endParaRPr lang="en-US" sz="950" dirty="0"/>
          </a:p>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*_stg tables</a:t>
            </a:r>
            <a:endParaRPr lang="en-US" sz="950" dirty="0"/>
          </a:p>
        </p:txBody>
      </p:sp>
      <p:sp>
        <p:nvSpPr>
          <p:cNvPr id="15" name="Shape 10"/>
          <p:cNvSpPr/>
          <p:nvPr/>
        </p:nvSpPr>
        <p:spPr>
          <a:xfrm>
            <a:off x="6355080" y="1645920"/>
            <a:ext cx="2377440" cy="1234440"/>
          </a:xfrm>
          <a:prstGeom prst="roundRect">
            <a:avLst>
              <a:gd name="adj" fmla="val 5926"/>
            </a:avLst>
          </a:prstGeom>
          <a:solidFill>
            <a:srgbClr val="F6F2EB"/>
          </a:solidFill>
          <a:ln w="12700">
            <a:solidFill>
              <a:srgbClr val="DAD3C6"/>
            </a:solidFill>
            <a:prstDash val="solid"/>
          </a:ln>
        </p:spPr>
        <p:txBody>
          <a:bodyPr/>
          <a:lstStyle/>
          <a:p>
            <a:endParaRPr lang="en-US"/>
          </a:p>
        </p:txBody>
      </p:sp>
      <p:sp>
        <p:nvSpPr>
          <p:cNvPr id="16" name="Shape 11"/>
          <p:cNvSpPr/>
          <p:nvPr/>
        </p:nvSpPr>
        <p:spPr>
          <a:xfrm>
            <a:off x="7269480" y="1773936"/>
            <a:ext cx="548640" cy="54864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7417613" y="1922069"/>
            <a:ext cx="252374" cy="252374"/>
          </a:xfrm>
          <a:prstGeom prst="rect">
            <a:avLst/>
          </a:prstGeom>
        </p:spPr>
      </p:pic>
      <p:sp>
        <p:nvSpPr>
          <p:cNvPr id="18" name="Text 12"/>
          <p:cNvSpPr/>
          <p:nvPr/>
        </p:nvSpPr>
        <p:spPr>
          <a:xfrm>
            <a:off x="6355080" y="2304288"/>
            <a:ext cx="2377440" cy="274320"/>
          </a:xfrm>
          <a:prstGeom prst="rect">
            <a:avLst/>
          </a:prstGeom>
          <a:noFill/>
          <a:ln/>
        </p:spPr>
        <p:txBody>
          <a:bodyPr wrap="square" lIns="0" tIns="0" rIns="0" bIns="0" rtlCol="0" anchor="ctr"/>
          <a:lstStyle/>
          <a:p>
            <a:pPr marL="0" indent="0" algn="ctr">
              <a:buNone/>
            </a:pPr>
            <a:r>
              <a:rPr lang="en-US" sz="1250" b="1" dirty="0">
                <a:solidFill>
                  <a:srgbClr val="23305F"/>
                </a:solidFill>
                <a:latin typeface="Calibri" pitchFamily="34" charset="0"/>
                <a:ea typeface="Calibri" pitchFamily="34" charset="-122"/>
                <a:cs typeface="Calibri" pitchFamily="34" charset="-120"/>
              </a:rPr>
              <a:t>Atomic swap</a:t>
            </a:r>
            <a:endParaRPr lang="en-US" sz="1250" dirty="0"/>
          </a:p>
        </p:txBody>
      </p:sp>
      <p:sp>
        <p:nvSpPr>
          <p:cNvPr id="19" name="Text 13"/>
          <p:cNvSpPr/>
          <p:nvPr/>
        </p:nvSpPr>
        <p:spPr>
          <a:xfrm>
            <a:off x="6355080" y="2560320"/>
            <a:ext cx="2377440" cy="320040"/>
          </a:xfrm>
          <a:prstGeom prst="rect">
            <a:avLst/>
          </a:prstGeom>
          <a:noFill/>
          <a:ln/>
        </p:spPr>
        <p:txBody>
          <a:bodyPr wrap="square" lIns="0" tIns="0" rIns="0" bIns="0" rtlCol="0" anchor="ctr"/>
          <a:lstStyle/>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RENAME live ⇄ staged</a:t>
            </a:r>
            <a:endParaRPr lang="en-US" sz="950" dirty="0"/>
          </a:p>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 zero downtime</a:t>
            </a:r>
            <a:endParaRPr lang="en-US" sz="950" dirty="0"/>
          </a:p>
        </p:txBody>
      </p:sp>
      <p:sp>
        <p:nvSpPr>
          <p:cNvPr id="20" name="Shape 14"/>
          <p:cNvSpPr/>
          <p:nvPr/>
        </p:nvSpPr>
        <p:spPr>
          <a:xfrm>
            <a:off x="9235440" y="1645920"/>
            <a:ext cx="2377440" cy="1234440"/>
          </a:xfrm>
          <a:prstGeom prst="roundRect">
            <a:avLst>
              <a:gd name="adj" fmla="val 5926"/>
            </a:avLst>
          </a:prstGeom>
          <a:solidFill>
            <a:srgbClr val="EFEAF6"/>
          </a:solidFill>
          <a:ln w="19050">
            <a:solidFill>
              <a:srgbClr val="23305F"/>
            </a:solidFill>
            <a:prstDash val="solid"/>
          </a:ln>
        </p:spPr>
        <p:txBody>
          <a:bodyPr/>
          <a:lstStyle/>
          <a:p>
            <a:endParaRPr lang="en-US"/>
          </a:p>
        </p:txBody>
      </p:sp>
      <p:sp>
        <p:nvSpPr>
          <p:cNvPr id="21" name="Shape 15"/>
          <p:cNvSpPr/>
          <p:nvPr/>
        </p:nvSpPr>
        <p:spPr>
          <a:xfrm>
            <a:off x="10149840" y="1773936"/>
            <a:ext cx="548640" cy="54864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10297973" y="1922069"/>
            <a:ext cx="252374" cy="252374"/>
          </a:xfrm>
          <a:prstGeom prst="rect">
            <a:avLst/>
          </a:prstGeom>
        </p:spPr>
      </p:pic>
      <p:sp>
        <p:nvSpPr>
          <p:cNvPr id="23" name="Text 16"/>
          <p:cNvSpPr/>
          <p:nvPr/>
        </p:nvSpPr>
        <p:spPr>
          <a:xfrm>
            <a:off x="9235440" y="2304288"/>
            <a:ext cx="2377440" cy="274320"/>
          </a:xfrm>
          <a:prstGeom prst="rect">
            <a:avLst/>
          </a:prstGeom>
          <a:noFill/>
          <a:ln/>
        </p:spPr>
        <p:txBody>
          <a:bodyPr wrap="square" lIns="0" tIns="0" rIns="0" bIns="0" rtlCol="0" anchor="ctr"/>
          <a:lstStyle/>
          <a:p>
            <a:pPr marL="0" indent="0" algn="ctr">
              <a:buNone/>
            </a:pPr>
            <a:r>
              <a:rPr lang="en-US" sz="1250" b="1" dirty="0">
                <a:solidFill>
                  <a:srgbClr val="23305F"/>
                </a:solidFill>
                <a:latin typeface="Calibri" pitchFamily="34" charset="0"/>
                <a:ea typeface="Calibri" pitchFamily="34" charset="-122"/>
                <a:cs typeface="Calibri" pitchFamily="34" charset="-120"/>
              </a:rPr>
              <a:t>Vintage stamped</a:t>
            </a:r>
            <a:endParaRPr lang="en-US" sz="1250" dirty="0"/>
          </a:p>
        </p:txBody>
      </p:sp>
      <p:sp>
        <p:nvSpPr>
          <p:cNvPr id="24" name="Text 17"/>
          <p:cNvSpPr/>
          <p:nvPr/>
        </p:nvSpPr>
        <p:spPr>
          <a:xfrm>
            <a:off x="9235440" y="2560320"/>
            <a:ext cx="2377440" cy="320040"/>
          </a:xfrm>
          <a:prstGeom prst="rect">
            <a:avLst/>
          </a:prstGeom>
          <a:noFill/>
          <a:ln/>
        </p:spPr>
        <p:txBody>
          <a:bodyPr wrap="square" lIns="0" tIns="0" rIns="0" bIns="0" rtlCol="0" anchor="ctr"/>
          <a:lstStyle/>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recorded &amp; shown</a:t>
            </a:r>
            <a:endParaRPr lang="en-US" sz="950" dirty="0"/>
          </a:p>
          <a:p>
            <a:pPr marL="0" indent="0" algn="ctr">
              <a:lnSpc>
                <a:spcPct val="90000"/>
              </a:lnSpc>
              <a:buNone/>
            </a:pPr>
            <a:r>
              <a:rPr lang="en-US" sz="950" dirty="0">
                <a:solidFill>
                  <a:srgbClr val="6E6A63"/>
                </a:solidFill>
                <a:latin typeface="Calibri" pitchFamily="34" charset="0"/>
                <a:ea typeface="Calibri" pitchFamily="34" charset="-122"/>
                <a:cs typeface="Calibri" pitchFamily="34" charset="-120"/>
              </a:rPr>
              <a:t>on the home page</a:t>
            </a:r>
            <a:endParaRPr lang="en-US" sz="950" dirty="0"/>
          </a:p>
        </p:txBody>
      </p:sp>
      <p:sp>
        <p:nvSpPr>
          <p:cNvPr id="25" name="Shape 18"/>
          <p:cNvSpPr/>
          <p:nvPr/>
        </p:nvSpPr>
        <p:spPr>
          <a:xfrm>
            <a:off x="2971800" y="2171700"/>
            <a:ext cx="457200" cy="182880"/>
          </a:xfrm>
          <a:prstGeom prst="rightArrow">
            <a:avLst/>
          </a:prstGeom>
          <a:solidFill>
            <a:srgbClr val="C7902B"/>
          </a:solidFill>
          <a:ln/>
        </p:spPr>
        <p:txBody>
          <a:bodyPr/>
          <a:lstStyle/>
          <a:p>
            <a:endParaRPr lang="en-US"/>
          </a:p>
        </p:txBody>
      </p:sp>
      <p:sp>
        <p:nvSpPr>
          <p:cNvPr id="26" name="Shape 19"/>
          <p:cNvSpPr/>
          <p:nvPr/>
        </p:nvSpPr>
        <p:spPr>
          <a:xfrm>
            <a:off x="5852160" y="2171700"/>
            <a:ext cx="457200" cy="182880"/>
          </a:xfrm>
          <a:prstGeom prst="rightArrow">
            <a:avLst/>
          </a:prstGeom>
          <a:solidFill>
            <a:srgbClr val="C7902B"/>
          </a:solidFill>
          <a:ln/>
        </p:spPr>
        <p:txBody>
          <a:bodyPr/>
          <a:lstStyle/>
          <a:p>
            <a:endParaRPr lang="en-US"/>
          </a:p>
        </p:txBody>
      </p:sp>
      <p:sp>
        <p:nvSpPr>
          <p:cNvPr id="27" name="Shape 20"/>
          <p:cNvSpPr/>
          <p:nvPr/>
        </p:nvSpPr>
        <p:spPr>
          <a:xfrm>
            <a:off x="8732520" y="2171700"/>
            <a:ext cx="457200" cy="182880"/>
          </a:xfrm>
          <a:prstGeom prst="rightArrow">
            <a:avLst/>
          </a:prstGeom>
          <a:solidFill>
            <a:srgbClr val="C7902B"/>
          </a:solidFill>
          <a:ln/>
        </p:spPr>
        <p:txBody>
          <a:bodyPr/>
          <a:lstStyle/>
          <a:p>
            <a:endParaRPr lang="en-US"/>
          </a:p>
        </p:txBody>
      </p:sp>
      <p:sp>
        <p:nvSpPr>
          <p:cNvPr id="28" name="Text 21"/>
          <p:cNvSpPr/>
          <p:nvPr/>
        </p:nvSpPr>
        <p:spPr>
          <a:xfrm>
            <a:off x="594360" y="3246120"/>
            <a:ext cx="7315200" cy="365760"/>
          </a:xfrm>
          <a:prstGeom prst="rect">
            <a:avLst/>
          </a:prstGeom>
          <a:noFill/>
          <a:ln/>
        </p:spPr>
        <p:txBody>
          <a:bodyPr wrap="square" lIns="0" tIns="0" rIns="0" bIns="0" rtlCol="0" anchor="ctr"/>
          <a:lstStyle/>
          <a:p>
            <a:pPr marL="0" indent="0">
              <a:buNone/>
            </a:pPr>
            <a:r>
              <a:rPr lang="en-US" sz="1500" b="1" dirty="0">
                <a:solidFill>
                  <a:srgbClr val="2B2B2B"/>
                </a:solidFill>
                <a:latin typeface="Cambria" pitchFamily="34" charset="0"/>
                <a:ea typeface="Cambria" pitchFamily="34" charset="-122"/>
                <a:cs typeface="Cambria" pitchFamily="34" charset="-120"/>
              </a:rPr>
              <a:t>Every table earns its keep</a:t>
            </a:r>
            <a:endParaRPr lang="en-US" sz="1500" dirty="0"/>
          </a:p>
        </p:txBody>
      </p:sp>
      <p:sp>
        <p:nvSpPr>
          <p:cNvPr id="29" name="Shape 22"/>
          <p:cNvSpPr/>
          <p:nvPr/>
        </p:nvSpPr>
        <p:spPr>
          <a:xfrm>
            <a:off x="594360" y="374904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30" name="Image 4" descr="preencoded.png"/>
          <p:cNvPicPr>
            <a:picLocks noChangeAspect="1"/>
          </p:cNvPicPr>
          <p:nvPr/>
        </p:nvPicPr>
        <p:blipFill>
          <a:blip r:embed="rId7"/>
          <a:stretch>
            <a:fillRect/>
          </a:stretch>
        </p:blipFill>
        <p:spPr>
          <a:xfrm>
            <a:off x="732617" y="3887297"/>
            <a:ext cx="235549" cy="235549"/>
          </a:xfrm>
          <a:prstGeom prst="rect">
            <a:avLst/>
          </a:prstGeom>
        </p:spPr>
      </p:pic>
      <p:sp>
        <p:nvSpPr>
          <p:cNvPr id="31" name="Text 23"/>
          <p:cNvSpPr/>
          <p:nvPr/>
        </p:nvSpPr>
        <p:spPr>
          <a:xfrm>
            <a:off x="1289304" y="3694176"/>
            <a:ext cx="4754880" cy="658368"/>
          </a:xfrm>
          <a:prstGeom prst="rect">
            <a:avLst/>
          </a:prstGeom>
          <a:noFill/>
          <a:ln/>
        </p:spPr>
        <p:txBody>
          <a:bodyPr wrap="square" lIns="0" tIns="0" rIns="0" bIns="0" rtlCol="0" anchor="ctr"/>
          <a:lstStyle/>
          <a:p>
            <a:pPr marL="0" indent="0">
              <a:lnSpc>
                <a:spcPct val="100000"/>
              </a:lnSpc>
              <a:buNone/>
            </a:pPr>
            <a:r>
              <a:rPr lang="en-US" sz="1200" b="1" dirty="0">
                <a:solidFill>
                  <a:srgbClr val="23305F"/>
                </a:solidFill>
                <a:latin typeface="Courier New" pitchFamily="34" charset="0"/>
                <a:ea typeface="Courier New" pitchFamily="34" charset="-122"/>
                <a:cs typeface="Courier New" pitchFamily="34" charset="-120"/>
              </a:rPr>
              <a:t>CONCEPT + CONCEPT_SYNONYM  </a:t>
            </a:r>
            <a:r>
              <a:rPr lang="en-US" sz="1150" dirty="0">
                <a:solidFill>
                  <a:srgbClr val="6E6A63"/>
                </a:solidFill>
              </a:rPr>
              <a:t>→ the hybrid ranked search</a:t>
            </a:r>
            <a:endParaRPr lang="en-US" sz="1200" dirty="0"/>
          </a:p>
        </p:txBody>
      </p:sp>
      <p:sp>
        <p:nvSpPr>
          <p:cNvPr id="32" name="Shape 24"/>
          <p:cNvSpPr/>
          <p:nvPr/>
        </p:nvSpPr>
        <p:spPr>
          <a:xfrm>
            <a:off x="6217920" y="374904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33" name="Image 5" descr="preencoded.png"/>
          <p:cNvPicPr>
            <a:picLocks noChangeAspect="1"/>
          </p:cNvPicPr>
          <p:nvPr/>
        </p:nvPicPr>
        <p:blipFill>
          <a:blip r:embed="rId8"/>
          <a:stretch>
            <a:fillRect/>
          </a:stretch>
        </p:blipFill>
        <p:spPr>
          <a:xfrm>
            <a:off x="6356177" y="3887297"/>
            <a:ext cx="235549" cy="235549"/>
          </a:xfrm>
          <a:prstGeom prst="rect">
            <a:avLst/>
          </a:prstGeom>
        </p:spPr>
      </p:pic>
      <p:sp>
        <p:nvSpPr>
          <p:cNvPr id="34" name="Text 25"/>
          <p:cNvSpPr/>
          <p:nvPr/>
        </p:nvSpPr>
        <p:spPr>
          <a:xfrm>
            <a:off x="6912864" y="3694176"/>
            <a:ext cx="4754880" cy="658368"/>
          </a:xfrm>
          <a:prstGeom prst="rect">
            <a:avLst/>
          </a:prstGeom>
          <a:noFill/>
          <a:ln/>
        </p:spPr>
        <p:txBody>
          <a:bodyPr wrap="square" lIns="0" tIns="0" rIns="0" bIns="0" rtlCol="0" anchor="ctr"/>
          <a:lstStyle/>
          <a:p>
            <a:pPr marL="0" indent="0">
              <a:lnSpc>
                <a:spcPct val="100000"/>
              </a:lnSpc>
              <a:buNone/>
            </a:pPr>
            <a:r>
              <a:rPr lang="en-US" sz="1200" b="1" dirty="0">
                <a:solidFill>
                  <a:srgbClr val="23305F"/>
                </a:solidFill>
                <a:latin typeface="Courier New" pitchFamily="34" charset="0"/>
                <a:ea typeface="Courier New" pitchFamily="34" charset="-122"/>
                <a:cs typeface="Courier New" pitchFamily="34" charset="-120"/>
              </a:rPr>
              <a:t>CONCEPT_ANCESTOR  </a:t>
            </a:r>
            <a:r>
              <a:rPr lang="en-US" sz="1150" dirty="0">
                <a:solidFill>
                  <a:srgbClr val="6E6A63"/>
                </a:solidFill>
              </a:rPr>
              <a:t>→ hierarchy browse &amp; roll-ups</a:t>
            </a:r>
            <a:endParaRPr lang="en-US" sz="1200" dirty="0"/>
          </a:p>
        </p:txBody>
      </p:sp>
      <p:sp>
        <p:nvSpPr>
          <p:cNvPr id="35" name="Shape 26"/>
          <p:cNvSpPr/>
          <p:nvPr/>
        </p:nvSpPr>
        <p:spPr>
          <a:xfrm>
            <a:off x="594360" y="4681728"/>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36" name="Image 6" descr="preencoded.png"/>
          <p:cNvPicPr>
            <a:picLocks noChangeAspect="1"/>
          </p:cNvPicPr>
          <p:nvPr/>
        </p:nvPicPr>
        <p:blipFill>
          <a:blip r:embed="rId9"/>
          <a:stretch>
            <a:fillRect/>
          </a:stretch>
        </p:blipFill>
        <p:spPr>
          <a:xfrm>
            <a:off x="732617" y="4819985"/>
            <a:ext cx="235549" cy="235549"/>
          </a:xfrm>
          <a:prstGeom prst="rect">
            <a:avLst/>
          </a:prstGeom>
        </p:spPr>
      </p:pic>
      <p:sp>
        <p:nvSpPr>
          <p:cNvPr id="37" name="Text 27"/>
          <p:cNvSpPr/>
          <p:nvPr/>
        </p:nvSpPr>
        <p:spPr>
          <a:xfrm>
            <a:off x="1289304" y="4626864"/>
            <a:ext cx="4754880" cy="658368"/>
          </a:xfrm>
          <a:prstGeom prst="rect">
            <a:avLst/>
          </a:prstGeom>
          <a:noFill/>
          <a:ln/>
        </p:spPr>
        <p:txBody>
          <a:bodyPr wrap="square" lIns="0" tIns="0" rIns="0" bIns="0" rtlCol="0" anchor="ctr"/>
          <a:lstStyle/>
          <a:p>
            <a:pPr marL="0" indent="0">
              <a:lnSpc>
                <a:spcPct val="100000"/>
              </a:lnSpc>
              <a:buNone/>
            </a:pPr>
            <a:r>
              <a:rPr lang="en-US" sz="1200" b="1" dirty="0">
                <a:solidFill>
                  <a:srgbClr val="23305F"/>
                </a:solidFill>
                <a:latin typeface="Courier New" pitchFamily="34" charset="0"/>
                <a:ea typeface="Courier New" pitchFamily="34" charset="-122"/>
                <a:cs typeface="Courier New" pitchFamily="34" charset="-120"/>
              </a:rPr>
              <a:t>DOMAIN  </a:t>
            </a:r>
            <a:r>
              <a:rPr lang="en-US" sz="1150" dirty="0">
                <a:solidFill>
                  <a:srgbClr val="6E6A63"/>
                </a:solidFill>
              </a:rPr>
              <a:t>→ the OMOP-domain view</a:t>
            </a:r>
            <a:endParaRPr lang="en-US" sz="1200" dirty="0"/>
          </a:p>
        </p:txBody>
      </p:sp>
      <p:sp>
        <p:nvSpPr>
          <p:cNvPr id="38" name="Shape 28"/>
          <p:cNvSpPr/>
          <p:nvPr/>
        </p:nvSpPr>
        <p:spPr>
          <a:xfrm>
            <a:off x="6217920" y="4681728"/>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39" name="Image 7" descr="preencoded.png"/>
          <p:cNvPicPr>
            <a:picLocks noChangeAspect="1"/>
          </p:cNvPicPr>
          <p:nvPr/>
        </p:nvPicPr>
        <p:blipFill>
          <a:blip r:embed="rId10"/>
          <a:stretch>
            <a:fillRect/>
          </a:stretch>
        </p:blipFill>
        <p:spPr>
          <a:xfrm>
            <a:off x="6356177" y="4819985"/>
            <a:ext cx="235549" cy="235549"/>
          </a:xfrm>
          <a:prstGeom prst="rect">
            <a:avLst/>
          </a:prstGeom>
        </p:spPr>
      </p:pic>
      <p:sp>
        <p:nvSpPr>
          <p:cNvPr id="40" name="Text 29"/>
          <p:cNvSpPr/>
          <p:nvPr/>
        </p:nvSpPr>
        <p:spPr>
          <a:xfrm>
            <a:off x="6912864" y="4626864"/>
            <a:ext cx="4754880" cy="658368"/>
          </a:xfrm>
          <a:prstGeom prst="rect">
            <a:avLst/>
          </a:prstGeom>
          <a:noFill/>
          <a:ln/>
        </p:spPr>
        <p:txBody>
          <a:bodyPr wrap="square" lIns="0" tIns="0" rIns="0" bIns="0" rtlCol="0" anchor="ctr"/>
          <a:lstStyle/>
          <a:p>
            <a:pPr marL="0" indent="0">
              <a:lnSpc>
                <a:spcPct val="100000"/>
              </a:lnSpc>
              <a:buNone/>
            </a:pPr>
            <a:r>
              <a:rPr lang="en-US" sz="1200" b="1" dirty="0">
                <a:solidFill>
                  <a:srgbClr val="23305F"/>
                </a:solidFill>
                <a:latin typeface="Courier New" pitchFamily="34" charset="0"/>
                <a:ea typeface="Courier New" pitchFamily="34" charset="-122"/>
                <a:cs typeface="Courier New" pitchFamily="34" charset="-120"/>
              </a:rPr>
              <a:t>CONCEPT_RELATIONSHIP  </a:t>
            </a:r>
            <a:r>
              <a:rPr lang="en-US" sz="1150" dirty="0">
                <a:solidFill>
                  <a:srgbClr val="6E6A63"/>
                </a:solidFill>
              </a:rPr>
              <a:t>→ guardrails + vocabulary-impact report across vintages</a:t>
            </a:r>
            <a:endParaRPr lang="en-US" sz="1200" dirty="0"/>
          </a:p>
        </p:txBody>
      </p:sp>
      <p:sp>
        <p:nvSpPr>
          <p:cNvPr id="41" name="Shape 30"/>
          <p:cNvSpPr/>
          <p:nvPr/>
        </p:nvSpPr>
        <p:spPr>
          <a:xfrm>
            <a:off x="594360" y="5806440"/>
            <a:ext cx="11018520" cy="777240"/>
          </a:xfrm>
          <a:prstGeom prst="roundRect">
            <a:avLst>
              <a:gd name="adj" fmla="val 9412"/>
            </a:avLst>
          </a:prstGeom>
          <a:solidFill>
            <a:srgbClr val="2A2013"/>
          </a:solidFill>
          <a:ln/>
        </p:spPr>
        <p:txBody>
          <a:bodyPr/>
          <a:lstStyle/>
          <a:p>
            <a:endParaRPr lang="en-US"/>
          </a:p>
        </p:txBody>
      </p:sp>
      <p:sp>
        <p:nvSpPr>
          <p:cNvPr id="42" name="Text 31"/>
          <p:cNvSpPr/>
          <p:nvPr/>
        </p:nvSpPr>
        <p:spPr>
          <a:xfrm>
            <a:off x="777240" y="5806440"/>
            <a:ext cx="10652760" cy="777240"/>
          </a:xfrm>
          <a:prstGeom prst="rect">
            <a:avLst/>
          </a:prstGeom>
          <a:noFill/>
          <a:ln/>
        </p:spPr>
        <p:txBody>
          <a:bodyPr wrap="square" lIns="0" tIns="0" rIns="0" bIns="0" rtlCol="0" anchor="ctr"/>
          <a:lstStyle/>
          <a:p>
            <a:pPr marL="0" indent="0" algn="ctr">
              <a:buNone/>
            </a:pPr>
            <a:r>
              <a:rPr lang="en-US" sz="1350" b="1" dirty="0">
                <a:solidFill>
                  <a:srgbClr val="EBD9AE"/>
                </a:solidFill>
                <a:latin typeface="Calibri" pitchFamily="34" charset="0"/>
                <a:ea typeface="Calibri" pitchFamily="34" charset="-122"/>
                <a:cs typeface="Calibri" pitchFamily="34" charset="-120"/>
              </a:rPr>
              <a:t>Canadian extensions load alongside as custom vocabularies</a:t>
            </a:r>
            <a:r>
              <a:rPr lang="en-US" sz="1350" dirty="0">
                <a:solidFill>
                  <a:srgbClr val="F1E7D6"/>
                </a:solidFill>
                <a:latin typeface="Calibri" pitchFamily="34" charset="0"/>
                <a:ea typeface="Calibri" pitchFamily="34" charset="-122"/>
                <a:cs typeface="Calibri" pitchFamily="34" charset="-120"/>
              </a:rPr>
              <a:t>  ·  validated on real data — GiBleed: 444 concepts, 65,690 ancestors.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Anatomy of a standard concept</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Every row in the CONCEPT table — and what each field decides</a:t>
            </a:r>
            <a:endParaRPr lang="en-US" sz="1450" dirty="0"/>
          </a:p>
        </p:txBody>
      </p:sp>
      <p:sp>
        <p:nvSpPr>
          <p:cNvPr id="5" name="Text 2"/>
          <p:cNvSpPr/>
          <p:nvPr/>
        </p:nvSpPr>
        <p:spPr>
          <a:xfrm>
            <a:off x="594360" y="1600200"/>
            <a:ext cx="11018520" cy="502920"/>
          </a:xfrm>
          <a:prstGeom prst="rect">
            <a:avLst/>
          </a:prstGeom>
          <a:noFill/>
          <a:ln/>
        </p:spPr>
        <p:txBody>
          <a:bodyPr wrap="square" lIns="0" tIns="0" rIns="0" bIns="0" rtlCol="0" anchor="ctr"/>
          <a:lstStyle/>
          <a:p>
            <a:pPr marL="0" indent="0">
              <a:buNone/>
            </a:pPr>
            <a:r>
              <a:rPr lang="en-US" sz="1350" i="1" dirty="0">
                <a:solidFill>
                  <a:srgbClr val="6E6A63"/>
                </a:solidFill>
                <a:latin typeface="Calibri" pitchFamily="34" charset="0"/>
                <a:ea typeface="Calibri" pitchFamily="34" charset="-122"/>
                <a:cs typeface="Calibri" pitchFamily="34" charset="-120"/>
              </a:rPr>
              <a:t>Eight fields carry the entire meaning of a clinical fact — the standard_concept flag is the one that decides whether your data is analyzable.</a:t>
            </a:r>
            <a:endParaRPr lang="en-US" sz="1350" dirty="0"/>
          </a:p>
        </p:txBody>
      </p:sp>
      <p:sp>
        <p:nvSpPr>
          <p:cNvPr id="6" name="Shape 3"/>
          <p:cNvSpPr/>
          <p:nvPr/>
        </p:nvSpPr>
        <p:spPr>
          <a:xfrm>
            <a:off x="594360" y="2240280"/>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7" name="Text 4"/>
          <p:cNvSpPr/>
          <p:nvPr/>
        </p:nvSpPr>
        <p:spPr>
          <a:xfrm>
            <a:off x="777240" y="2240280"/>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concept_id   </a:t>
            </a:r>
            <a:r>
              <a:rPr lang="en-US" sz="1100" dirty="0">
                <a:solidFill>
                  <a:srgbClr val="6E6A63"/>
                </a:solidFill>
              </a:rPr>
              <a:t>the universal key</a:t>
            </a:r>
            <a:endParaRPr lang="en-US" sz="1200" dirty="0"/>
          </a:p>
        </p:txBody>
      </p:sp>
      <p:sp>
        <p:nvSpPr>
          <p:cNvPr id="8" name="Shape 5"/>
          <p:cNvSpPr/>
          <p:nvPr/>
        </p:nvSpPr>
        <p:spPr>
          <a:xfrm>
            <a:off x="6217920" y="2240280"/>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9" name="Text 6"/>
          <p:cNvSpPr/>
          <p:nvPr/>
        </p:nvSpPr>
        <p:spPr>
          <a:xfrm>
            <a:off x="6400800" y="2240280"/>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concept_name   </a:t>
            </a:r>
            <a:r>
              <a:rPr lang="en-US" sz="1100" dirty="0">
                <a:solidFill>
                  <a:srgbClr val="6E6A63"/>
                </a:solidFill>
              </a:rPr>
              <a:t>human-readable label</a:t>
            </a:r>
            <a:endParaRPr lang="en-US" sz="1200" dirty="0"/>
          </a:p>
        </p:txBody>
      </p:sp>
      <p:sp>
        <p:nvSpPr>
          <p:cNvPr id="10" name="Shape 7"/>
          <p:cNvSpPr/>
          <p:nvPr/>
        </p:nvSpPr>
        <p:spPr>
          <a:xfrm>
            <a:off x="594360" y="3081528"/>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11" name="Text 8"/>
          <p:cNvSpPr/>
          <p:nvPr/>
        </p:nvSpPr>
        <p:spPr>
          <a:xfrm>
            <a:off x="777240" y="3081528"/>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domain_id   </a:t>
            </a:r>
            <a:r>
              <a:rPr lang="en-US" sz="1100" dirty="0">
                <a:solidFill>
                  <a:srgbClr val="6E6A63"/>
                </a:solidFill>
              </a:rPr>
              <a:t>routes it to a CDM table</a:t>
            </a:r>
            <a:endParaRPr lang="en-US" sz="1200" dirty="0"/>
          </a:p>
        </p:txBody>
      </p:sp>
      <p:sp>
        <p:nvSpPr>
          <p:cNvPr id="12" name="Shape 9"/>
          <p:cNvSpPr/>
          <p:nvPr/>
        </p:nvSpPr>
        <p:spPr>
          <a:xfrm>
            <a:off x="6217920" y="3081528"/>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13" name="Text 10"/>
          <p:cNvSpPr/>
          <p:nvPr/>
        </p:nvSpPr>
        <p:spPr>
          <a:xfrm>
            <a:off x="6400800" y="3081528"/>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vocabulary_id   </a:t>
            </a:r>
            <a:r>
              <a:rPr lang="en-US" sz="1100" dirty="0">
                <a:solidFill>
                  <a:srgbClr val="6E6A63"/>
                </a:solidFill>
              </a:rPr>
              <a:t>SNOMED · RxNorm · LOINC…</a:t>
            </a:r>
            <a:endParaRPr lang="en-US" sz="1200" dirty="0"/>
          </a:p>
        </p:txBody>
      </p:sp>
      <p:sp>
        <p:nvSpPr>
          <p:cNvPr id="14" name="Shape 11"/>
          <p:cNvSpPr/>
          <p:nvPr/>
        </p:nvSpPr>
        <p:spPr>
          <a:xfrm>
            <a:off x="594360" y="3922776"/>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15" name="Text 12"/>
          <p:cNvSpPr/>
          <p:nvPr/>
        </p:nvSpPr>
        <p:spPr>
          <a:xfrm>
            <a:off x="777240" y="3922776"/>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concept_class_id   </a:t>
            </a:r>
            <a:r>
              <a:rPr lang="en-US" sz="1100" dirty="0">
                <a:solidFill>
                  <a:srgbClr val="6E6A63"/>
                </a:solidFill>
              </a:rPr>
              <a:t>granularity / type</a:t>
            </a:r>
            <a:endParaRPr lang="en-US" sz="1200" dirty="0"/>
          </a:p>
        </p:txBody>
      </p:sp>
      <p:sp>
        <p:nvSpPr>
          <p:cNvPr id="16" name="Shape 13"/>
          <p:cNvSpPr/>
          <p:nvPr/>
        </p:nvSpPr>
        <p:spPr>
          <a:xfrm>
            <a:off x="6217920" y="3922776"/>
            <a:ext cx="5349240" cy="713232"/>
          </a:xfrm>
          <a:prstGeom prst="roundRect">
            <a:avLst>
              <a:gd name="adj" fmla="val 6410"/>
            </a:avLst>
          </a:prstGeom>
          <a:solidFill>
            <a:srgbClr val="FBF2E1"/>
          </a:solidFill>
          <a:ln w="19050">
            <a:solidFill>
              <a:srgbClr val="C7902B"/>
            </a:solidFill>
            <a:prstDash val="solid"/>
          </a:ln>
        </p:spPr>
        <p:txBody>
          <a:bodyPr/>
          <a:lstStyle/>
          <a:p>
            <a:endParaRPr lang="en-US"/>
          </a:p>
        </p:txBody>
      </p:sp>
      <p:sp>
        <p:nvSpPr>
          <p:cNvPr id="17" name="Text 14"/>
          <p:cNvSpPr/>
          <p:nvPr/>
        </p:nvSpPr>
        <p:spPr>
          <a:xfrm>
            <a:off x="6400800" y="3922776"/>
            <a:ext cx="5029200" cy="713232"/>
          </a:xfrm>
          <a:prstGeom prst="rect">
            <a:avLst/>
          </a:prstGeom>
          <a:noFill/>
          <a:ln/>
        </p:spPr>
        <p:txBody>
          <a:bodyPr wrap="square" lIns="0" tIns="0" rIns="0" bIns="0" rtlCol="0" anchor="ctr"/>
          <a:lstStyle/>
          <a:p>
            <a:pPr marL="0" indent="0">
              <a:buNone/>
            </a:pPr>
            <a:r>
              <a:rPr lang="en-US" sz="1200" b="1" dirty="0">
                <a:solidFill>
                  <a:srgbClr val="8A5A12"/>
                </a:solidFill>
                <a:latin typeface="Courier New" pitchFamily="34" charset="0"/>
                <a:ea typeface="Courier New" pitchFamily="34" charset="-122"/>
                <a:cs typeface="Courier New" pitchFamily="34" charset="-120"/>
              </a:rPr>
              <a:t>standard_concept   </a:t>
            </a:r>
            <a:r>
              <a:rPr lang="en-US" sz="1100" dirty="0">
                <a:solidFill>
                  <a:srgbClr val="6E6A63"/>
                </a:solidFill>
              </a:rPr>
              <a:t>'S' std · 'C' class · — source ★</a:t>
            </a:r>
            <a:endParaRPr lang="en-US" sz="1200" dirty="0"/>
          </a:p>
        </p:txBody>
      </p:sp>
      <p:sp>
        <p:nvSpPr>
          <p:cNvPr id="18" name="Shape 15"/>
          <p:cNvSpPr/>
          <p:nvPr/>
        </p:nvSpPr>
        <p:spPr>
          <a:xfrm>
            <a:off x="594360" y="4764024"/>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19" name="Text 16"/>
          <p:cNvSpPr/>
          <p:nvPr/>
        </p:nvSpPr>
        <p:spPr>
          <a:xfrm>
            <a:off x="777240" y="4764024"/>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concept_code   </a:t>
            </a:r>
            <a:r>
              <a:rPr lang="en-US" sz="1100" dirty="0">
                <a:solidFill>
                  <a:srgbClr val="6E6A63"/>
                </a:solidFill>
              </a:rPr>
              <a:t>the code in its own vocabulary</a:t>
            </a:r>
            <a:endParaRPr lang="en-US" sz="1200" dirty="0"/>
          </a:p>
        </p:txBody>
      </p:sp>
      <p:sp>
        <p:nvSpPr>
          <p:cNvPr id="20" name="Shape 17"/>
          <p:cNvSpPr/>
          <p:nvPr/>
        </p:nvSpPr>
        <p:spPr>
          <a:xfrm>
            <a:off x="6217920" y="4764024"/>
            <a:ext cx="5349240" cy="713232"/>
          </a:xfrm>
          <a:prstGeom prst="roundRect">
            <a:avLst>
              <a:gd name="adj" fmla="val 6410"/>
            </a:avLst>
          </a:prstGeom>
          <a:solidFill>
            <a:srgbClr val="F6F2EB"/>
          </a:solidFill>
          <a:ln w="12700">
            <a:solidFill>
              <a:srgbClr val="DAD3C6"/>
            </a:solidFill>
            <a:prstDash val="solid"/>
          </a:ln>
        </p:spPr>
        <p:txBody>
          <a:bodyPr/>
          <a:lstStyle/>
          <a:p>
            <a:endParaRPr lang="en-US"/>
          </a:p>
        </p:txBody>
      </p:sp>
      <p:sp>
        <p:nvSpPr>
          <p:cNvPr id="21" name="Text 18"/>
          <p:cNvSpPr/>
          <p:nvPr/>
        </p:nvSpPr>
        <p:spPr>
          <a:xfrm>
            <a:off x="6400800" y="4764024"/>
            <a:ext cx="5029200" cy="713232"/>
          </a:xfrm>
          <a:prstGeom prst="rect">
            <a:avLst/>
          </a:prstGeom>
          <a:noFill/>
          <a:ln/>
        </p:spPr>
        <p:txBody>
          <a:bodyPr wrap="square" lIns="0" tIns="0" rIns="0" bIns="0" rtlCol="0" anchor="ctr"/>
          <a:lstStyle/>
          <a:p>
            <a:pPr marL="0" indent="0">
              <a:buNone/>
            </a:pPr>
            <a:r>
              <a:rPr lang="en-US" sz="1200" b="1" dirty="0">
                <a:solidFill>
                  <a:srgbClr val="23305F"/>
                </a:solidFill>
                <a:latin typeface="Courier New" pitchFamily="34" charset="0"/>
                <a:ea typeface="Courier New" pitchFamily="34" charset="-122"/>
                <a:cs typeface="Courier New" pitchFamily="34" charset="-120"/>
              </a:rPr>
              <a:t>valid dates · invalid_reason   </a:t>
            </a:r>
            <a:r>
              <a:rPr lang="en-US" sz="1100" dirty="0">
                <a:solidFill>
                  <a:srgbClr val="6E6A63"/>
                </a:solidFill>
              </a:rPr>
              <a:t>lifecycle &amp; retirement</a:t>
            </a:r>
            <a:endParaRPr lang="en-US" sz="1200" dirty="0"/>
          </a:p>
        </p:txBody>
      </p:sp>
      <p:sp>
        <p:nvSpPr>
          <p:cNvPr id="22" name="Shape 19"/>
          <p:cNvSpPr/>
          <p:nvPr/>
        </p:nvSpPr>
        <p:spPr>
          <a:xfrm>
            <a:off x="594360" y="5760720"/>
            <a:ext cx="11018520" cy="822960"/>
          </a:xfrm>
          <a:prstGeom prst="roundRect">
            <a:avLst>
              <a:gd name="adj" fmla="val 8889"/>
            </a:avLst>
          </a:prstGeom>
          <a:solidFill>
            <a:srgbClr val="F1F3FA"/>
          </a:solidFill>
          <a:ln w="12700">
            <a:solidFill>
              <a:srgbClr val="23305F"/>
            </a:solidFill>
            <a:prstDash val="solid"/>
          </a:ln>
        </p:spPr>
        <p:txBody>
          <a:bodyPr/>
          <a:lstStyle/>
          <a:p>
            <a:endParaRPr lang="en-US"/>
          </a:p>
        </p:txBody>
      </p:sp>
      <p:sp>
        <p:nvSpPr>
          <p:cNvPr id="23" name="Text 20"/>
          <p:cNvSpPr/>
          <p:nvPr/>
        </p:nvSpPr>
        <p:spPr>
          <a:xfrm>
            <a:off x="822960" y="5760720"/>
            <a:ext cx="10561320" cy="822960"/>
          </a:xfrm>
          <a:prstGeom prst="rect">
            <a:avLst/>
          </a:prstGeom>
          <a:noFill/>
          <a:ln/>
        </p:spPr>
        <p:txBody>
          <a:bodyPr wrap="square" lIns="0" tIns="0" rIns="0" bIns="0" rtlCol="0" anchor="ctr"/>
          <a:lstStyle/>
          <a:p>
            <a:pPr marL="0" indent="0" algn="ctr">
              <a:buNone/>
            </a:pPr>
            <a:r>
              <a:rPr lang="en-US" sz="1250" b="1" dirty="0">
                <a:solidFill>
                  <a:srgbClr val="23305F"/>
                </a:solidFill>
                <a:latin typeface="Calibri" pitchFamily="34" charset="0"/>
                <a:ea typeface="Calibri" pitchFamily="34" charset="-122"/>
                <a:cs typeface="Calibri" pitchFamily="34" charset="-120"/>
              </a:rPr>
              <a:t>A real concept:   </a:t>
            </a:r>
            <a:r>
              <a:rPr lang="en-US" sz="1250" b="1" dirty="0">
                <a:solidFill>
                  <a:srgbClr val="2B2B2B"/>
                </a:solidFill>
                <a:latin typeface="Courier New" pitchFamily="34" charset="0"/>
                <a:ea typeface="Courier New" pitchFamily="34" charset="-122"/>
                <a:cs typeface="Courier New" pitchFamily="34" charset="-120"/>
              </a:rPr>
              <a:t>316866</a:t>
            </a:r>
            <a:r>
              <a:rPr lang="en-US" sz="1250" dirty="0">
                <a:solidFill>
                  <a:srgbClr val="2B2B2B"/>
                </a:solidFill>
                <a:latin typeface="Calibri" pitchFamily="34" charset="0"/>
                <a:ea typeface="Calibri" pitchFamily="34" charset="-122"/>
                <a:cs typeface="Calibri" pitchFamily="34" charset="-120"/>
              </a:rPr>
              <a:t> · Hypertensive disorder · </a:t>
            </a:r>
            <a:r>
              <a:rPr lang="en-US" sz="1250" dirty="0">
                <a:solidFill>
                  <a:srgbClr val="6E6A63"/>
                </a:solidFill>
                <a:latin typeface="Calibri" pitchFamily="34" charset="0"/>
                <a:ea typeface="Calibri" pitchFamily="34" charset="-122"/>
                <a:cs typeface="Calibri" pitchFamily="34" charset="-120"/>
              </a:rPr>
              <a:t>Condition · SNOMED · concept_class Clinical Finding · </a:t>
            </a:r>
            <a:r>
              <a:rPr lang="en-US" sz="1250" b="1" dirty="0">
                <a:solidFill>
                  <a:srgbClr val="2E7D32"/>
                </a:solidFill>
                <a:latin typeface="Calibri" pitchFamily="34" charset="0"/>
                <a:ea typeface="Calibri" pitchFamily="34" charset="-122"/>
                <a:cs typeface="Calibri" pitchFamily="34" charset="-120"/>
              </a:rPr>
              <a:t>standard_concept = 'S'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Domains &amp; hierarchy — how concepts connect</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The standard concept you pick decides where the record lands and how it rolls up</a:t>
            </a:r>
            <a:endParaRPr lang="en-US" sz="1450" dirty="0"/>
          </a:p>
        </p:txBody>
      </p:sp>
      <p:sp>
        <p:nvSpPr>
          <p:cNvPr id="5" name="Shape 2"/>
          <p:cNvSpPr/>
          <p:nvPr/>
        </p:nvSpPr>
        <p:spPr>
          <a:xfrm>
            <a:off x="640080" y="169164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88213" y="1839773"/>
            <a:ext cx="252374" cy="252374"/>
          </a:xfrm>
          <a:prstGeom prst="rect">
            <a:avLst/>
          </a:prstGeom>
        </p:spPr>
      </p:pic>
      <p:sp>
        <p:nvSpPr>
          <p:cNvPr id="7" name="Text 3"/>
          <p:cNvSpPr/>
          <p:nvPr/>
        </p:nvSpPr>
        <p:spPr>
          <a:xfrm>
            <a:off x="1371600" y="1691640"/>
            <a:ext cx="4937760" cy="548640"/>
          </a:xfrm>
          <a:prstGeom prst="rect">
            <a:avLst/>
          </a:prstGeom>
          <a:noFill/>
          <a:ln/>
        </p:spPr>
        <p:txBody>
          <a:bodyPr wrap="square" lIns="0" tIns="0" rIns="0" bIns="0" rtlCol="0" anchor="ctr"/>
          <a:lstStyle/>
          <a:p>
            <a:pPr marL="0" indent="0">
              <a:buNone/>
            </a:pPr>
            <a:r>
              <a:rPr lang="en-US" sz="1550" b="1" dirty="0">
                <a:solidFill>
                  <a:srgbClr val="23305F"/>
                </a:solidFill>
                <a:latin typeface="Cambria" pitchFamily="34" charset="0"/>
                <a:ea typeface="Cambria" pitchFamily="34" charset="-122"/>
                <a:cs typeface="Cambria" pitchFamily="34" charset="-120"/>
              </a:rPr>
              <a:t>Domain routes the record</a:t>
            </a:r>
            <a:endParaRPr lang="en-US" sz="1550" dirty="0"/>
          </a:p>
        </p:txBody>
      </p:sp>
      <p:sp>
        <p:nvSpPr>
          <p:cNvPr id="8" name="Shape 4"/>
          <p:cNvSpPr/>
          <p:nvPr/>
        </p:nvSpPr>
        <p:spPr>
          <a:xfrm>
            <a:off x="640080" y="2423160"/>
            <a:ext cx="5120640" cy="548640"/>
          </a:xfrm>
          <a:prstGeom prst="roundRect">
            <a:avLst>
              <a:gd name="adj" fmla="val 8333"/>
            </a:avLst>
          </a:prstGeom>
          <a:solidFill>
            <a:srgbClr val="F6F2EB"/>
          </a:solidFill>
          <a:ln w="12700">
            <a:solidFill>
              <a:srgbClr val="DAD3C6"/>
            </a:solidFill>
            <a:prstDash val="solid"/>
          </a:ln>
        </p:spPr>
        <p:txBody>
          <a:bodyPr/>
          <a:lstStyle/>
          <a:p>
            <a:endParaRPr lang="en-US"/>
          </a:p>
        </p:txBody>
      </p:sp>
      <p:sp>
        <p:nvSpPr>
          <p:cNvPr id="9" name="Text 5"/>
          <p:cNvSpPr/>
          <p:nvPr/>
        </p:nvSpPr>
        <p:spPr>
          <a:xfrm>
            <a:off x="868680" y="2423160"/>
            <a:ext cx="4754880" cy="548640"/>
          </a:xfrm>
          <a:prstGeom prst="rect">
            <a:avLst/>
          </a:prstGeom>
          <a:noFill/>
          <a:ln/>
        </p:spPr>
        <p:txBody>
          <a:bodyPr wrap="square" lIns="0" tIns="0" rIns="0" bIns="0" rtlCol="0" anchor="ctr"/>
          <a:lstStyle/>
          <a:p>
            <a:pPr marL="0" indent="0">
              <a:buNone/>
            </a:pPr>
            <a:r>
              <a:rPr lang="en-US" sz="1250" b="1" dirty="0">
                <a:solidFill>
                  <a:srgbClr val="23305F"/>
                </a:solidFill>
              </a:rPr>
              <a:t>Condition</a:t>
            </a:r>
            <a:r>
              <a:rPr lang="en-US" sz="1250" b="1" dirty="0">
                <a:solidFill>
                  <a:srgbClr val="C7902B"/>
                </a:solidFill>
              </a:rPr>
              <a:t>   →   </a:t>
            </a:r>
            <a:r>
              <a:rPr lang="en-US" sz="1100" dirty="0">
                <a:solidFill>
                  <a:srgbClr val="2B2B2B"/>
                </a:solidFill>
                <a:latin typeface="Courier New" pitchFamily="34" charset="0"/>
                <a:ea typeface="Courier New" pitchFamily="34" charset="-122"/>
                <a:cs typeface="Courier New" pitchFamily="34" charset="-120"/>
              </a:rPr>
              <a:t>CONDITION_OCCURRENCE</a:t>
            </a:r>
            <a:endParaRPr lang="en-US" sz="1250" dirty="0"/>
          </a:p>
        </p:txBody>
      </p:sp>
      <p:sp>
        <p:nvSpPr>
          <p:cNvPr id="10" name="Shape 6"/>
          <p:cNvSpPr/>
          <p:nvPr/>
        </p:nvSpPr>
        <p:spPr>
          <a:xfrm>
            <a:off x="640080" y="3081528"/>
            <a:ext cx="5120640" cy="548640"/>
          </a:xfrm>
          <a:prstGeom prst="roundRect">
            <a:avLst>
              <a:gd name="adj" fmla="val 8333"/>
            </a:avLst>
          </a:prstGeom>
          <a:solidFill>
            <a:srgbClr val="FFFFFF"/>
          </a:solidFill>
          <a:ln w="12700">
            <a:solidFill>
              <a:srgbClr val="DAD3C6"/>
            </a:solidFill>
            <a:prstDash val="solid"/>
          </a:ln>
        </p:spPr>
        <p:txBody>
          <a:bodyPr/>
          <a:lstStyle/>
          <a:p>
            <a:endParaRPr lang="en-US"/>
          </a:p>
        </p:txBody>
      </p:sp>
      <p:sp>
        <p:nvSpPr>
          <p:cNvPr id="11" name="Text 7"/>
          <p:cNvSpPr/>
          <p:nvPr/>
        </p:nvSpPr>
        <p:spPr>
          <a:xfrm>
            <a:off x="868680" y="3081528"/>
            <a:ext cx="4754880" cy="548640"/>
          </a:xfrm>
          <a:prstGeom prst="rect">
            <a:avLst/>
          </a:prstGeom>
          <a:noFill/>
          <a:ln/>
        </p:spPr>
        <p:txBody>
          <a:bodyPr wrap="square" lIns="0" tIns="0" rIns="0" bIns="0" rtlCol="0" anchor="ctr"/>
          <a:lstStyle/>
          <a:p>
            <a:pPr marL="0" indent="0">
              <a:buNone/>
            </a:pPr>
            <a:r>
              <a:rPr lang="en-US" sz="1250" b="1" dirty="0">
                <a:solidFill>
                  <a:srgbClr val="23305F"/>
                </a:solidFill>
              </a:rPr>
              <a:t>Drug</a:t>
            </a:r>
            <a:r>
              <a:rPr lang="en-US" sz="1250" b="1" dirty="0">
                <a:solidFill>
                  <a:srgbClr val="C7902B"/>
                </a:solidFill>
              </a:rPr>
              <a:t>   →   </a:t>
            </a:r>
            <a:r>
              <a:rPr lang="en-US" sz="1100" dirty="0">
                <a:solidFill>
                  <a:srgbClr val="2B2B2B"/>
                </a:solidFill>
                <a:latin typeface="Courier New" pitchFamily="34" charset="0"/>
                <a:ea typeface="Courier New" pitchFamily="34" charset="-122"/>
                <a:cs typeface="Courier New" pitchFamily="34" charset="-120"/>
              </a:rPr>
              <a:t>DRUG_EXPOSURE</a:t>
            </a:r>
            <a:endParaRPr lang="en-US" sz="1250" dirty="0"/>
          </a:p>
        </p:txBody>
      </p:sp>
      <p:sp>
        <p:nvSpPr>
          <p:cNvPr id="12" name="Shape 8"/>
          <p:cNvSpPr/>
          <p:nvPr/>
        </p:nvSpPr>
        <p:spPr>
          <a:xfrm>
            <a:off x="640080" y="3739896"/>
            <a:ext cx="5120640" cy="548640"/>
          </a:xfrm>
          <a:prstGeom prst="roundRect">
            <a:avLst>
              <a:gd name="adj" fmla="val 8333"/>
            </a:avLst>
          </a:prstGeom>
          <a:solidFill>
            <a:srgbClr val="F6F2EB"/>
          </a:solidFill>
          <a:ln w="12700">
            <a:solidFill>
              <a:srgbClr val="DAD3C6"/>
            </a:solidFill>
            <a:prstDash val="solid"/>
          </a:ln>
        </p:spPr>
        <p:txBody>
          <a:bodyPr/>
          <a:lstStyle/>
          <a:p>
            <a:endParaRPr lang="en-US"/>
          </a:p>
        </p:txBody>
      </p:sp>
      <p:sp>
        <p:nvSpPr>
          <p:cNvPr id="13" name="Text 9"/>
          <p:cNvSpPr/>
          <p:nvPr/>
        </p:nvSpPr>
        <p:spPr>
          <a:xfrm>
            <a:off x="868680" y="3739896"/>
            <a:ext cx="4754880" cy="548640"/>
          </a:xfrm>
          <a:prstGeom prst="rect">
            <a:avLst/>
          </a:prstGeom>
          <a:noFill/>
          <a:ln/>
        </p:spPr>
        <p:txBody>
          <a:bodyPr wrap="square" lIns="0" tIns="0" rIns="0" bIns="0" rtlCol="0" anchor="ctr"/>
          <a:lstStyle/>
          <a:p>
            <a:pPr marL="0" indent="0">
              <a:buNone/>
            </a:pPr>
            <a:r>
              <a:rPr lang="en-US" sz="1250" b="1" dirty="0">
                <a:solidFill>
                  <a:srgbClr val="23305F"/>
                </a:solidFill>
              </a:rPr>
              <a:t>Measurement</a:t>
            </a:r>
            <a:r>
              <a:rPr lang="en-US" sz="1250" b="1" dirty="0">
                <a:solidFill>
                  <a:srgbClr val="C7902B"/>
                </a:solidFill>
              </a:rPr>
              <a:t>   →   </a:t>
            </a:r>
            <a:r>
              <a:rPr lang="en-US" sz="1100" dirty="0">
                <a:solidFill>
                  <a:srgbClr val="2B2B2B"/>
                </a:solidFill>
                <a:latin typeface="Courier New" pitchFamily="34" charset="0"/>
                <a:ea typeface="Courier New" pitchFamily="34" charset="-122"/>
                <a:cs typeface="Courier New" pitchFamily="34" charset="-120"/>
              </a:rPr>
              <a:t>MEASUREMENT</a:t>
            </a:r>
            <a:endParaRPr lang="en-US" sz="1250" dirty="0"/>
          </a:p>
        </p:txBody>
      </p:sp>
      <p:sp>
        <p:nvSpPr>
          <p:cNvPr id="14" name="Shape 10"/>
          <p:cNvSpPr/>
          <p:nvPr/>
        </p:nvSpPr>
        <p:spPr>
          <a:xfrm>
            <a:off x="640080" y="4398264"/>
            <a:ext cx="5120640" cy="548640"/>
          </a:xfrm>
          <a:prstGeom prst="roundRect">
            <a:avLst>
              <a:gd name="adj" fmla="val 8333"/>
            </a:avLst>
          </a:prstGeom>
          <a:solidFill>
            <a:srgbClr val="FFFFFF"/>
          </a:solidFill>
          <a:ln w="12700">
            <a:solidFill>
              <a:srgbClr val="DAD3C6"/>
            </a:solidFill>
            <a:prstDash val="solid"/>
          </a:ln>
        </p:spPr>
        <p:txBody>
          <a:bodyPr/>
          <a:lstStyle/>
          <a:p>
            <a:endParaRPr lang="en-US"/>
          </a:p>
        </p:txBody>
      </p:sp>
      <p:sp>
        <p:nvSpPr>
          <p:cNvPr id="15" name="Text 11"/>
          <p:cNvSpPr/>
          <p:nvPr/>
        </p:nvSpPr>
        <p:spPr>
          <a:xfrm>
            <a:off x="868680" y="4398264"/>
            <a:ext cx="4754880" cy="548640"/>
          </a:xfrm>
          <a:prstGeom prst="rect">
            <a:avLst/>
          </a:prstGeom>
          <a:noFill/>
          <a:ln/>
        </p:spPr>
        <p:txBody>
          <a:bodyPr wrap="square" lIns="0" tIns="0" rIns="0" bIns="0" rtlCol="0" anchor="ctr"/>
          <a:lstStyle/>
          <a:p>
            <a:pPr marL="0" indent="0">
              <a:buNone/>
            </a:pPr>
            <a:r>
              <a:rPr lang="en-US" sz="1250" b="1" dirty="0">
                <a:solidFill>
                  <a:srgbClr val="23305F"/>
                </a:solidFill>
              </a:rPr>
              <a:t>Procedure</a:t>
            </a:r>
            <a:r>
              <a:rPr lang="en-US" sz="1250" b="1" dirty="0">
                <a:solidFill>
                  <a:srgbClr val="C7902B"/>
                </a:solidFill>
              </a:rPr>
              <a:t>   →   </a:t>
            </a:r>
            <a:r>
              <a:rPr lang="en-US" sz="1100" dirty="0">
                <a:solidFill>
                  <a:srgbClr val="2B2B2B"/>
                </a:solidFill>
                <a:latin typeface="Courier New" pitchFamily="34" charset="0"/>
                <a:ea typeface="Courier New" pitchFamily="34" charset="-122"/>
                <a:cs typeface="Courier New" pitchFamily="34" charset="-120"/>
              </a:rPr>
              <a:t>PROCEDURE_OCCURRENCE</a:t>
            </a:r>
            <a:endParaRPr lang="en-US" sz="1250" dirty="0"/>
          </a:p>
        </p:txBody>
      </p:sp>
      <p:sp>
        <p:nvSpPr>
          <p:cNvPr id="16" name="Text 12"/>
          <p:cNvSpPr/>
          <p:nvPr/>
        </p:nvSpPr>
        <p:spPr>
          <a:xfrm>
            <a:off x="640080" y="5120640"/>
            <a:ext cx="5120640" cy="457200"/>
          </a:xfrm>
          <a:prstGeom prst="rect">
            <a:avLst/>
          </a:prstGeom>
          <a:noFill/>
          <a:ln/>
        </p:spPr>
        <p:txBody>
          <a:bodyPr wrap="square" lIns="0" tIns="0" rIns="0" bIns="0" rtlCol="0" anchor="ctr"/>
          <a:lstStyle/>
          <a:p>
            <a:pPr marL="0" indent="0">
              <a:buNone/>
            </a:pPr>
            <a:r>
              <a:rPr lang="en-US" sz="1150" i="1" dirty="0">
                <a:solidFill>
                  <a:srgbClr val="6E6A63"/>
                </a:solidFill>
                <a:latin typeface="Calibri" pitchFamily="34" charset="0"/>
                <a:ea typeface="Calibri" pitchFamily="34" charset="-122"/>
                <a:cs typeface="Calibri" pitchFamily="34" charset="-120"/>
              </a:rPr>
              <a:t>one domain per concept — no ambiguity about the destination table</a:t>
            </a:r>
            <a:endParaRPr lang="en-US" sz="1150" dirty="0"/>
          </a:p>
        </p:txBody>
      </p:sp>
      <p:sp>
        <p:nvSpPr>
          <p:cNvPr id="17" name="Shape 13"/>
          <p:cNvSpPr/>
          <p:nvPr/>
        </p:nvSpPr>
        <p:spPr>
          <a:xfrm>
            <a:off x="6492240" y="169164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8" name="Image 1" descr="preencoded.png"/>
          <p:cNvPicPr>
            <a:picLocks noChangeAspect="1"/>
          </p:cNvPicPr>
          <p:nvPr/>
        </p:nvPicPr>
        <p:blipFill>
          <a:blip r:embed="rId4"/>
          <a:stretch>
            <a:fillRect/>
          </a:stretch>
        </p:blipFill>
        <p:spPr>
          <a:xfrm>
            <a:off x="6640373" y="1839773"/>
            <a:ext cx="252374" cy="252374"/>
          </a:xfrm>
          <a:prstGeom prst="rect">
            <a:avLst/>
          </a:prstGeom>
        </p:spPr>
      </p:pic>
      <p:sp>
        <p:nvSpPr>
          <p:cNvPr id="19" name="Text 14"/>
          <p:cNvSpPr/>
          <p:nvPr/>
        </p:nvSpPr>
        <p:spPr>
          <a:xfrm>
            <a:off x="7223760" y="1691640"/>
            <a:ext cx="4572000" cy="548640"/>
          </a:xfrm>
          <a:prstGeom prst="rect">
            <a:avLst/>
          </a:prstGeom>
          <a:noFill/>
          <a:ln/>
        </p:spPr>
        <p:txBody>
          <a:bodyPr wrap="square" lIns="0" tIns="0" rIns="0" bIns="0" rtlCol="0" anchor="ctr"/>
          <a:lstStyle/>
          <a:p>
            <a:pPr marL="0" indent="0">
              <a:buNone/>
            </a:pPr>
            <a:r>
              <a:rPr lang="en-US" sz="1550" b="1" dirty="0">
                <a:solidFill>
                  <a:srgbClr val="23305F"/>
                </a:solidFill>
                <a:latin typeface="Cambria" pitchFamily="34" charset="0"/>
                <a:ea typeface="Cambria" pitchFamily="34" charset="-122"/>
                <a:cs typeface="Cambria" pitchFamily="34" charset="-120"/>
              </a:rPr>
              <a:t>Hierarchy enables roll-ups</a:t>
            </a:r>
            <a:endParaRPr lang="en-US" sz="1550" dirty="0"/>
          </a:p>
        </p:txBody>
      </p:sp>
      <p:sp>
        <p:nvSpPr>
          <p:cNvPr id="20" name="Shape 15"/>
          <p:cNvSpPr/>
          <p:nvPr/>
        </p:nvSpPr>
        <p:spPr>
          <a:xfrm>
            <a:off x="6583680" y="2468880"/>
            <a:ext cx="4937760" cy="502920"/>
          </a:xfrm>
          <a:prstGeom prst="roundRect">
            <a:avLst>
              <a:gd name="adj" fmla="val 9091"/>
            </a:avLst>
          </a:prstGeom>
          <a:solidFill>
            <a:srgbClr val="F6F2EB"/>
          </a:solidFill>
          <a:ln w="12700">
            <a:solidFill>
              <a:srgbClr val="DAD3C6"/>
            </a:solidFill>
            <a:prstDash val="solid"/>
          </a:ln>
        </p:spPr>
        <p:txBody>
          <a:bodyPr/>
          <a:lstStyle/>
          <a:p>
            <a:endParaRPr lang="en-US"/>
          </a:p>
        </p:txBody>
      </p:sp>
      <p:sp>
        <p:nvSpPr>
          <p:cNvPr id="21" name="Text 16"/>
          <p:cNvSpPr/>
          <p:nvPr/>
        </p:nvSpPr>
        <p:spPr>
          <a:xfrm>
            <a:off x="6720840" y="2468880"/>
            <a:ext cx="4663440" cy="502920"/>
          </a:xfrm>
          <a:prstGeom prst="rect">
            <a:avLst/>
          </a:prstGeom>
          <a:noFill/>
          <a:ln/>
        </p:spPr>
        <p:txBody>
          <a:bodyPr wrap="square" lIns="0" tIns="0" rIns="0" bIns="0" rtlCol="0" anchor="ctr"/>
          <a:lstStyle/>
          <a:p>
            <a:pPr marL="0" indent="0">
              <a:buNone/>
            </a:pPr>
            <a:r>
              <a:rPr lang="en-US" sz="1150" dirty="0">
                <a:solidFill>
                  <a:srgbClr val="2B2B2B"/>
                </a:solidFill>
              </a:rPr>
              <a:t>Disorder of cardiovascular system</a:t>
            </a:r>
            <a:endParaRPr lang="en-US" sz="1150" dirty="0"/>
          </a:p>
        </p:txBody>
      </p:sp>
      <p:sp>
        <p:nvSpPr>
          <p:cNvPr id="22" name="Text 17"/>
          <p:cNvSpPr/>
          <p:nvPr/>
        </p:nvSpPr>
        <p:spPr>
          <a:xfrm>
            <a:off x="6675120" y="3218688"/>
            <a:ext cx="365760" cy="502920"/>
          </a:xfrm>
          <a:prstGeom prst="rect">
            <a:avLst/>
          </a:prstGeom>
          <a:noFill/>
          <a:ln/>
        </p:spPr>
        <p:txBody>
          <a:bodyPr wrap="square" lIns="0" tIns="0" rIns="0" bIns="0" rtlCol="0" anchor="ctr"/>
          <a:lstStyle/>
          <a:p>
            <a:pPr marL="0" indent="0">
              <a:buNone/>
            </a:pPr>
            <a:r>
              <a:rPr lang="en-US" sz="1500" b="1" dirty="0">
                <a:solidFill>
                  <a:srgbClr val="C7902B"/>
                </a:solidFill>
              </a:rPr>
              <a:t>↳</a:t>
            </a:r>
            <a:endParaRPr lang="en-US" sz="1500" dirty="0"/>
          </a:p>
        </p:txBody>
      </p:sp>
      <p:sp>
        <p:nvSpPr>
          <p:cNvPr id="23" name="Shape 18"/>
          <p:cNvSpPr/>
          <p:nvPr/>
        </p:nvSpPr>
        <p:spPr>
          <a:xfrm>
            <a:off x="7086600" y="3218688"/>
            <a:ext cx="4434840" cy="502920"/>
          </a:xfrm>
          <a:prstGeom prst="roundRect">
            <a:avLst>
              <a:gd name="adj" fmla="val 9091"/>
            </a:avLst>
          </a:prstGeom>
          <a:solidFill>
            <a:srgbClr val="FBF2E1"/>
          </a:solidFill>
          <a:ln w="19050">
            <a:solidFill>
              <a:srgbClr val="C7902B"/>
            </a:solidFill>
            <a:prstDash val="solid"/>
          </a:ln>
        </p:spPr>
        <p:txBody>
          <a:bodyPr/>
          <a:lstStyle/>
          <a:p>
            <a:endParaRPr lang="en-US"/>
          </a:p>
        </p:txBody>
      </p:sp>
      <p:sp>
        <p:nvSpPr>
          <p:cNvPr id="24" name="Text 19"/>
          <p:cNvSpPr/>
          <p:nvPr/>
        </p:nvSpPr>
        <p:spPr>
          <a:xfrm>
            <a:off x="7223760" y="3218688"/>
            <a:ext cx="4160520" cy="502920"/>
          </a:xfrm>
          <a:prstGeom prst="rect">
            <a:avLst/>
          </a:prstGeom>
          <a:noFill/>
          <a:ln/>
        </p:spPr>
        <p:txBody>
          <a:bodyPr wrap="square" lIns="0" tIns="0" rIns="0" bIns="0" rtlCol="0" anchor="ctr"/>
          <a:lstStyle/>
          <a:p>
            <a:pPr marL="0" indent="0">
              <a:buNone/>
            </a:pPr>
            <a:r>
              <a:rPr lang="en-US" sz="1150" b="1" dirty="0">
                <a:solidFill>
                  <a:srgbClr val="8A5A12"/>
                </a:solidFill>
              </a:rPr>
              <a:t>Hypertensive disorder</a:t>
            </a:r>
            <a:r>
              <a:rPr lang="en-US" sz="950" i="1" dirty="0">
                <a:solidFill>
                  <a:srgbClr val="6E6A63"/>
                </a:solidFill>
              </a:rPr>
              <a:t>   "Is a"</a:t>
            </a:r>
            <a:endParaRPr lang="en-US" sz="1150" dirty="0"/>
          </a:p>
        </p:txBody>
      </p:sp>
      <p:sp>
        <p:nvSpPr>
          <p:cNvPr id="25" name="Text 20"/>
          <p:cNvSpPr/>
          <p:nvPr/>
        </p:nvSpPr>
        <p:spPr>
          <a:xfrm>
            <a:off x="7178040" y="3968496"/>
            <a:ext cx="365760" cy="502920"/>
          </a:xfrm>
          <a:prstGeom prst="rect">
            <a:avLst/>
          </a:prstGeom>
          <a:noFill/>
          <a:ln/>
        </p:spPr>
        <p:txBody>
          <a:bodyPr wrap="square" lIns="0" tIns="0" rIns="0" bIns="0" rtlCol="0" anchor="ctr"/>
          <a:lstStyle/>
          <a:p>
            <a:pPr marL="0" indent="0">
              <a:buNone/>
            </a:pPr>
            <a:r>
              <a:rPr lang="en-US" sz="1500" b="1" dirty="0">
                <a:solidFill>
                  <a:srgbClr val="C7902B"/>
                </a:solidFill>
              </a:rPr>
              <a:t>↳</a:t>
            </a:r>
            <a:endParaRPr lang="en-US" sz="1500" dirty="0"/>
          </a:p>
        </p:txBody>
      </p:sp>
      <p:sp>
        <p:nvSpPr>
          <p:cNvPr id="26" name="Shape 21"/>
          <p:cNvSpPr/>
          <p:nvPr/>
        </p:nvSpPr>
        <p:spPr>
          <a:xfrm>
            <a:off x="7589520" y="3968496"/>
            <a:ext cx="3931920" cy="502920"/>
          </a:xfrm>
          <a:prstGeom prst="roundRect">
            <a:avLst>
              <a:gd name="adj" fmla="val 9091"/>
            </a:avLst>
          </a:prstGeom>
          <a:solidFill>
            <a:srgbClr val="F6F2EB"/>
          </a:solidFill>
          <a:ln w="12700">
            <a:solidFill>
              <a:srgbClr val="DAD3C6"/>
            </a:solidFill>
            <a:prstDash val="solid"/>
          </a:ln>
        </p:spPr>
        <p:txBody>
          <a:bodyPr/>
          <a:lstStyle/>
          <a:p>
            <a:endParaRPr lang="en-US"/>
          </a:p>
        </p:txBody>
      </p:sp>
      <p:sp>
        <p:nvSpPr>
          <p:cNvPr id="27" name="Text 22"/>
          <p:cNvSpPr/>
          <p:nvPr/>
        </p:nvSpPr>
        <p:spPr>
          <a:xfrm>
            <a:off x="7726680" y="3968496"/>
            <a:ext cx="3657600" cy="502920"/>
          </a:xfrm>
          <a:prstGeom prst="rect">
            <a:avLst/>
          </a:prstGeom>
          <a:noFill/>
          <a:ln/>
        </p:spPr>
        <p:txBody>
          <a:bodyPr wrap="square" lIns="0" tIns="0" rIns="0" bIns="0" rtlCol="0" anchor="ctr"/>
          <a:lstStyle/>
          <a:p>
            <a:pPr marL="0" indent="0">
              <a:buNone/>
            </a:pPr>
            <a:r>
              <a:rPr lang="en-US" sz="1150" dirty="0">
                <a:solidFill>
                  <a:srgbClr val="2B2B2B"/>
                </a:solidFill>
              </a:rPr>
              <a:t>Essential hypertension</a:t>
            </a:r>
            <a:r>
              <a:rPr lang="en-US" sz="950" i="1" dirty="0">
                <a:solidFill>
                  <a:srgbClr val="6E6A63"/>
                </a:solidFill>
              </a:rPr>
              <a:t>   "Is a"</a:t>
            </a:r>
            <a:endParaRPr lang="en-US" sz="1150" dirty="0"/>
          </a:p>
        </p:txBody>
      </p:sp>
      <p:sp>
        <p:nvSpPr>
          <p:cNvPr id="28" name="Text 23"/>
          <p:cNvSpPr/>
          <p:nvPr/>
        </p:nvSpPr>
        <p:spPr>
          <a:xfrm>
            <a:off x="6492240" y="4892040"/>
            <a:ext cx="5120640" cy="1371600"/>
          </a:xfrm>
          <a:prstGeom prst="rect">
            <a:avLst/>
          </a:prstGeom>
          <a:noFill/>
          <a:ln/>
        </p:spPr>
        <p:txBody>
          <a:bodyPr wrap="square" lIns="0" tIns="0" rIns="0" bIns="0" rtlCol="0" anchor="ctr"/>
          <a:lstStyle/>
          <a:p>
            <a:pPr marL="0" indent="0">
              <a:lnSpc>
                <a:spcPct val="105000"/>
              </a:lnSpc>
              <a:buNone/>
            </a:pPr>
            <a:r>
              <a:rPr lang="en-US" sz="1200" b="1" dirty="0">
                <a:solidFill>
                  <a:srgbClr val="23305F"/>
                </a:solidFill>
                <a:latin typeface="Calibri" pitchFamily="34" charset="0"/>
                <a:ea typeface="Calibri" pitchFamily="34" charset="-122"/>
                <a:cs typeface="Calibri" pitchFamily="34" charset="-120"/>
              </a:rPr>
              <a:t>Query a parent, get every descendant. </a:t>
            </a:r>
            <a:r>
              <a:rPr lang="en-US" sz="1200" dirty="0">
                <a:solidFill>
                  <a:srgbClr val="6E6A63"/>
                </a:solidFill>
                <a:latin typeface="Calibri" pitchFamily="34" charset="0"/>
                <a:ea typeface="Calibri" pitchFamily="34" charset="-122"/>
                <a:cs typeface="Calibri" pitchFamily="34" charset="-120"/>
              </a:rPr>
              <a:t>CONCEPT_ANCESTOR turns one query into a whole subtree — and "Maps to" / "Concept replaced by" keep source links and deprecations honest.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COMET: the bridge</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Two streams flow in, people map in the middle, one clean stream flows out</a:t>
            </a:r>
            <a:endParaRPr lang="en-US" sz="1450" dirty="0"/>
          </a:p>
        </p:txBody>
      </p:sp>
      <p:sp>
        <p:nvSpPr>
          <p:cNvPr id="5" name="Shape 2"/>
          <p:cNvSpPr/>
          <p:nvPr/>
        </p:nvSpPr>
        <p:spPr>
          <a:xfrm>
            <a:off x="640080" y="1874520"/>
            <a:ext cx="2103120" cy="960120"/>
          </a:xfrm>
          <a:prstGeom prst="roundRect">
            <a:avLst>
              <a:gd name="adj" fmla="val 7619"/>
            </a:avLst>
          </a:prstGeom>
          <a:solidFill>
            <a:srgbClr val="EDEFF7"/>
          </a:solidFill>
          <a:ln w="19050">
            <a:solidFill>
              <a:srgbClr val="23305F"/>
            </a:solidFill>
            <a:prstDash val="solid"/>
          </a:ln>
          <a:effectLst>
            <a:outerShdw blurRad="76200" dist="25400" dir="5400000" algn="bl" rotWithShape="0">
              <a:srgbClr val="000000">
                <a:alpha val="14000"/>
              </a:srgbClr>
            </a:outerShdw>
          </a:effectLst>
        </p:spPr>
        <p:txBody>
          <a:bodyPr/>
          <a:lstStyle/>
          <a:p>
            <a:endParaRPr lang="en-US"/>
          </a:p>
        </p:txBody>
      </p:sp>
      <p:sp>
        <p:nvSpPr>
          <p:cNvPr id="6" name="Text 3"/>
          <p:cNvSpPr/>
          <p:nvPr/>
        </p:nvSpPr>
        <p:spPr>
          <a:xfrm>
            <a:off x="731520" y="1874520"/>
            <a:ext cx="1920240" cy="960120"/>
          </a:xfrm>
          <a:prstGeom prst="rect">
            <a:avLst/>
          </a:prstGeom>
          <a:noFill/>
          <a:ln/>
        </p:spPr>
        <p:txBody>
          <a:bodyPr wrap="square" lIns="0" tIns="0" rIns="0" bIns="0" rtlCol="0" anchor="ctr"/>
          <a:lstStyle/>
          <a:p>
            <a:pPr marL="0" indent="0" algn="ctr">
              <a:buNone/>
            </a:pPr>
            <a:r>
              <a:rPr lang="en-US" sz="1500" b="1" dirty="0">
                <a:solidFill>
                  <a:srgbClr val="23305F"/>
                </a:solidFill>
              </a:rPr>
              <a:t>Athena</a:t>
            </a:r>
            <a:endParaRPr lang="en-US" sz="1500" dirty="0"/>
          </a:p>
          <a:p>
            <a:pPr marL="0" indent="0" algn="ctr">
              <a:buNone/>
            </a:pPr>
            <a:r>
              <a:rPr lang="en-US" sz="1100" dirty="0">
                <a:solidFill>
                  <a:srgbClr val="6E6A63"/>
                </a:solidFill>
              </a:rPr>
              <a:t>OMOP vocabulary</a:t>
            </a:r>
            <a:endParaRPr lang="en-US" sz="1500" dirty="0"/>
          </a:p>
        </p:txBody>
      </p:sp>
      <p:sp>
        <p:nvSpPr>
          <p:cNvPr id="7" name="Shape 4"/>
          <p:cNvSpPr/>
          <p:nvPr/>
        </p:nvSpPr>
        <p:spPr>
          <a:xfrm>
            <a:off x="640080" y="3383280"/>
            <a:ext cx="2103120" cy="960120"/>
          </a:xfrm>
          <a:prstGeom prst="roundRect">
            <a:avLst>
              <a:gd name="adj" fmla="val 7619"/>
            </a:avLst>
          </a:prstGeom>
          <a:solidFill>
            <a:srgbClr val="EDEFF7"/>
          </a:solidFill>
          <a:ln w="19050">
            <a:solidFill>
              <a:srgbClr val="23305F"/>
            </a:solidFill>
            <a:prstDash val="solid"/>
          </a:ln>
          <a:effectLst>
            <a:outerShdw blurRad="76200" dist="25400" dir="5400000" algn="bl" rotWithShape="0">
              <a:srgbClr val="000000">
                <a:alpha val="14000"/>
              </a:srgbClr>
            </a:outerShdw>
          </a:effectLst>
        </p:spPr>
        <p:txBody>
          <a:bodyPr/>
          <a:lstStyle/>
          <a:p>
            <a:endParaRPr lang="en-US"/>
          </a:p>
        </p:txBody>
      </p:sp>
      <p:sp>
        <p:nvSpPr>
          <p:cNvPr id="8" name="Text 5"/>
          <p:cNvSpPr/>
          <p:nvPr/>
        </p:nvSpPr>
        <p:spPr>
          <a:xfrm>
            <a:off x="731520" y="3383280"/>
            <a:ext cx="1920240" cy="960120"/>
          </a:xfrm>
          <a:prstGeom prst="rect">
            <a:avLst/>
          </a:prstGeom>
          <a:noFill/>
          <a:ln/>
        </p:spPr>
        <p:txBody>
          <a:bodyPr wrap="square" lIns="0" tIns="0" rIns="0" bIns="0" rtlCol="0" anchor="ctr"/>
          <a:lstStyle/>
          <a:p>
            <a:pPr marL="0" indent="0" algn="ctr">
              <a:buNone/>
            </a:pPr>
            <a:r>
              <a:rPr lang="en-US" sz="1500" b="1" dirty="0">
                <a:solidFill>
                  <a:srgbClr val="23305F"/>
                </a:solidFill>
              </a:rPr>
              <a:t>Cerner</a:t>
            </a:r>
            <a:endParaRPr lang="en-US" sz="1500" dirty="0"/>
          </a:p>
          <a:p>
            <a:pPr marL="0" indent="0" algn="ctr">
              <a:buNone/>
            </a:pPr>
            <a:r>
              <a:rPr lang="en-US" sz="1100" dirty="0">
                <a:solidFill>
                  <a:srgbClr val="6E6A63"/>
                </a:solidFill>
              </a:rPr>
              <a:t>MappingReports</a:t>
            </a:r>
            <a:endParaRPr lang="en-US" sz="1500" dirty="0"/>
          </a:p>
        </p:txBody>
      </p:sp>
      <p:sp>
        <p:nvSpPr>
          <p:cNvPr id="9" name="Shape 6"/>
          <p:cNvSpPr/>
          <p:nvPr/>
        </p:nvSpPr>
        <p:spPr>
          <a:xfrm>
            <a:off x="3977640" y="1965960"/>
            <a:ext cx="2834640" cy="2286000"/>
          </a:xfrm>
          <a:prstGeom prst="roundRect">
            <a:avLst>
              <a:gd name="adj" fmla="val 4000"/>
            </a:avLst>
          </a:prstGeom>
          <a:solidFill>
            <a:srgbClr val="2A2013"/>
          </a:solidFill>
          <a:ln/>
          <a:effectLst>
            <a:outerShdw blurRad="114300" dist="38100" dir="5400000" algn="bl" rotWithShape="0">
              <a:srgbClr val="000000">
                <a:alpha val="25000"/>
              </a:srgbClr>
            </a:outerShdw>
          </a:effectLst>
        </p:spPr>
        <p:txBody>
          <a:bodyPr/>
          <a:lstStyle/>
          <a:p>
            <a:endParaRPr lang="en-US"/>
          </a:p>
        </p:txBody>
      </p:sp>
      <p:sp>
        <p:nvSpPr>
          <p:cNvPr id="10" name="Shape 7"/>
          <p:cNvSpPr/>
          <p:nvPr/>
        </p:nvSpPr>
        <p:spPr>
          <a:xfrm>
            <a:off x="5074920" y="2148840"/>
            <a:ext cx="640080" cy="640080"/>
          </a:xfrm>
          <a:prstGeom prst="ellipse">
            <a:avLst/>
          </a:prstGeom>
          <a:solidFill>
            <a:srgbClr val="C7902B"/>
          </a:solidFill>
          <a:ln/>
          <a:effectLst>
            <a:outerShdw blurRad="63500" dist="25400" dir="5400000" algn="bl" rotWithShape="0">
              <a:srgbClr val="000000">
                <a:alpha val="18000"/>
              </a:srgbClr>
            </a:outerShdw>
          </a:effectLst>
        </p:spPr>
        <p:txBody>
          <a:bodyPr/>
          <a:lstStyle/>
          <a:p>
            <a:endParaRPr lang="en-US"/>
          </a:p>
        </p:txBody>
      </p:sp>
      <p:pic>
        <p:nvPicPr>
          <p:cNvPr id="11" name="Image 0" descr="preencoded.png"/>
          <p:cNvPicPr>
            <a:picLocks noChangeAspect="1"/>
          </p:cNvPicPr>
          <p:nvPr/>
        </p:nvPicPr>
        <p:blipFill>
          <a:blip r:embed="rId3"/>
          <a:stretch>
            <a:fillRect/>
          </a:stretch>
        </p:blipFill>
        <p:spPr>
          <a:xfrm>
            <a:off x="5247742" y="2321662"/>
            <a:ext cx="294437" cy="294437"/>
          </a:xfrm>
          <a:prstGeom prst="rect">
            <a:avLst/>
          </a:prstGeom>
        </p:spPr>
      </p:pic>
      <p:sp>
        <p:nvSpPr>
          <p:cNvPr id="12" name="Text 8"/>
          <p:cNvSpPr/>
          <p:nvPr/>
        </p:nvSpPr>
        <p:spPr>
          <a:xfrm>
            <a:off x="3977640" y="2788920"/>
            <a:ext cx="28346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COMET</a:t>
            </a:r>
            <a:endParaRPr lang="en-US" sz="2200" dirty="0"/>
          </a:p>
        </p:txBody>
      </p:sp>
      <p:sp>
        <p:nvSpPr>
          <p:cNvPr id="13" name="Text 9"/>
          <p:cNvSpPr/>
          <p:nvPr/>
        </p:nvSpPr>
        <p:spPr>
          <a:xfrm>
            <a:off x="3977640" y="3246120"/>
            <a:ext cx="2834640" cy="822960"/>
          </a:xfrm>
          <a:prstGeom prst="rect">
            <a:avLst/>
          </a:prstGeom>
          <a:noFill/>
          <a:ln/>
        </p:spPr>
        <p:txBody>
          <a:bodyPr wrap="square" lIns="0" tIns="0" rIns="0" bIns="0" rtlCol="0" anchor="ctr"/>
          <a:lstStyle/>
          <a:p>
            <a:pPr marL="0" indent="0" algn="ctr">
              <a:buNone/>
            </a:pPr>
            <a:r>
              <a:rPr lang="en-US" sz="1250" dirty="0">
                <a:solidFill>
                  <a:srgbClr val="F1E7D6"/>
                </a:solidFill>
              </a:rPr>
              <a:t>search · guardrails</a:t>
            </a:r>
            <a:endParaRPr lang="en-US" sz="1250" dirty="0"/>
          </a:p>
          <a:p>
            <a:pPr marL="0" indent="0" algn="ctr">
              <a:buNone/>
            </a:pPr>
            <a:r>
              <a:rPr lang="en-US" sz="1250" dirty="0">
                <a:solidFill>
                  <a:srgbClr val="F1E7D6"/>
                </a:solidFill>
              </a:rPr>
              <a:t>map · review</a:t>
            </a:r>
            <a:endParaRPr lang="en-US" sz="1250" dirty="0"/>
          </a:p>
        </p:txBody>
      </p:sp>
      <p:sp>
        <p:nvSpPr>
          <p:cNvPr id="14" name="Shape 10"/>
          <p:cNvSpPr/>
          <p:nvPr/>
        </p:nvSpPr>
        <p:spPr>
          <a:xfrm>
            <a:off x="8001000" y="2331720"/>
            <a:ext cx="1828800" cy="960120"/>
          </a:xfrm>
          <a:prstGeom prst="roundRect">
            <a:avLst>
              <a:gd name="adj" fmla="val 7619"/>
            </a:avLst>
          </a:prstGeom>
          <a:solidFill>
            <a:srgbClr val="E7F1E7"/>
          </a:solidFill>
          <a:ln w="19050">
            <a:solidFill>
              <a:srgbClr val="2E7D32"/>
            </a:solidFill>
            <a:prstDash val="solid"/>
          </a:ln>
          <a:effectLst>
            <a:outerShdw blurRad="76200" dist="25400" dir="5400000" algn="bl" rotWithShape="0">
              <a:srgbClr val="000000">
                <a:alpha val="14000"/>
              </a:srgbClr>
            </a:outerShdw>
          </a:effectLst>
        </p:spPr>
        <p:txBody>
          <a:bodyPr/>
          <a:lstStyle/>
          <a:p>
            <a:endParaRPr lang="en-US"/>
          </a:p>
        </p:txBody>
      </p:sp>
      <p:sp>
        <p:nvSpPr>
          <p:cNvPr id="15" name="Text 11"/>
          <p:cNvSpPr/>
          <p:nvPr/>
        </p:nvSpPr>
        <p:spPr>
          <a:xfrm>
            <a:off x="8092440" y="2331720"/>
            <a:ext cx="1645920" cy="960120"/>
          </a:xfrm>
          <a:prstGeom prst="rect">
            <a:avLst/>
          </a:prstGeom>
          <a:noFill/>
          <a:ln/>
        </p:spPr>
        <p:txBody>
          <a:bodyPr wrap="square" lIns="0" tIns="0" rIns="0" bIns="0" rtlCol="0" anchor="ctr"/>
          <a:lstStyle/>
          <a:p>
            <a:pPr marL="0" indent="0" algn="ctr">
              <a:buNone/>
            </a:pPr>
            <a:r>
              <a:rPr lang="en-US" sz="1500" b="1" dirty="0">
                <a:solidFill>
                  <a:srgbClr val="2E7D32"/>
                </a:solidFill>
              </a:rPr>
              <a:t>STCM</a:t>
            </a:r>
            <a:endParaRPr lang="en-US" sz="1500" dirty="0"/>
          </a:p>
          <a:p>
            <a:pPr marL="0" indent="0" algn="ctr">
              <a:buNone/>
            </a:pPr>
            <a:r>
              <a:rPr lang="en-US" sz="1100" dirty="0">
                <a:solidFill>
                  <a:srgbClr val="6E6A63"/>
                </a:solidFill>
              </a:rPr>
              <a:t>+ releases</a:t>
            </a:r>
            <a:endParaRPr lang="en-US" sz="1500" dirty="0"/>
          </a:p>
        </p:txBody>
      </p:sp>
      <p:sp>
        <p:nvSpPr>
          <p:cNvPr id="16" name="Shape 12"/>
          <p:cNvSpPr/>
          <p:nvPr/>
        </p:nvSpPr>
        <p:spPr>
          <a:xfrm>
            <a:off x="10104120" y="2331720"/>
            <a:ext cx="1463040" cy="960120"/>
          </a:xfrm>
          <a:prstGeom prst="roundRect">
            <a:avLst>
              <a:gd name="adj" fmla="val 7619"/>
            </a:avLst>
          </a:prstGeom>
          <a:solidFill>
            <a:srgbClr val="F6F2EB"/>
          </a:solidFill>
          <a:ln w="19050">
            <a:solidFill>
              <a:srgbClr val="6E6A63"/>
            </a:solidFill>
            <a:prstDash val="solid"/>
          </a:ln>
          <a:effectLst>
            <a:outerShdw blurRad="76200" dist="25400" dir="5400000" algn="bl" rotWithShape="0">
              <a:srgbClr val="000000">
                <a:alpha val="14000"/>
              </a:srgbClr>
            </a:outerShdw>
          </a:effectLst>
        </p:spPr>
        <p:txBody>
          <a:bodyPr/>
          <a:lstStyle/>
          <a:p>
            <a:endParaRPr lang="en-US"/>
          </a:p>
        </p:txBody>
      </p:sp>
      <p:sp>
        <p:nvSpPr>
          <p:cNvPr id="17" name="Text 13"/>
          <p:cNvSpPr/>
          <p:nvPr/>
        </p:nvSpPr>
        <p:spPr>
          <a:xfrm>
            <a:off x="10195560" y="2331720"/>
            <a:ext cx="1280160" cy="960120"/>
          </a:xfrm>
          <a:prstGeom prst="rect">
            <a:avLst/>
          </a:prstGeom>
          <a:noFill/>
          <a:ln/>
        </p:spPr>
        <p:txBody>
          <a:bodyPr wrap="square" lIns="0" tIns="0" rIns="0" bIns="0" rtlCol="0" anchor="ctr"/>
          <a:lstStyle/>
          <a:p>
            <a:pPr marL="0" indent="0" algn="ctr">
              <a:buNone/>
            </a:pPr>
            <a:r>
              <a:rPr lang="en-US" sz="1350" b="1" dirty="0">
                <a:solidFill>
                  <a:srgbClr val="2B2B2B"/>
                </a:solidFill>
              </a:rPr>
              <a:t>OMOP CDM</a:t>
            </a:r>
            <a:endParaRPr lang="en-US" sz="1350" dirty="0"/>
          </a:p>
          <a:p>
            <a:pPr marL="0" indent="0" algn="ctr">
              <a:buNone/>
            </a:pPr>
            <a:r>
              <a:rPr lang="en-US" sz="1100" dirty="0">
                <a:solidFill>
                  <a:srgbClr val="6E6A63"/>
                </a:solidFill>
              </a:rPr>
              <a:t>analyzable</a:t>
            </a:r>
            <a:endParaRPr lang="en-US" sz="1350" dirty="0"/>
          </a:p>
        </p:txBody>
      </p:sp>
      <p:sp>
        <p:nvSpPr>
          <p:cNvPr id="18" name="Shape 14"/>
          <p:cNvSpPr/>
          <p:nvPr/>
        </p:nvSpPr>
        <p:spPr>
          <a:xfrm>
            <a:off x="2788920" y="2244852"/>
            <a:ext cx="1097280" cy="219456"/>
          </a:xfrm>
          <a:prstGeom prst="rightArrow">
            <a:avLst/>
          </a:prstGeom>
          <a:solidFill>
            <a:srgbClr val="C7902B"/>
          </a:solidFill>
          <a:ln/>
        </p:spPr>
        <p:txBody>
          <a:bodyPr/>
          <a:lstStyle/>
          <a:p>
            <a:endParaRPr lang="en-US"/>
          </a:p>
        </p:txBody>
      </p:sp>
      <p:sp>
        <p:nvSpPr>
          <p:cNvPr id="19" name="Shape 15"/>
          <p:cNvSpPr/>
          <p:nvPr/>
        </p:nvSpPr>
        <p:spPr>
          <a:xfrm>
            <a:off x="2788920" y="3753612"/>
            <a:ext cx="1097280" cy="219456"/>
          </a:xfrm>
          <a:prstGeom prst="rightArrow">
            <a:avLst/>
          </a:prstGeom>
          <a:solidFill>
            <a:srgbClr val="C7902B"/>
          </a:solidFill>
          <a:ln/>
        </p:spPr>
        <p:txBody>
          <a:bodyPr/>
          <a:lstStyle/>
          <a:p>
            <a:endParaRPr lang="en-US"/>
          </a:p>
        </p:txBody>
      </p:sp>
      <p:sp>
        <p:nvSpPr>
          <p:cNvPr id="20" name="Shape 16"/>
          <p:cNvSpPr/>
          <p:nvPr/>
        </p:nvSpPr>
        <p:spPr>
          <a:xfrm>
            <a:off x="6858000" y="2702052"/>
            <a:ext cx="1051560" cy="219456"/>
          </a:xfrm>
          <a:prstGeom prst="rightArrow">
            <a:avLst/>
          </a:prstGeom>
          <a:solidFill>
            <a:srgbClr val="C7902B"/>
          </a:solidFill>
          <a:ln/>
        </p:spPr>
        <p:txBody>
          <a:bodyPr/>
          <a:lstStyle/>
          <a:p>
            <a:endParaRPr lang="en-US"/>
          </a:p>
        </p:txBody>
      </p:sp>
      <p:sp>
        <p:nvSpPr>
          <p:cNvPr id="21" name="Shape 17"/>
          <p:cNvSpPr/>
          <p:nvPr/>
        </p:nvSpPr>
        <p:spPr>
          <a:xfrm>
            <a:off x="9875520" y="2779776"/>
            <a:ext cx="182880" cy="64008"/>
          </a:xfrm>
          <a:prstGeom prst="rightArrow">
            <a:avLst/>
          </a:prstGeom>
          <a:solidFill>
            <a:srgbClr val="C7902B"/>
          </a:solidFill>
          <a:ln/>
        </p:spPr>
        <p:txBody>
          <a:bodyPr/>
          <a:lstStyle/>
          <a:p>
            <a:endParaRPr lang="en-US"/>
          </a:p>
        </p:txBody>
      </p:sp>
      <p:sp>
        <p:nvSpPr>
          <p:cNvPr id="22" name="Text 18"/>
          <p:cNvSpPr/>
          <p:nvPr/>
        </p:nvSpPr>
        <p:spPr>
          <a:xfrm>
            <a:off x="640080" y="5074920"/>
            <a:ext cx="10881360" cy="822960"/>
          </a:xfrm>
          <a:prstGeom prst="rect">
            <a:avLst/>
          </a:prstGeom>
          <a:noFill/>
          <a:ln/>
        </p:spPr>
        <p:txBody>
          <a:bodyPr wrap="square" lIns="0" tIns="0" rIns="0" bIns="0" rtlCol="0" anchor="ctr"/>
          <a:lstStyle/>
          <a:p>
            <a:pPr marL="0" indent="0" algn="ctr">
              <a:buNone/>
            </a:pPr>
            <a:r>
              <a:rPr lang="en-US" sz="1500" b="1" dirty="0">
                <a:solidFill>
                  <a:srgbClr val="23305F"/>
                </a:solidFill>
                <a:latin typeface="Calibri" pitchFamily="34" charset="0"/>
                <a:ea typeface="Calibri" pitchFamily="34" charset="-122"/>
                <a:cs typeface="Calibri" pitchFamily="34" charset="-120"/>
              </a:rPr>
              <a:t>Human-in-the-loop by design.  </a:t>
            </a:r>
            <a:r>
              <a:rPr lang="en-US" sz="1500" dirty="0">
                <a:solidFill>
                  <a:srgbClr val="6E6A63"/>
                </a:solidFill>
                <a:latin typeface="Calibri" pitchFamily="34" charset="0"/>
                <a:ea typeface="Calibri" pitchFamily="34" charset="-122"/>
                <a:cs typeface="Calibri" pitchFamily="34" charset="-120"/>
              </a:rPr>
              <a:t>COMET never writes a map on its own — it is a shared web app (Laravel + PostgreSQL) that accelerates expert judgement and records every decision.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SOURCE_TO_CONCEPT_MAP: the key the ETL turns</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COMET's export isn't the destination — it's the lookup that populates the CDM</a:t>
            </a:r>
            <a:endParaRPr lang="en-US" sz="1450" dirty="0"/>
          </a:p>
        </p:txBody>
      </p:sp>
      <p:sp>
        <p:nvSpPr>
          <p:cNvPr id="5" name="Shape 2"/>
          <p:cNvSpPr/>
          <p:nvPr/>
        </p:nvSpPr>
        <p:spPr>
          <a:xfrm>
            <a:off x="594360" y="1645920"/>
            <a:ext cx="3246120" cy="1463040"/>
          </a:xfrm>
          <a:prstGeom prst="roundRect">
            <a:avLst>
              <a:gd name="adj" fmla="val 5000"/>
            </a:avLst>
          </a:prstGeom>
          <a:solidFill>
            <a:srgbClr val="EDEFF7"/>
          </a:solidFill>
          <a:ln w="19050">
            <a:solidFill>
              <a:srgbClr val="23305F"/>
            </a:solidFill>
            <a:prstDash val="solid"/>
          </a:ln>
          <a:effectLst>
            <a:outerShdw blurRad="76200" dist="25400" dir="5400000" algn="bl" rotWithShape="0">
              <a:srgbClr val="000000">
                <a:alpha val="14000"/>
              </a:srgbClr>
            </a:outerShdw>
          </a:effectLst>
        </p:spPr>
        <p:txBody>
          <a:bodyPr/>
          <a:lstStyle/>
          <a:p>
            <a:endParaRPr lang="en-US"/>
          </a:p>
        </p:txBody>
      </p:sp>
      <p:sp>
        <p:nvSpPr>
          <p:cNvPr id="6" name="Text 3"/>
          <p:cNvSpPr/>
          <p:nvPr/>
        </p:nvSpPr>
        <p:spPr>
          <a:xfrm>
            <a:off x="685800" y="1645920"/>
            <a:ext cx="3063240" cy="1463040"/>
          </a:xfrm>
          <a:prstGeom prst="rect">
            <a:avLst/>
          </a:prstGeom>
          <a:noFill/>
          <a:ln/>
        </p:spPr>
        <p:txBody>
          <a:bodyPr wrap="square" lIns="0" tIns="0" rIns="0" bIns="0" rtlCol="0" anchor="ctr"/>
          <a:lstStyle/>
          <a:p>
            <a:pPr marL="0" indent="0" algn="ctr">
              <a:buNone/>
            </a:pPr>
            <a:r>
              <a:rPr lang="en-US" sz="1350" b="1" dirty="0">
                <a:solidFill>
                  <a:srgbClr val="23305F"/>
                </a:solidFill>
              </a:rPr>
              <a:t>Raw Cerner event</a:t>
            </a:r>
            <a:endParaRPr lang="en-US" sz="1350" dirty="0"/>
          </a:p>
          <a:p>
            <a:pPr marL="0" indent="0" algn="ctr">
              <a:buNone/>
            </a:pPr>
            <a:r>
              <a:rPr lang="en-US" sz="1150" dirty="0">
                <a:solidFill>
                  <a:srgbClr val="6E6A63"/>
                </a:solidFill>
              </a:rPr>
              <a:t>code </a:t>
            </a:r>
            <a:r>
              <a:rPr lang="en-US" sz="1150" b="1" dirty="0">
                <a:solidFill>
                  <a:srgbClr val="2B2B2B"/>
                </a:solidFill>
                <a:latin typeface="Courier New" pitchFamily="34" charset="0"/>
                <a:ea typeface="Courier New" pitchFamily="34" charset="-122"/>
                <a:cs typeface="Courier New" pitchFamily="34" charset="-120"/>
              </a:rPr>
              <a:t>273564275</a:t>
            </a:r>
            <a:endParaRPr lang="en-US" sz="1350" dirty="0"/>
          </a:p>
          <a:p>
            <a:pPr marL="0" indent="0" algn="ctr">
              <a:buNone/>
            </a:pPr>
            <a:r>
              <a:rPr lang="en-US" sz="1150" i="1" dirty="0">
                <a:solidFill>
                  <a:srgbClr val="6E6A63"/>
                </a:solidFill>
              </a:rPr>
              <a:t>"Hypertension"</a:t>
            </a:r>
            <a:endParaRPr lang="en-US" sz="1350" dirty="0"/>
          </a:p>
        </p:txBody>
      </p:sp>
      <p:sp>
        <p:nvSpPr>
          <p:cNvPr id="7" name="Shape 4"/>
          <p:cNvSpPr/>
          <p:nvPr/>
        </p:nvSpPr>
        <p:spPr>
          <a:xfrm>
            <a:off x="4480560" y="1645920"/>
            <a:ext cx="3246120" cy="1463040"/>
          </a:xfrm>
          <a:prstGeom prst="roundRect">
            <a:avLst>
              <a:gd name="adj" fmla="val 5000"/>
            </a:avLst>
          </a:prstGeom>
          <a:solidFill>
            <a:srgbClr val="FBF2E1"/>
          </a:solidFill>
          <a:ln w="25400">
            <a:solidFill>
              <a:srgbClr val="C7902B"/>
            </a:solidFill>
            <a:prstDash val="solid"/>
          </a:ln>
          <a:effectLst>
            <a:outerShdw blurRad="88900" dist="25400" dir="5400000" algn="bl" rotWithShape="0">
              <a:srgbClr val="000000">
                <a:alpha val="16000"/>
              </a:srgbClr>
            </a:outerShdw>
          </a:effectLst>
        </p:spPr>
        <p:txBody>
          <a:bodyPr/>
          <a:lstStyle/>
          <a:p>
            <a:endParaRPr lang="en-US"/>
          </a:p>
        </p:txBody>
      </p:sp>
      <p:sp>
        <p:nvSpPr>
          <p:cNvPr id="8" name="Text 5"/>
          <p:cNvSpPr/>
          <p:nvPr/>
        </p:nvSpPr>
        <p:spPr>
          <a:xfrm>
            <a:off x="4480560" y="1645920"/>
            <a:ext cx="3246120" cy="1463040"/>
          </a:xfrm>
          <a:prstGeom prst="rect">
            <a:avLst/>
          </a:prstGeom>
          <a:noFill/>
          <a:ln/>
        </p:spPr>
        <p:txBody>
          <a:bodyPr wrap="square" lIns="76200" tIns="76200" rIns="76200" bIns="76200" rtlCol="0" anchor="ctr"/>
          <a:lstStyle/>
          <a:p>
            <a:pPr marL="0" indent="0" algn="ctr">
              <a:spcAft>
                <a:spcPts val="300"/>
              </a:spcAft>
              <a:buNone/>
            </a:pPr>
            <a:r>
              <a:rPr lang="en-US" sz="1250" b="1" dirty="0">
                <a:solidFill>
                  <a:srgbClr val="8A5A12"/>
                </a:solidFill>
              </a:rPr>
              <a:t>SOURCE_TO_CONCEPT_MAP</a:t>
            </a:r>
            <a:endParaRPr lang="en-US" sz="1250" dirty="0"/>
          </a:p>
          <a:p>
            <a:pPr marL="0" indent="0" algn="ctr">
              <a:buNone/>
            </a:pPr>
            <a:r>
              <a:rPr lang="en-US" sz="1150" dirty="0">
                <a:solidFill>
                  <a:srgbClr val="6E6A63"/>
                </a:solidFill>
              </a:rPr>
              <a:t>join on source_code →
</a:t>
            </a:r>
            <a:r>
              <a:rPr lang="en-US" sz="1200" b="1" dirty="0">
                <a:solidFill>
                  <a:srgbClr val="2B2B2B"/>
                </a:solidFill>
              </a:rPr>
              <a:t>target_concept_id 316866</a:t>
            </a:r>
            <a:endParaRPr lang="en-US" sz="1250" dirty="0"/>
          </a:p>
        </p:txBody>
      </p:sp>
      <p:sp>
        <p:nvSpPr>
          <p:cNvPr id="9" name="Shape 6"/>
          <p:cNvSpPr/>
          <p:nvPr/>
        </p:nvSpPr>
        <p:spPr>
          <a:xfrm>
            <a:off x="8366760" y="1645920"/>
            <a:ext cx="3246120" cy="1463040"/>
          </a:xfrm>
          <a:prstGeom prst="roundRect">
            <a:avLst>
              <a:gd name="adj" fmla="val 5000"/>
            </a:avLst>
          </a:prstGeom>
          <a:solidFill>
            <a:srgbClr val="E7F1E7"/>
          </a:solidFill>
          <a:ln w="19050">
            <a:solidFill>
              <a:srgbClr val="2E7D32"/>
            </a:solidFill>
            <a:prstDash val="solid"/>
          </a:ln>
          <a:effectLst>
            <a:outerShdw blurRad="76200" dist="25400" dir="5400000" algn="bl" rotWithShape="0">
              <a:srgbClr val="000000">
                <a:alpha val="14000"/>
              </a:srgbClr>
            </a:outerShdw>
          </a:effectLst>
        </p:spPr>
        <p:txBody>
          <a:bodyPr/>
          <a:lstStyle/>
          <a:p>
            <a:endParaRPr lang="en-US"/>
          </a:p>
        </p:txBody>
      </p:sp>
      <p:sp>
        <p:nvSpPr>
          <p:cNvPr id="10" name="Text 7"/>
          <p:cNvSpPr/>
          <p:nvPr/>
        </p:nvSpPr>
        <p:spPr>
          <a:xfrm>
            <a:off x="8458200" y="1645920"/>
            <a:ext cx="3063240" cy="1463040"/>
          </a:xfrm>
          <a:prstGeom prst="rect">
            <a:avLst/>
          </a:prstGeom>
          <a:noFill/>
          <a:ln/>
        </p:spPr>
        <p:txBody>
          <a:bodyPr wrap="square" lIns="0" tIns="0" rIns="0" bIns="0" rtlCol="0" anchor="ctr"/>
          <a:lstStyle/>
          <a:p>
            <a:pPr marL="0" indent="0" algn="ctr">
              <a:buNone/>
            </a:pPr>
            <a:r>
              <a:rPr lang="en-US" sz="1200" b="1" dirty="0">
                <a:solidFill>
                  <a:srgbClr val="2E7D32"/>
                </a:solidFill>
              </a:rPr>
              <a:t>CDM · CONDITION_OCCURRENCE</a:t>
            </a:r>
            <a:endParaRPr lang="en-US" sz="1200" dirty="0"/>
          </a:p>
          <a:p>
            <a:pPr marL="0" indent="0" algn="ctr">
              <a:buNone/>
            </a:pPr>
            <a:r>
              <a:rPr lang="en-US" sz="1100" dirty="0">
                <a:solidFill>
                  <a:srgbClr val="6E6A63"/>
                </a:solidFill>
              </a:rPr>
              <a:t>condition_concept_id</a:t>
            </a:r>
            <a:endParaRPr lang="en-US" sz="1200" dirty="0"/>
          </a:p>
          <a:p>
            <a:pPr marL="0" indent="0" algn="ctr">
              <a:buNone/>
            </a:pPr>
            <a:r>
              <a:rPr lang="en-US" sz="1300" b="1" dirty="0">
                <a:solidFill>
                  <a:srgbClr val="2B2B2B"/>
                </a:solidFill>
                <a:latin typeface="Courier New" pitchFamily="34" charset="0"/>
                <a:ea typeface="Courier New" pitchFamily="34" charset="-122"/>
                <a:cs typeface="Courier New" pitchFamily="34" charset="-120"/>
              </a:rPr>
              <a:t>= 316866</a:t>
            </a:r>
            <a:endParaRPr lang="en-US" sz="1200" dirty="0"/>
          </a:p>
          <a:p>
            <a:pPr marL="0" indent="0" algn="ctr">
              <a:buNone/>
            </a:pPr>
            <a:r>
              <a:rPr lang="en-US" sz="1050" i="1" dirty="0">
                <a:solidFill>
                  <a:srgbClr val="6E6A63"/>
                </a:solidFill>
              </a:rPr>
              <a:t>Hypertensive disorder</a:t>
            </a:r>
            <a:endParaRPr lang="en-US" sz="1200" dirty="0"/>
          </a:p>
        </p:txBody>
      </p:sp>
      <p:sp>
        <p:nvSpPr>
          <p:cNvPr id="11" name="Shape 8"/>
          <p:cNvSpPr/>
          <p:nvPr/>
        </p:nvSpPr>
        <p:spPr>
          <a:xfrm>
            <a:off x="3840480" y="2267712"/>
            <a:ext cx="640080" cy="219456"/>
          </a:xfrm>
          <a:prstGeom prst="rightArrow">
            <a:avLst/>
          </a:prstGeom>
          <a:solidFill>
            <a:srgbClr val="C7902B"/>
          </a:solidFill>
          <a:ln/>
        </p:spPr>
        <p:txBody>
          <a:bodyPr/>
          <a:lstStyle/>
          <a:p>
            <a:endParaRPr lang="en-US"/>
          </a:p>
        </p:txBody>
      </p:sp>
      <p:sp>
        <p:nvSpPr>
          <p:cNvPr id="12" name="Shape 9"/>
          <p:cNvSpPr/>
          <p:nvPr/>
        </p:nvSpPr>
        <p:spPr>
          <a:xfrm>
            <a:off x="7726680" y="2267712"/>
            <a:ext cx="640080" cy="219456"/>
          </a:xfrm>
          <a:prstGeom prst="rightArrow">
            <a:avLst/>
          </a:prstGeom>
          <a:solidFill>
            <a:srgbClr val="C7902B"/>
          </a:solidFill>
          <a:ln/>
        </p:spPr>
        <p:txBody>
          <a:bodyPr/>
          <a:lstStyle/>
          <a:p>
            <a:endParaRPr lang="en-US"/>
          </a:p>
        </p:txBody>
      </p:sp>
      <p:sp>
        <p:nvSpPr>
          <p:cNvPr id="13" name="Text 10"/>
          <p:cNvSpPr/>
          <p:nvPr/>
        </p:nvSpPr>
        <p:spPr>
          <a:xfrm>
            <a:off x="594360" y="3246120"/>
            <a:ext cx="11018520" cy="365760"/>
          </a:xfrm>
          <a:prstGeom prst="rect">
            <a:avLst/>
          </a:prstGeom>
          <a:noFill/>
          <a:ln/>
        </p:spPr>
        <p:txBody>
          <a:bodyPr wrap="square" lIns="0" tIns="0" rIns="0" bIns="0" rtlCol="0" anchor="ctr"/>
          <a:lstStyle/>
          <a:p>
            <a:pPr marL="0" indent="0" algn="ctr">
              <a:buNone/>
            </a:pPr>
            <a:r>
              <a:rPr lang="en-US" sz="1350" i="1" dirty="0">
                <a:solidFill>
                  <a:srgbClr val="23305F"/>
                </a:solidFill>
                <a:latin typeface="Calibri" pitchFamily="34" charset="0"/>
                <a:ea typeface="Calibri" pitchFamily="34" charset="-122"/>
                <a:cs typeface="Calibri" pitchFamily="34" charset="-120"/>
              </a:rPr>
              <a:t>Every raw record is joined to STCM on its source code — one lookup turns a local code into a standard concept.</a:t>
            </a:r>
            <a:endParaRPr lang="en-US" sz="1350" dirty="0"/>
          </a:p>
        </p:txBody>
      </p:sp>
      <p:sp>
        <p:nvSpPr>
          <p:cNvPr id="14" name="Shape 11"/>
          <p:cNvSpPr/>
          <p:nvPr/>
        </p:nvSpPr>
        <p:spPr>
          <a:xfrm>
            <a:off x="594360" y="3794760"/>
            <a:ext cx="11018520" cy="2651760"/>
          </a:xfrm>
          <a:prstGeom prst="roundRect">
            <a:avLst>
              <a:gd name="adj" fmla="val 3103"/>
            </a:avLst>
          </a:prstGeom>
          <a:solidFill>
            <a:srgbClr val="F6F2EB"/>
          </a:solidFill>
          <a:ln w="12700">
            <a:solidFill>
              <a:srgbClr val="DAD3C6"/>
            </a:solidFill>
            <a:prstDash val="solid"/>
          </a:ln>
        </p:spPr>
        <p:txBody>
          <a:bodyPr/>
          <a:lstStyle/>
          <a:p>
            <a:endParaRPr lang="en-US"/>
          </a:p>
        </p:txBody>
      </p:sp>
      <p:sp>
        <p:nvSpPr>
          <p:cNvPr id="15" name="Shape 12"/>
          <p:cNvSpPr/>
          <p:nvPr/>
        </p:nvSpPr>
        <p:spPr>
          <a:xfrm>
            <a:off x="868680" y="4023360"/>
            <a:ext cx="548640" cy="54864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6" name="Image 0" descr="preencoded.png"/>
          <p:cNvPicPr>
            <a:picLocks noChangeAspect="1"/>
          </p:cNvPicPr>
          <p:nvPr/>
        </p:nvPicPr>
        <p:blipFill>
          <a:blip r:embed="rId3"/>
          <a:stretch>
            <a:fillRect/>
          </a:stretch>
        </p:blipFill>
        <p:spPr>
          <a:xfrm>
            <a:off x="1016813" y="4171493"/>
            <a:ext cx="252374" cy="252374"/>
          </a:xfrm>
          <a:prstGeom prst="rect">
            <a:avLst/>
          </a:prstGeom>
        </p:spPr>
      </p:pic>
      <p:sp>
        <p:nvSpPr>
          <p:cNvPr id="17" name="Text 13"/>
          <p:cNvSpPr/>
          <p:nvPr/>
        </p:nvSpPr>
        <p:spPr>
          <a:xfrm>
            <a:off x="1600200" y="4023360"/>
            <a:ext cx="7315200" cy="548640"/>
          </a:xfrm>
          <a:prstGeom prst="rect">
            <a:avLst/>
          </a:prstGeom>
          <a:noFill/>
          <a:ln/>
        </p:spPr>
        <p:txBody>
          <a:bodyPr wrap="square" lIns="0" tIns="0" rIns="0" bIns="0" rtlCol="0" anchor="ctr"/>
          <a:lstStyle/>
          <a:p>
            <a:pPr marL="0" indent="0">
              <a:buNone/>
            </a:pPr>
            <a:r>
              <a:rPr lang="en-US" sz="1600" b="1" dirty="0">
                <a:solidFill>
                  <a:srgbClr val="2B2B2B"/>
                </a:solidFill>
                <a:latin typeface="Cambria" pitchFamily="34" charset="0"/>
                <a:ea typeface="Cambria" pitchFamily="34" charset="-122"/>
                <a:cs typeface="Cambria" pitchFamily="34" charset="-120"/>
              </a:rPr>
              <a:t>Anatomy of one mapping row</a:t>
            </a:r>
            <a:endParaRPr lang="en-US" sz="1600" dirty="0"/>
          </a:p>
        </p:txBody>
      </p:sp>
      <p:sp>
        <p:nvSpPr>
          <p:cNvPr id="18" name="Shape 14"/>
          <p:cNvSpPr/>
          <p:nvPr/>
        </p:nvSpPr>
        <p:spPr>
          <a:xfrm>
            <a:off x="868680" y="4709160"/>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19" name="Text 15"/>
          <p:cNvSpPr/>
          <p:nvPr/>
        </p:nvSpPr>
        <p:spPr>
          <a:xfrm>
            <a:off x="978408" y="4709160"/>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source_code</a:t>
            </a:r>
            <a:endParaRPr lang="en-US" sz="1050" dirty="0"/>
          </a:p>
          <a:p>
            <a:pPr marL="0" indent="0">
              <a:lnSpc>
                <a:spcPct val="100000"/>
              </a:lnSpc>
              <a:buNone/>
            </a:pPr>
            <a:r>
              <a:rPr lang="en-US" sz="950" dirty="0">
                <a:solidFill>
                  <a:srgbClr val="6E6A63"/>
                </a:solidFill>
              </a:rPr>
              <a:t>the hospital's local code</a:t>
            </a:r>
            <a:endParaRPr lang="en-US" sz="1050" dirty="0"/>
          </a:p>
        </p:txBody>
      </p:sp>
      <p:sp>
        <p:nvSpPr>
          <p:cNvPr id="20" name="Shape 16"/>
          <p:cNvSpPr/>
          <p:nvPr/>
        </p:nvSpPr>
        <p:spPr>
          <a:xfrm>
            <a:off x="3538728" y="4709160"/>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21" name="Text 17"/>
          <p:cNvSpPr/>
          <p:nvPr/>
        </p:nvSpPr>
        <p:spPr>
          <a:xfrm>
            <a:off x="3648456" y="4709160"/>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source_code_description</a:t>
            </a:r>
            <a:endParaRPr lang="en-US" sz="1050" dirty="0"/>
          </a:p>
          <a:p>
            <a:pPr marL="0" indent="0">
              <a:lnSpc>
                <a:spcPct val="100000"/>
              </a:lnSpc>
              <a:buNone/>
            </a:pPr>
            <a:r>
              <a:rPr lang="en-US" sz="950" dirty="0">
                <a:solidFill>
                  <a:srgbClr val="6E6A63"/>
                </a:solidFill>
              </a:rPr>
              <a:t>human-readable label</a:t>
            </a:r>
            <a:endParaRPr lang="en-US" sz="1050" dirty="0"/>
          </a:p>
        </p:txBody>
      </p:sp>
      <p:sp>
        <p:nvSpPr>
          <p:cNvPr id="22" name="Shape 18"/>
          <p:cNvSpPr/>
          <p:nvPr/>
        </p:nvSpPr>
        <p:spPr>
          <a:xfrm>
            <a:off x="6208776" y="4709160"/>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23" name="Text 19"/>
          <p:cNvSpPr/>
          <p:nvPr/>
        </p:nvSpPr>
        <p:spPr>
          <a:xfrm>
            <a:off x="6318504" y="4709160"/>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source_vocabulary_id</a:t>
            </a:r>
            <a:endParaRPr lang="en-US" sz="1050" dirty="0"/>
          </a:p>
          <a:p>
            <a:pPr marL="0" indent="0">
              <a:lnSpc>
                <a:spcPct val="100000"/>
              </a:lnSpc>
              <a:buNone/>
            </a:pPr>
            <a:r>
              <a:rPr lang="en-US" sz="950" dirty="0">
                <a:solidFill>
                  <a:srgbClr val="6E6A63"/>
                </a:solidFill>
              </a:rPr>
              <a:t>which Cerner sheet</a:t>
            </a:r>
            <a:endParaRPr lang="en-US" sz="1050" dirty="0"/>
          </a:p>
        </p:txBody>
      </p:sp>
      <p:sp>
        <p:nvSpPr>
          <p:cNvPr id="24" name="Shape 20"/>
          <p:cNvSpPr/>
          <p:nvPr/>
        </p:nvSpPr>
        <p:spPr>
          <a:xfrm>
            <a:off x="8878824" y="4709160"/>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25" name="Text 21"/>
          <p:cNvSpPr/>
          <p:nvPr/>
        </p:nvSpPr>
        <p:spPr>
          <a:xfrm>
            <a:off x="8988552" y="4709160"/>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source_concept_id</a:t>
            </a:r>
            <a:endParaRPr lang="en-US" sz="1050" dirty="0"/>
          </a:p>
          <a:p>
            <a:pPr marL="0" indent="0">
              <a:lnSpc>
                <a:spcPct val="100000"/>
              </a:lnSpc>
              <a:buNone/>
            </a:pPr>
            <a:r>
              <a:rPr lang="en-US" sz="950" dirty="0">
                <a:solidFill>
                  <a:srgbClr val="6E6A63"/>
                </a:solidFill>
              </a:rPr>
              <a:t>2-billion custom id</a:t>
            </a:r>
            <a:endParaRPr lang="en-US" sz="1050" dirty="0"/>
          </a:p>
        </p:txBody>
      </p:sp>
      <p:sp>
        <p:nvSpPr>
          <p:cNvPr id="26" name="Shape 22"/>
          <p:cNvSpPr/>
          <p:nvPr/>
        </p:nvSpPr>
        <p:spPr>
          <a:xfrm>
            <a:off x="868680" y="5550408"/>
            <a:ext cx="2487168" cy="713232"/>
          </a:xfrm>
          <a:prstGeom prst="roundRect">
            <a:avLst>
              <a:gd name="adj" fmla="val 6410"/>
            </a:avLst>
          </a:prstGeom>
          <a:solidFill>
            <a:srgbClr val="FBF2E1"/>
          </a:solidFill>
          <a:ln w="19050">
            <a:solidFill>
              <a:srgbClr val="C7902B"/>
            </a:solidFill>
            <a:prstDash val="solid"/>
          </a:ln>
        </p:spPr>
        <p:txBody>
          <a:bodyPr/>
          <a:lstStyle/>
          <a:p>
            <a:endParaRPr lang="en-US"/>
          </a:p>
        </p:txBody>
      </p:sp>
      <p:sp>
        <p:nvSpPr>
          <p:cNvPr id="27" name="Text 23"/>
          <p:cNvSpPr/>
          <p:nvPr/>
        </p:nvSpPr>
        <p:spPr>
          <a:xfrm>
            <a:off x="978408" y="5550408"/>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8A5A12"/>
                </a:solidFill>
                <a:latin typeface="Courier New" pitchFamily="34" charset="0"/>
                <a:ea typeface="Courier New" pitchFamily="34" charset="-122"/>
                <a:cs typeface="Courier New" pitchFamily="34" charset="-120"/>
              </a:rPr>
              <a:t>target_concept_id</a:t>
            </a:r>
            <a:endParaRPr lang="en-US" sz="1050" dirty="0"/>
          </a:p>
          <a:p>
            <a:pPr marL="0" indent="0">
              <a:lnSpc>
                <a:spcPct val="100000"/>
              </a:lnSpc>
              <a:buNone/>
            </a:pPr>
            <a:r>
              <a:rPr lang="en-US" sz="950" dirty="0">
                <a:solidFill>
                  <a:srgbClr val="6E6A63"/>
                </a:solidFill>
              </a:rPr>
              <a:t>the standard concept ★</a:t>
            </a:r>
            <a:endParaRPr lang="en-US" sz="1050" dirty="0"/>
          </a:p>
        </p:txBody>
      </p:sp>
      <p:sp>
        <p:nvSpPr>
          <p:cNvPr id="28" name="Shape 24"/>
          <p:cNvSpPr/>
          <p:nvPr/>
        </p:nvSpPr>
        <p:spPr>
          <a:xfrm>
            <a:off x="3538728" y="5550408"/>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29" name="Text 25"/>
          <p:cNvSpPr/>
          <p:nvPr/>
        </p:nvSpPr>
        <p:spPr>
          <a:xfrm>
            <a:off x="3648456" y="5550408"/>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target_vocabulary_id</a:t>
            </a:r>
            <a:endParaRPr lang="en-US" sz="1050" dirty="0"/>
          </a:p>
          <a:p>
            <a:pPr marL="0" indent="0">
              <a:lnSpc>
                <a:spcPct val="100000"/>
              </a:lnSpc>
              <a:buNone/>
            </a:pPr>
            <a:r>
              <a:rPr lang="en-US" sz="950" dirty="0">
                <a:solidFill>
                  <a:srgbClr val="6E6A63"/>
                </a:solidFill>
              </a:rPr>
              <a:t>SNOMED · RxNorm · LOINC</a:t>
            </a:r>
            <a:endParaRPr lang="en-US" sz="1050" dirty="0"/>
          </a:p>
        </p:txBody>
      </p:sp>
      <p:sp>
        <p:nvSpPr>
          <p:cNvPr id="30" name="Shape 26"/>
          <p:cNvSpPr/>
          <p:nvPr/>
        </p:nvSpPr>
        <p:spPr>
          <a:xfrm>
            <a:off x="6208776" y="5550408"/>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31" name="Text 27"/>
          <p:cNvSpPr/>
          <p:nvPr/>
        </p:nvSpPr>
        <p:spPr>
          <a:xfrm>
            <a:off x="6318504" y="5550408"/>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valid_start / _end_date</a:t>
            </a:r>
            <a:endParaRPr lang="en-US" sz="1050" dirty="0"/>
          </a:p>
          <a:p>
            <a:pPr marL="0" indent="0">
              <a:lnSpc>
                <a:spcPct val="100000"/>
              </a:lnSpc>
              <a:buNone/>
            </a:pPr>
            <a:r>
              <a:rPr lang="en-US" sz="950" dirty="0">
                <a:solidFill>
                  <a:srgbClr val="6E6A63"/>
                </a:solidFill>
              </a:rPr>
              <a:t>versioning window</a:t>
            </a:r>
            <a:endParaRPr lang="en-US" sz="1050" dirty="0"/>
          </a:p>
        </p:txBody>
      </p:sp>
      <p:sp>
        <p:nvSpPr>
          <p:cNvPr id="32" name="Shape 28"/>
          <p:cNvSpPr/>
          <p:nvPr/>
        </p:nvSpPr>
        <p:spPr>
          <a:xfrm>
            <a:off x="8878824" y="5550408"/>
            <a:ext cx="2487168" cy="713232"/>
          </a:xfrm>
          <a:prstGeom prst="roundRect">
            <a:avLst>
              <a:gd name="adj" fmla="val 6410"/>
            </a:avLst>
          </a:prstGeom>
          <a:solidFill>
            <a:srgbClr val="FFFFFF"/>
          </a:solidFill>
          <a:ln w="12700">
            <a:solidFill>
              <a:srgbClr val="DAD3C6"/>
            </a:solidFill>
            <a:prstDash val="solid"/>
          </a:ln>
        </p:spPr>
        <p:txBody>
          <a:bodyPr/>
          <a:lstStyle/>
          <a:p>
            <a:endParaRPr lang="en-US"/>
          </a:p>
        </p:txBody>
      </p:sp>
      <p:sp>
        <p:nvSpPr>
          <p:cNvPr id="33" name="Text 29"/>
          <p:cNvSpPr/>
          <p:nvPr/>
        </p:nvSpPr>
        <p:spPr>
          <a:xfrm>
            <a:off x="8988552" y="5550408"/>
            <a:ext cx="2286000" cy="713232"/>
          </a:xfrm>
          <a:prstGeom prst="rect">
            <a:avLst/>
          </a:prstGeom>
          <a:noFill/>
          <a:ln/>
        </p:spPr>
        <p:txBody>
          <a:bodyPr wrap="square" lIns="0" tIns="0" rIns="0" bIns="0" rtlCol="0" anchor="ctr"/>
          <a:lstStyle/>
          <a:p>
            <a:pPr marL="0" indent="0">
              <a:lnSpc>
                <a:spcPct val="100000"/>
              </a:lnSpc>
              <a:buNone/>
            </a:pPr>
            <a:r>
              <a:rPr lang="en-US" sz="1050" b="1" dirty="0">
                <a:solidFill>
                  <a:srgbClr val="23305F"/>
                </a:solidFill>
                <a:latin typeface="Courier New" pitchFamily="34" charset="0"/>
                <a:ea typeface="Courier New" pitchFamily="34" charset="-122"/>
                <a:cs typeface="Courier New" pitchFamily="34" charset="-120"/>
              </a:rPr>
              <a:t>invalid_reason</a:t>
            </a:r>
            <a:endParaRPr lang="en-US" sz="1050" dirty="0"/>
          </a:p>
          <a:p>
            <a:pPr marL="0" indent="0">
              <a:lnSpc>
                <a:spcPct val="100000"/>
              </a:lnSpc>
              <a:buNone/>
            </a:pPr>
            <a:r>
              <a:rPr lang="en-US" sz="950" dirty="0">
                <a:solidFill>
                  <a:srgbClr val="6E6A63"/>
                </a:solidFill>
              </a:rPr>
              <a:t>retire / deprecate flag</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One row, a million records — provenance intact</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Why a clean STCM is the highest-leverage artifact in the pipeline</a:t>
            </a:r>
            <a:endParaRPr lang="en-US" sz="1450" dirty="0"/>
          </a:p>
        </p:txBody>
      </p:sp>
      <p:sp>
        <p:nvSpPr>
          <p:cNvPr id="5" name="Shape 2"/>
          <p:cNvSpPr/>
          <p:nvPr/>
        </p:nvSpPr>
        <p:spPr>
          <a:xfrm>
            <a:off x="594360" y="1645920"/>
            <a:ext cx="5852160" cy="1143000"/>
          </a:xfrm>
          <a:prstGeom prst="roundRect">
            <a:avLst>
              <a:gd name="adj" fmla="val 6400"/>
            </a:avLst>
          </a:prstGeom>
          <a:solidFill>
            <a:srgbClr val="EDEFF7"/>
          </a:solidFill>
          <a:ln w="19050">
            <a:solidFill>
              <a:srgbClr val="23305F"/>
            </a:solidFill>
            <a:prstDash val="solid"/>
          </a:ln>
          <a:effectLst>
            <a:outerShdw blurRad="76200" dist="25400" dir="5400000" algn="bl" rotWithShape="0">
              <a:srgbClr val="000000">
                <a:alpha val="14000"/>
              </a:srgbClr>
            </a:outerShdw>
          </a:effectLst>
        </p:spPr>
        <p:txBody>
          <a:bodyPr/>
          <a:lstStyle/>
          <a:p>
            <a:endParaRPr lang="en-US"/>
          </a:p>
        </p:txBody>
      </p:sp>
      <p:sp>
        <p:nvSpPr>
          <p:cNvPr id="6" name="Text 3"/>
          <p:cNvSpPr/>
          <p:nvPr/>
        </p:nvSpPr>
        <p:spPr>
          <a:xfrm>
            <a:off x="685800" y="1645920"/>
            <a:ext cx="5669280" cy="1143000"/>
          </a:xfrm>
          <a:prstGeom prst="rect">
            <a:avLst/>
          </a:prstGeom>
          <a:noFill/>
          <a:ln/>
        </p:spPr>
        <p:txBody>
          <a:bodyPr wrap="square" lIns="0" tIns="0" rIns="0" bIns="0" rtlCol="0" anchor="ctr"/>
          <a:lstStyle/>
          <a:p>
            <a:pPr marL="0" indent="0" algn="ctr">
              <a:buNone/>
            </a:pPr>
            <a:r>
              <a:rPr lang="en-US" sz="1300" b="1" dirty="0">
                <a:solidFill>
                  <a:srgbClr val="23305F"/>
                </a:solidFill>
              </a:rPr>
              <a:t>One reviewed source term</a:t>
            </a:r>
            <a:endParaRPr lang="en-US" sz="1300" dirty="0"/>
          </a:p>
          <a:p>
            <a:pPr marL="0" indent="0" algn="ctr">
              <a:buNone/>
            </a:pPr>
            <a:r>
              <a:rPr lang="en-US" sz="1150" dirty="0">
                <a:solidFill>
                  <a:srgbClr val="6E6A63"/>
                </a:solidFill>
              </a:rPr>
              <a:t>"Hypertension"  ·  code 17806565  ·  </a:t>
            </a:r>
            <a:r>
              <a:rPr lang="en-US" sz="1150" b="1" dirty="0">
                <a:solidFill>
                  <a:srgbClr val="2B2B2B"/>
                </a:solidFill>
              </a:rPr>
              <a:t>31,558 occurrences</a:t>
            </a:r>
            <a:endParaRPr lang="en-US" sz="1300" dirty="0"/>
          </a:p>
        </p:txBody>
      </p:sp>
      <p:sp>
        <p:nvSpPr>
          <p:cNvPr id="7" name="Shape 4"/>
          <p:cNvSpPr/>
          <p:nvPr/>
        </p:nvSpPr>
        <p:spPr>
          <a:xfrm>
            <a:off x="3319272" y="2852928"/>
            <a:ext cx="402336" cy="457200"/>
          </a:xfrm>
          <a:prstGeom prst="downArrow">
            <a:avLst/>
          </a:prstGeom>
          <a:solidFill>
            <a:srgbClr val="C7902B"/>
          </a:solidFill>
          <a:ln/>
        </p:spPr>
        <p:txBody>
          <a:bodyPr/>
          <a:lstStyle/>
          <a:p>
            <a:endParaRPr lang="en-US"/>
          </a:p>
        </p:txBody>
      </p:sp>
      <p:sp>
        <p:nvSpPr>
          <p:cNvPr id="8" name="Text 5"/>
          <p:cNvSpPr/>
          <p:nvPr/>
        </p:nvSpPr>
        <p:spPr>
          <a:xfrm>
            <a:off x="3840480" y="2889504"/>
            <a:ext cx="1463040" cy="365760"/>
          </a:xfrm>
          <a:prstGeom prst="rect">
            <a:avLst/>
          </a:prstGeom>
          <a:noFill/>
          <a:ln/>
        </p:spPr>
        <p:txBody>
          <a:bodyPr wrap="square" lIns="0" tIns="0" rIns="0" bIns="0" rtlCol="0" anchor="ctr"/>
          <a:lstStyle/>
          <a:p>
            <a:pPr marL="0" indent="0">
              <a:buNone/>
            </a:pPr>
            <a:r>
              <a:rPr lang="en-US" sz="1100" i="1" dirty="0">
                <a:solidFill>
                  <a:srgbClr val="C7902B"/>
                </a:solidFill>
                <a:latin typeface="Calibri" pitchFamily="34" charset="0"/>
                <a:ea typeface="Calibri" pitchFamily="34" charset="-122"/>
                <a:cs typeface="Calibri" pitchFamily="34" charset="-120"/>
              </a:rPr>
              <a:t>via STCM</a:t>
            </a:r>
            <a:endParaRPr lang="en-US" sz="1100" dirty="0"/>
          </a:p>
        </p:txBody>
      </p:sp>
      <p:sp>
        <p:nvSpPr>
          <p:cNvPr id="9" name="Shape 6"/>
          <p:cNvSpPr/>
          <p:nvPr/>
        </p:nvSpPr>
        <p:spPr>
          <a:xfrm>
            <a:off x="594360" y="3429000"/>
            <a:ext cx="5852160" cy="2331720"/>
          </a:xfrm>
          <a:prstGeom prst="roundRect">
            <a:avLst>
              <a:gd name="adj" fmla="val 3529"/>
            </a:avLst>
          </a:prstGeom>
          <a:solidFill>
            <a:srgbClr val="FFFFFF"/>
          </a:solidFill>
          <a:ln w="19050">
            <a:solidFill>
              <a:srgbClr val="2E7D32"/>
            </a:solidFill>
            <a:prstDash val="solid"/>
          </a:ln>
          <a:effectLst>
            <a:outerShdw blurRad="88900" dist="25400" dir="5400000" algn="bl" rotWithShape="0">
              <a:srgbClr val="000000">
                <a:alpha val="12000"/>
              </a:srgbClr>
            </a:outerShdw>
          </a:effectLst>
        </p:spPr>
        <p:txBody>
          <a:bodyPr/>
          <a:lstStyle/>
          <a:p>
            <a:endParaRPr lang="en-US"/>
          </a:p>
        </p:txBody>
      </p:sp>
      <p:sp>
        <p:nvSpPr>
          <p:cNvPr id="10" name="Text 7"/>
          <p:cNvSpPr/>
          <p:nvPr/>
        </p:nvSpPr>
        <p:spPr>
          <a:xfrm>
            <a:off x="822960" y="3566160"/>
            <a:ext cx="5394960" cy="365760"/>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Every matching CONDITION_OCCURRENCE row</a:t>
            </a:r>
            <a:endParaRPr lang="en-US" sz="1250" dirty="0"/>
          </a:p>
        </p:txBody>
      </p:sp>
      <p:sp>
        <p:nvSpPr>
          <p:cNvPr id="11" name="Text 8"/>
          <p:cNvSpPr/>
          <p:nvPr/>
        </p:nvSpPr>
        <p:spPr>
          <a:xfrm>
            <a:off x="822960" y="4023360"/>
            <a:ext cx="2606040" cy="502920"/>
          </a:xfrm>
          <a:prstGeom prst="rect">
            <a:avLst/>
          </a:prstGeom>
          <a:noFill/>
          <a:ln/>
        </p:spPr>
        <p:txBody>
          <a:bodyPr wrap="square" lIns="0" tIns="0" rIns="0" bIns="0" rtlCol="0" anchor="ctr"/>
          <a:lstStyle/>
          <a:p>
            <a:pPr marL="0" indent="0">
              <a:buNone/>
            </a:pPr>
            <a:r>
              <a:rPr lang="en-US" sz="1050" dirty="0">
                <a:solidFill>
                  <a:srgbClr val="6E6A63"/>
                </a:solidFill>
                <a:latin typeface="Courier New" pitchFamily="34" charset="0"/>
                <a:ea typeface="Courier New" pitchFamily="34" charset="-122"/>
                <a:cs typeface="Courier New" pitchFamily="34" charset="-120"/>
              </a:rPr>
              <a:t>condition_concept_id</a:t>
            </a:r>
            <a:endParaRPr lang="en-US" sz="1050" dirty="0"/>
          </a:p>
        </p:txBody>
      </p:sp>
      <p:sp>
        <p:nvSpPr>
          <p:cNvPr id="12" name="Text 9"/>
          <p:cNvSpPr/>
          <p:nvPr/>
        </p:nvSpPr>
        <p:spPr>
          <a:xfrm>
            <a:off x="3474720" y="4023360"/>
            <a:ext cx="2788920" cy="502920"/>
          </a:xfrm>
          <a:prstGeom prst="rect">
            <a:avLst/>
          </a:prstGeom>
          <a:noFill/>
          <a:ln/>
        </p:spPr>
        <p:txBody>
          <a:bodyPr wrap="square" lIns="0" tIns="0" rIns="0" bIns="0" rtlCol="0" anchor="ctr"/>
          <a:lstStyle/>
          <a:p>
            <a:pPr marL="0" indent="0">
              <a:buNone/>
            </a:pPr>
            <a:r>
              <a:rPr lang="en-US" sz="1150" b="1" dirty="0">
                <a:solidFill>
                  <a:srgbClr val="8A5A12"/>
                </a:solidFill>
              </a:rPr>
              <a:t>316866  ·  Hypertensive disorder   </a:t>
            </a:r>
            <a:r>
              <a:rPr lang="en-US" sz="950" i="1" dirty="0">
                <a:solidFill>
                  <a:srgbClr val="2E7D32"/>
                </a:solidFill>
              </a:rPr>
              <a:t>STANDARD — for analysis</a:t>
            </a:r>
            <a:endParaRPr lang="en-US" sz="1150" dirty="0"/>
          </a:p>
        </p:txBody>
      </p:sp>
      <p:sp>
        <p:nvSpPr>
          <p:cNvPr id="13" name="Text 10"/>
          <p:cNvSpPr/>
          <p:nvPr/>
        </p:nvSpPr>
        <p:spPr>
          <a:xfrm>
            <a:off x="822960" y="4590288"/>
            <a:ext cx="2606040" cy="502920"/>
          </a:xfrm>
          <a:prstGeom prst="rect">
            <a:avLst/>
          </a:prstGeom>
          <a:noFill/>
          <a:ln/>
        </p:spPr>
        <p:txBody>
          <a:bodyPr wrap="square" lIns="0" tIns="0" rIns="0" bIns="0" rtlCol="0" anchor="ctr"/>
          <a:lstStyle/>
          <a:p>
            <a:pPr marL="0" indent="0">
              <a:buNone/>
            </a:pPr>
            <a:r>
              <a:rPr lang="en-US" sz="1050" dirty="0">
                <a:solidFill>
                  <a:srgbClr val="6E6A63"/>
                </a:solidFill>
                <a:latin typeface="Courier New" pitchFamily="34" charset="0"/>
                <a:ea typeface="Courier New" pitchFamily="34" charset="-122"/>
                <a:cs typeface="Courier New" pitchFamily="34" charset="-120"/>
              </a:rPr>
              <a:t>condition_source_value</a:t>
            </a:r>
            <a:endParaRPr lang="en-US" sz="1050" dirty="0"/>
          </a:p>
        </p:txBody>
      </p:sp>
      <p:sp>
        <p:nvSpPr>
          <p:cNvPr id="14" name="Text 11"/>
          <p:cNvSpPr/>
          <p:nvPr/>
        </p:nvSpPr>
        <p:spPr>
          <a:xfrm>
            <a:off x="3474720" y="4590288"/>
            <a:ext cx="2788920" cy="502920"/>
          </a:xfrm>
          <a:prstGeom prst="rect">
            <a:avLst/>
          </a:prstGeom>
          <a:noFill/>
          <a:ln/>
        </p:spPr>
        <p:txBody>
          <a:bodyPr wrap="square" lIns="0" tIns="0" rIns="0" bIns="0" rtlCol="0" anchor="ctr"/>
          <a:lstStyle/>
          <a:p>
            <a:pPr marL="0" indent="0">
              <a:buNone/>
            </a:pPr>
            <a:r>
              <a:rPr lang="en-US" sz="1150" b="1" dirty="0">
                <a:solidFill>
                  <a:srgbClr val="2B2B2B"/>
                </a:solidFill>
              </a:rPr>
              <a:t>"Hypertension"   </a:t>
            </a:r>
            <a:r>
              <a:rPr lang="en-US" sz="950" i="1" dirty="0">
                <a:solidFill>
                  <a:srgbClr val="6E6A63"/>
                </a:solidFill>
              </a:rPr>
              <a:t>kept verbatim</a:t>
            </a:r>
            <a:endParaRPr lang="en-US" sz="1150" dirty="0"/>
          </a:p>
        </p:txBody>
      </p:sp>
      <p:sp>
        <p:nvSpPr>
          <p:cNvPr id="15" name="Text 12"/>
          <p:cNvSpPr/>
          <p:nvPr/>
        </p:nvSpPr>
        <p:spPr>
          <a:xfrm>
            <a:off x="822960" y="5157216"/>
            <a:ext cx="2606040" cy="502920"/>
          </a:xfrm>
          <a:prstGeom prst="rect">
            <a:avLst/>
          </a:prstGeom>
          <a:noFill/>
          <a:ln/>
        </p:spPr>
        <p:txBody>
          <a:bodyPr wrap="square" lIns="0" tIns="0" rIns="0" bIns="0" rtlCol="0" anchor="ctr"/>
          <a:lstStyle/>
          <a:p>
            <a:pPr marL="0" indent="0">
              <a:buNone/>
            </a:pPr>
            <a:r>
              <a:rPr lang="en-US" sz="1050" dirty="0">
                <a:solidFill>
                  <a:srgbClr val="6E6A63"/>
                </a:solidFill>
                <a:latin typeface="Courier New" pitchFamily="34" charset="0"/>
                <a:ea typeface="Courier New" pitchFamily="34" charset="-122"/>
                <a:cs typeface="Courier New" pitchFamily="34" charset="-120"/>
              </a:rPr>
              <a:t>condition_source_concept_id</a:t>
            </a:r>
            <a:endParaRPr lang="en-US" sz="1050" dirty="0"/>
          </a:p>
        </p:txBody>
      </p:sp>
      <p:sp>
        <p:nvSpPr>
          <p:cNvPr id="16" name="Text 13"/>
          <p:cNvSpPr/>
          <p:nvPr/>
        </p:nvSpPr>
        <p:spPr>
          <a:xfrm>
            <a:off x="3474720" y="5157216"/>
            <a:ext cx="2788920" cy="502920"/>
          </a:xfrm>
          <a:prstGeom prst="rect">
            <a:avLst/>
          </a:prstGeom>
          <a:noFill/>
          <a:ln/>
        </p:spPr>
        <p:txBody>
          <a:bodyPr wrap="square" lIns="0" tIns="0" rIns="0" bIns="0" rtlCol="0" anchor="ctr"/>
          <a:lstStyle/>
          <a:p>
            <a:pPr marL="0" indent="0">
              <a:buNone/>
            </a:pPr>
            <a:r>
              <a:rPr lang="en-US" sz="1150" b="1" dirty="0">
                <a:solidFill>
                  <a:srgbClr val="2B2B2B"/>
                </a:solidFill>
              </a:rPr>
              <a:t>2,000,000,017  ·  custom   </a:t>
            </a:r>
            <a:r>
              <a:rPr lang="en-US" sz="950" i="1" dirty="0">
                <a:solidFill>
                  <a:srgbClr val="6E6A63"/>
                </a:solidFill>
              </a:rPr>
              <a:t>provenance preserved</a:t>
            </a:r>
            <a:endParaRPr lang="en-US" sz="1150" dirty="0"/>
          </a:p>
        </p:txBody>
      </p:sp>
      <p:sp>
        <p:nvSpPr>
          <p:cNvPr id="17" name="Shape 14"/>
          <p:cNvSpPr/>
          <p:nvPr/>
        </p:nvSpPr>
        <p:spPr>
          <a:xfrm>
            <a:off x="6858000" y="169164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8" name="Image 0" descr="preencoded.png"/>
          <p:cNvPicPr>
            <a:picLocks noChangeAspect="1"/>
          </p:cNvPicPr>
          <p:nvPr/>
        </p:nvPicPr>
        <p:blipFill>
          <a:blip r:embed="rId3"/>
          <a:stretch>
            <a:fillRect/>
          </a:stretch>
        </p:blipFill>
        <p:spPr>
          <a:xfrm>
            <a:off x="7006133" y="1839773"/>
            <a:ext cx="252374" cy="252374"/>
          </a:xfrm>
          <a:prstGeom prst="rect">
            <a:avLst/>
          </a:prstGeom>
        </p:spPr>
      </p:pic>
      <p:sp>
        <p:nvSpPr>
          <p:cNvPr id="19" name="Text 15"/>
          <p:cNvSpPr/>
          <p:nvPr/>
        </p:nvSpPr>
        <p:spPr>
          <a:xfrm>
            <a:off x="7607808" y="1618488"/>
            <a:ext cx="4160520" cy="960120"/>
          </a:xfrm>
          <a:prstGeom prst="rect">
            <a:avLst/>
          </a:prstGeom>
          <a:noFill/>
          <a:ln/>
        </p:spPr>
        <p:txBody>
          <a:bodyPr wrap="square" lIns="0" tIns="0" rIns="0" bIns="0" rtlCol="0" anchor="ctr"/>
          <a:lstStyle/>
          <a:p>
            <a:pPr marL="0" indent="0">
              <a:lnSpc>
                <a:spcPct val="100000"/>
              </a:lnSpc>
              <a:buNone/>
            </a:pPr>
            <a:r>
              <a:rPr lang="en-US" sz="1350" b="1" dirty="0">
                <a:solidFill>
                  <a:srgbClr val="23305F"/>
                </a:solidFill>
              </a:rPr>
              <a:t>Leverage</a:t>
            </a:r>
            <a:endParaRPr lang="en-US" sz="1350" dirty="0"/>
          </a:p>
          <a:p>
            <a:pPr marL="0" indent="0">
              <a:lnSpc>
                <a:spcPct val="100000"/>
              </a:lnSpc>
              <a:buNone/>
            </a:pPr>
            <a:r>
              <a:rPr lang="en-US" sz="1150" dirty="0">
                <a:solidFill>
                  <a:srgbClr val="6E6A63"/>
                </a:solidFill>
              </a:rPr>
              <a:t>one reviewed row standardizes every matching event — millions of records from a single decision</a:t>
            </a:r>
            <a:endParaRPr lang="en-US" sz="1350" dirty="0"/>
          </a:p>
        </p:txBody>
      </p:sp>
      <p:sp>
        <p:nvSpPr>
          <p:cNvPr id="20" name="Shape 16"/>
          <p:cNvSpPr/>
          <p:nvPr/>
        </p:nvSpPr>
        <p:spPr>
          <a:xfrm>
            <a:off x="6858000" y="2752344"/>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1" name="Image 1" descr="preencoded.png"/>
          <p:cNvPicPr>
            <a:picLocks noChangeAspect="1"/>
          </p:cNvPicPr>
          <p:nvPr/>
        </p:nvPicPr>
        <p:blipFill>
          <a:blip r:embed="rId4"/>
          <a:stretch>
            <a:fillRect/>
          </a:stretch>
        </p:blipFill>
        <p:spPr>
          <a:xfrm>
            <a:off x="7006133" y="2900477"/>
            <a:ext cx="252374" cy="252374"/>
          </a:xfrm>
          <a:prstGeom prst="rect">
            <a:avLst/>
          </a:prstGeom>
        </p:spPr>
      </p:pic>
      <p:sp>
        <p:nvSpPr>
          <p:cNvPr id="22" name="Text 17"/>
          <p:cNvSpPr/>
          <p:nvPr/>
        </p:nvSpPr>
        <p:spPr>
          <a:xfrm>
            <a:off x="7607808" y="2679192"/>
            <a:ext cx="4160520" cy="960120"/>
          </a:xfrm>
          <a:prstGeom prst="rect">
            <a:avLst/>
          </a:prstGeom>
          <a:noFill/>
          <a:ln/>
        </p:spPr>
        <p:txBody>
          <a:bodyPr wrap="square" lIns="0" tIns="0" rIns="0" bIns="0" rtlCol="0" anchor="ctr"/>
          <a:lstStyle/>
          <a:p>
            <a:pPr marL="0" indent="0">
              <a:lnSpc>
                <a:spcPct val="100000"/>
              </a:lnSpc>
              <a:buNone/>
            </a:pPr>
            <a:r>
              <a:rPr lang="en-US" sz="1350" b="1" dirty="0">
                <a:solidFill>
                  <a:srgbClr val="23305F"/>
                </a:solidFill>
              </a:rPr>
              <a:t>Provenance kept</a:t>
            </a:r>
            <a:endParaRPr lang="en-US" sz="1350" dirty="0"/>
          </a:p>
          <a:p>
            <a:pPr marL="0" indent="0">
              <a:lnSpc>
                <a:spcPct val="100000"/>
              </a:lnSpc>
              <a:buNone/>
            </a:pPr>
            <a:r>
              <a:rPr lang="en-US" sz="1150" dirty="0">
                <a:solidFill>
                  <a:srgbClr val="6E6A63"/>
                </a:solidFill>
              </a:rPr>
              <a:t>the *_source_value and *_source_concept_id columns retain exactly what was captured</a:t>
            </a:r>
            <a:endParaRPr lang="en-US" sz="1350" dirty="0"/>
          </a:p>
        </p:txBody>
      </p:sp>
      <p:sp>
        <p:nvSpPr>
          <p:cNvPr id="23" name="Shape 18"/>
          <p:cNvSpPr/>
          <p:nvPr/>
        </p:nvSpPr>
        <p:spPr>
          <a:xfrm>
            <a:off x="6858000" y="3813048"/>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4" name="Image 2" descr="preencoded.png"/>
          <p:cNvPicPr>
            <a:picLocks noChangeAspect="1"/>
          </p:cNvPicPr>
          <p:nvPr/>
        </p:nvPicPr>
        <p:blipFill>
          <a:blip r:embed="rId5"/>
          <a:stretch>
            <a:fillRect/>
          </a:stretch>
        </p:blipFill>
        <p:spPr>
          <a:xfrm>
            <a:off x="7006133" y="3961181"/>
            <a:ext cx="252374" cy="252374"/>
          </a:xfrm>
          <a:prstGeom prst="rect">
            <a:avLst/>
          </a:prstGeom>
        </p:spPr>
      </p:pic>
      <p:sp>
        <p:nvSpPr>
          <p:cNvPr id="25" name="Text 19"/>
          <p:cNvSpPr/>
          <p:nvPr/>
        </p:nvSpPr>
        <p:spPr>
          <a:xfrm>
            <a:off x="7607808" y="3739896"/>
            <a:ext cx="4160520" cy="960120"/>
          </a:xfrm>
          <a:prstGeom prst="rect">
            <a:avLst/>
          </a:prstGeom>
          <a:noFill/>
          <a:ln/>
        </p:spPr>
        <p:txBody>
          <a:bodyPr wrap="square" lIns="0" tIns="0" rIns="0" bIns="0" rtlCol="0" anchor="ctr"/>
          <a:lstStyle/>
          <a:p>
            <a:pPr marL="0" indent="0">
              <a:lnSpc>
                <a:spcPct val="100000"/>
              </a:lnSpc>
              <a:buNone/>
            </a:pPr>
            <a:r>
              <a:rPr lang="en-US" sz="1350" b="1" dirty="0">
                <a:solidFill>
                  <a:srgbClr val="23305F"/>
                </a:solidFill>
              </a:rPr>
              <a:t>Cross-site analysis</a:t>
            </a:r>
            <a:endParaRPr lang="en-US" sz="1350" dirty="0"/>
          </a:p>
          <a:p>
            <a:pPr marL="0" indent="0">
              <a:lnSpc>
                <a:spcPct val="100000"/>
              </a:lnSpc>
              <a:buNone/>
            </a:pPr>
            <a:r>
              <a:rPr lang="en-US" sz="1150" dirty="0">
                <a:solidFill>
                  <a:srgbClr val="6E6A63"/>
                </a:solidFill>
              </a:rPr>
              <a:t>because targets are standard &amp; valid, the same query runs at every OMOP site</a:t>
            </a:r>
            <a:endParaRPr lang="en-US" sz="1350" dirty="0"/>
          </a:p>
        </p:txBody>
      </p:sp>
      <p:sp>
        <p:nvSpPr>
          <p:cNvPr id="26" name="Shape 20"/>
          <p:cNvSpPr/>
          <p:nvPr/>
        </p:nvSpPr>
        <p:spPr>
          <a:xfrm>
            <a:off x="6858000" y="4873752"/>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7" name="Image 3" descr="preencoded.png"/>
          <p:cNvPicPr>
            <a:picLocks noChangeAspect="1"/>
          </p:cNvPicPr>
          <p:nvPr/>
        </p:nvPicPr>
        <p:blipFill>
          <a:blip r:embed="rId6"/>
          <a:stretch>
            <a:fillRect/>
          </a:stretch>
        </p:blipFill>
        <p:spPr>
          <a:xfrm>
            <a:off x="7006133" y="5021885"/>
            <a:ext cx="252374" cy="252374"/>
          </a:xfrm>
          <a:prstGeom prst="rect">
            <a:avLst/>
          </a:prstGeom>
        </p:spPr>
      </p:pic>
      <p:sp>
        <p:nvSpPr>
          <p:cNvPr id="28" name="Text 21"/>
          <p:cNvSpPr/>
          <p:nvPr/>
        </p:nvSpPr>
        <p:spPr>
          <a:xfrm>
            <a:off x="7607808" y="4800600"/>
            <a:ext cx="4160520" cy="960120"/>
          </a:xfrm>
          <a:prstGeom prst="rect">
            <a:avLst/>
          </a:prstGeom>
          <a:noFill/>
          <a:ln/>
        </p:spPr>
        <p:txBody>
          <a:bodyPr wrap="square" lIns="0" tIns="0" rIns="0" bIns="0" rtlCol="0" anchor="ctr"/>
          <a:lstStyle/>
          <a:p>
            <a:pPr marL="0" indent="0">
              <a:lnSpc>
                <a:spcPct val="100000"/>
              </a:lnSpc>
              <a:buNone/>
            </a:pPr>
            <a:r>
              <a:rPr lang="en-US" sz="1350" b="1" dirty="0">
                <a:solidFill>
                  <a:srgbClr val="23305F"/>
                </a:solidFill>
              </a:rPr>
              <a:t>Versioned &amp; reproducible</a:t>
            </a:r>
            <a:endParaRPr lang="en-US" sz="1350" dirty="0"/>
          </a:p>
          <a:p>
            <a:pPr marL="0" indent="0">
              <a:lnSpc>
                <a:spcPct val="100000"/>
              </a:lnSpc>
              <a:buNone/>
            </a:pPr>
            <a:r>
              <a:rPr lang="en-US" sz="1150" dirty="0">
                <a:solidFill>
                  <a:srgbClr val="6E6A63"/>
                </a:solidFill>
              </a:rPr>
              <a:t>STCM releases are vocab-tagged — re-running the ETL reproduces the CDM exactly</a:t>
            </a:r>
            <a:endParaRPr lang="en-US" sz="1350" dirty="0"/>
          </a:p>
        </p:txBody>
      </p:sp>
      <p:sp>
        <p:nvSpPr>
          <p:cNvPr id="29" name="Shape 22"/>
          <p:cNvSpPr/>
          <p:nvPr/>
        </p:nvSpPr>
        <p:spPr>
          <a:xfrm>
            <a:off x="594360" y="5989320"/>
            <a:ext cx="11018520" cy="731520"/>
          </a:xfrm>
          <a:prstGeom prst="roundRect">
            <a:avLst>
              <a:gd name="adj" fmla="val 10000"/>
            </a:avLst>
          </a:prstGeom>
          <a:solidFill>
            <a:srgbClr val="2A2013"/>
          </a:solidFill>
          <a:ln/>
        </p:spPr>
        <p:txBody>
          <a:bodyPr/>
          <a:lstStyle/>
          <a:p>
            <a:endParaRPr lang="en-US"/>
          </a:p>
        </p:txBody>
      </p:sp>
      <p:sp>
        <p:nvSpPr>
          <p:cNvPr id="30" name="Text 23"/>
          <p:cNvSpPr/>
          <p:nvPr/>
        </p:nvSpPr>
        <p:spPr>
          <a:xfrm>
            <a:off x="777240" y="5989320"/>
            <a:ext cx="10652760" cy="731520"/>
          </a:xfrm>
          <a:prstGeom prst="rect">
            <a:avLst/>
          </a:prstGeom>
          <a:noFill/>
          <a:ln/>
        </p:spPr>
        <p:txBody>
          <a:bodyPr wrap="square" lIns="0" tIns="0" rIns="0" bIns="0" rtlCol="0" anchor="ctr"/>
          <a:lstStyle/>
          <a:p>
            <a:pPr marL="0" indent="0" algn="ctr">
              <a:buNone/>
            </a:pPr>
            <a:r>
              <a:rPr lang="en-US" sz="1500" b="1" dirty="0">
                <a:solidFill>
                  <a:srgbClr val="EBD9AE"/>
                </a:solidFill>
                <a:latin typeface="Calibri" pitchFamily="34" charset="0"/>
                <a:ea typeface="Calibri" pitchFamily="34" charset="-122"/>
                <a:cs typeface="Calibri" pitchFamily="34" charset="-120"/>
              </a:rPr>
              <a:t>A clean SOURCE_TO_CONCEPT_MAP is the hinge</a:t>
            </a:r>
            <a:r>
              <a:rPr lang="en-US" sz="1500" dirty="0">
                <a:solidFill>
                  <a:srgbClr val="F1E7D6"/>
                </a:solidFill>
                <a:latin typeface="Calibri" pitchFamily="34" charset="0"/>
                <a:ea typeface="Calibri" pitchFamily="34" charset="-122"/>
                <a:cs typeface="Calibri" pitchFamily="34" charset="-120"/>
              </a:rPr>
              <a:t>  between raw records and research-ready data.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Usagi — the OHDSI reference for mapping</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The community's standard tool — and the philosophy COMET shares</a:t>
            </a:r>
            <a:endParaRPr lang="en-US" sz="1450" dirty="0"/>
          </a:p>
        </p:txBody>
      </p:sp>
      <p:sp>
        <p:nvSpPr>
          <p:cNvPr id="5" name="Shape 2"/>
          <p:cNvSpPr/>
          <p:nvPr/>
        </p:nvSpPr>
        <p:spPr>
          <a:xfrm>
            <a:off x="640080" y="164592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88213" y="1794053"/>
            <a:ext cx="252374" cy="252374"/>
          </a:xfrm>
          <a:prstGeom prst="rect">
            <a:avLst/>
          </a:prstGeom>
        </p:spPr>
      </p:pic>
      <p:sp>
        <p:nvSpPr>
          <p:cNvPr id="7" name="Text 3"/>
          <p:cNvSpPr/>
          <p:nvPr/>
        </p:nvSpPr>
        <p:spPr>
          <a:xfrm>
            <a:off x="1371600" y="1645920"/>
            <a:ext cx="4572000" cy="548640"/>
          </a:xfrm>
          <a:prstGeom prst="rect">
            <a:avLst/>
          </a:prstGeom>
          <a:noFill/>
          <a:ln/>
        </p:spPr>
        <p:txBody>
          <a:bodyPr wrap="square" lIns="0" tIns="0" rIns="0" bIns="0" rtlCol="0" anchor="ctr"/>
          <a:lstStyle/>
          <a:p>
            <a:pPr marL="0" indent="0">
              <a:buNone/>
            </a:pPr>
            <a:r>
              <a:rPr lang="en-US" sz="1600" b="1" dirty="0">
                <a:solidFill>
                  <a:srgbClr val="23305F"/>
                </a:solidFill>
                <a:latin typeface="Cambria" pitchFamily="34" charset="0"/>
                <a:ea typeface="Cambria" pitchFamily="34" charset="-122"/>
                <a:cs typeface="Cambria" pitchFamily="34" charset="-120"/>
              </a:rPr>
              <a:t>How Usagi works</a:t>
            </a:r>
            <a:endParaRPr lang="en-US" sz="1600" dirty="0"/>
          </a:p>
        </p:txBody>
      </p:sp>
      <p:sp>
        <p:nvSpPr>
          <p:cNvPr id="8" name="Shape 4"/>
          <p:cNvSpPr/>
          <p:nvPr/>
        </p:nvSpPr>
        <p:spPr>
          <a:xfrm>
            <a:off x="640080" y="242316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778337" y="2561417"/>
            <a:ext cx="235549" cy="235549"/>
          </a:xfrm>
          <a:prstGeom prst="rect">
            <a:avLst/>
          </a:prstGeom>
        </p:spPr>
      </p:pic>
      <p:sp>
        <p:nvSpPr>
          <p:cNvPr id="10" name="Text 5"/>
          <p:cNvSpPr/>
          <p:nvPr/>
        </p:nvSpPr>
        <p:spPr>
          <a:xfrm>
            <a:off x="1371600" y="2350008"/>
            <a:ext cx="4572000" cy="914400"/>
          </a:xfrm>
          <a:prstGeom prst="rect">
            <a:avLst/>
          </a:prstGeom>
          <a:noFill/>
          <a:ln/>
        </p:spPr>
        <p:txBody>
          <a:bodyPr wrap="square" lIns="0" tIns="0" rIns="0" bIns="0" rtlCol="0" anchor="ctr"/>
          <a:lstStyle/>
          <a:p>
            <a:pPr marL="0" indent="0">
              <a:lnSpc>
                <a:spcPct val="100000"/>
              </a:lnSpc>
              <a:buNone/>
            </a:pPr>
            <a:r>
              <a:rPr lang="en-US" sz="1350" b="1" dirty="0">
                <a:solidFill>
                  <a:srgbClr val="2B2B2B"/>
                </a:solidFill>
              </a:rPr>
              <a:t>Similarity search</a:t>
            </a:r>
            <a:endParaRPr lang="en-US" sz="1350" dirty="0"/>
          </a:p>
          <a:p>
            <a:pPr marL="0" indent="0">
              <a:lnSpc>
                <a:spcPct val="100000"/>
              </a:lnSpc>
              <a:buNone/>
            </a:pPr>
            <a:r>
              <a:rPr lang="en-US" sz="1150" dirty="0">
                <a:solidFill>
                  <a:srgbClr val="6E6A63"/>
                </a:solidFill>
              </a:rPr>
              <a:t>Lucene term matching proposes ranked standard-concept candidates, boosted by usage &amp; translations</a:t>
            </a:r>
            <a:endParaRPr lang="en-US" sz="1350" dirty="0"/>
          </a:p>
        </p:txBody>
      </p:sp>
      <p:sp>
        <p:nvSpPr>
          <p:cNvPr id="11" name="Shape 6"/>
          <p:cNvSpPr/>
          <p:nvPr/>
        </p:nvSpPr>
        <p:spPr>
          <a:xfrm>
            <a:off x="640080" y="347472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778337" y="3612977"/>
            <a:ext cx="235549" cy="235549"/>
          </a:xfrm>
          <a:prstGeom prst="rect">
            <a:avLst/>
          </a:prstGeom>
        </p:spPr>
      </p:pic>
      <p:sp>
        <p:nvSpPr>
          <p:cNvPr id="13" name="Text 7"/>
          <p:cNvSpPr/>
          <p:nvPr/>
        </p:nvSpPr>
        <p:spPr>
          <a:xfrm>
            <a:off x="1371600" y="3401568"/>
            <a:ext cx="4572000" cy="914400"/>
          </a:xfrm>
          <a:prstGeom prst="rect">
            <a:avLst/>
          </a:prstGeom>
          <a:noFill/>
          <a:ln/>
        </p:spPr>
        <p:txBody>
          <a:bodyPr wrap="square" lIns="0" tIns="0" rIns="0" bIns="0" rtlCol="0" anchor="ctr"/>
          <a:lstStyle/>
          <a:p>
            <a:pPr marL="0" indent="0">
              <a:lnSpc>
                <a:spcPct val="100000"/>
              </a:lnSpc>
              <a:buNone/>
            </a:pPr>
            <a:r>
              <a:rPr lang="en-US" sz="1350" b="1" dirty="0">
                <a:solidFill>
                  <a:srgbClr val="2B2B2B"/>
                </a:solidFill>
              </a:rPr>
              <a:t>Human review</a:t>
            </a:r>
            <a:endParaRPr lang="en-US" sz="1350" dirty="0"/>
          </a:p>
          <a:p>
            <a:pPr marL="0" indent="0">
              <a:lnSpc>
                <a:spcPct val="100000"/>
              </a:lnSpc>
              <a:buNone/>
            </a:pPr>
            <a:r>
              <a:rPr lang="en-US" sz="1150" dirty="0">
                <a:solidFill>
                  <a:srgbClr val="6E6A63"/>
                </a:solidFill>
              </a:rPr>
              <a:t>a curator approves, rejects, or flags each suggested map — machine proposes, human decides</a:t>
            </a:r>
            <a:endParaRPr lang="en-US" sz="1350" dirty="0"/>
          </a:p>
        </p:txBody>
      </p:sp>
      <p:sp>
        <p:nvSpPr>
          <p:cNvPr id="14" name="Shape 8"/>
          <p:cNvSpPr/>
          <p:nvPr/>
        </p:nvSpPr>
        <p:spPr>
          <a:xfrm>
            <a:off x="640080" y="452628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778337" y="4664537"/>
            <a:ext cx="235549" cy="235549"/>
          </a:xfrm>
          <a:prstGeom prst="rect">
            <a:avLst/>
          </a:prstGeom>
        </p:spPr>
      </p:pic>
      <p:sp>
        <p:nvSpPr>
          <p:cNvPr id="16" name="Text 9"/>
          <p:cNvSpPr/>
          <p:nvPr/>
        </p:nvSpPr>
        <p:spPr>
          <a:xfrm>
            <a:off x="1371600" y="4453128"/>
            <a:ext cx="4572000" cy="914400"/>
          </a:xfrm>
          <a:prstGeom prst="rect">
            <a:avLst/>
          </a:prstGeom>
          <a:noFill/>
          <a:ln/>
        </p:spPr>
        <p:txBody>
          <a:bodyPr wrap="square" lIns="0" tIns="0" rIns="0" bIns="0" rtlCol="0" anchor="ctr"/>
          <a:lstStyle/>
          <a:p>
            <a:pPr marL="0" indent="0">
              <a:lnSpc>
                <a:spcPct val="100000"/>
              </a:lnSpc>
              <a:buNone/>
            </a:pPr>
            <a:r>
              <a:rPr lang="en-US" sz="1350" b="1" dirty="0">
                <a:solidFill>
                  <a:srgbClr val="2B2B2B"/>
                </a:solidFill>
              </a:rPr>
              <a:t>STCM export</a:t>
            </a:r>
            <a:endParaRPr lang="en-US" sz="1350" dirty="0"/>
          </a:p>
          <a:p>
            <a:pPr marL="0" indent="0">
              <a:lnSpc>
                <a:spcPct val="100000"/>
              </a:lnSpc>
              <a:buNone/>
            </a:pPr>
            <a:r>
              <a:rPr lang="en-US" sz="1150" dirty="0">
                <a:solidFill>
                  <a:srgbClr val="6E6A63"/>
                </a:solidFill>
              </a:rPr>
              <a:t>approved maps become a SOURCE_TO_CONCEPT_MAP — the very artifact COMET produces</a:t>
            </a:r>
            <a:endParaRPr lang="en-US" sz="1350" dirty="0"/>
          </a:p>
        </p:txBody>
      </p:sp>
      <p:sp>
        <p:nvSpPr>
          <p:cNvPr id="17" name="Shape 10"/>
          <p:cNvSpPr/>
          <p:nvPr/>
        </p:nvSpPr>
        <p:spPr>
          <a:xfrm>
            <a:off x="6492240" y="164592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8" name="Image 4" descr="preencoded.png"/>
          <p:cNvPicPr>
            <a:picLocks noChangeAspect="1"/>
          </p:cNvPicPr>
          <p:nvPr/>
        </p:nvPicPr>
        <p:blipFill>
          <a:blip r:embed="rId7"/>
          <a:stretch>
            <a:fillRect/>
          </a:stretch>
        </p:blipFill>
        <p:spPr>
          <a:xfrm>
            <a:off x="6640373" y="1794053"/>
            <a:ext cx="252374" cy="252374"/>
          </a:xfrm>
          <a:prstGeom prst="rect">
            <a:avLst/>
          </a:prstGeom>
        </p:spPr>
      </p:pic>
      <p:sp>
        <p:nvSpPr>
          <p:cNvPr id="19" name="Text 11"/>
          <p:cNvSpPr/>
          <p:nvPr/>
        </p:nvSpPr>
        <p:spPr>
          <a:xfrm>
            <a:off x="7223760" y="1645920"/>
            <a:ext cx="4572000" cy="548640"/>
          </a:xfrm>
          <a:prstGeom prst="rect">
            <a:avLst/>
          </a:prstGeom>
          <a:noFill/>
          <a:ln/>
        </p:spPr>
        <p:txBody>
          <a:bodyPr wrap="square" lIns="0" tIns="0" rIns="0" bIns="0" rtlCol="0" anchor="ctr"/>
          <a:lstStyle/>
          <a:p>
            <a:pPr marL="0" indent="0">
              <a:buNone/>
            </a:pPr>
            <a:r>
              <a:rPr lang="en-US" sz="1600" b="1" dirty="0">
                <a:solidFill>
                  <a:srgbClr val="23305F"/>
                </a:solidFill>
                <a:latin typeface="Cambria" pitchFamily="34" charset="0"/>
                <a:ea typeface="Cambria" pitchFamily="34" charset="-122"/>
                <a:cs typeface="Cambria" pitchFamily="34" charset="-120"/>
              </a:rPr>
              <a:t>COMET shares it — at team scale</a:t>
            </a:r>
            <a:endParaRPr lang="en-US" sz="1600" dirty="0"/>
          </a:p>
        </p:txBody>
      </p:sp>
      <p:sp>
        <p:nvSpPr>
          <p:cNvPr id="20" name="Shape 12"/>
          <p:cNvSpPr/>
          <p:nvPr/>
        </p:nvSpPr>
        <p:spPr>
          <a:xfrm>
            <a:off x="6492240" y="242316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1" name="Image 5" descr="preencoded.png"/>
          <p:cNvPicPr>
            <a:picLocks noChangeAspect="1"/>
          </p:cNvPicPr>
          <p:nvPr/>
        </p:nvPicPr>
        <p:blipFill>
          <a:blip r:embed="rId8"/>
          <a:stretch>
            <a:fillRect/>
          </a:stretch>
        </p:blipFill>
        <p:spPr>
          <a:xfrm>
            <a:off x="6630497" y="2561417"/>
            <a:ext cx="235549" cy="235549"/>
          </a:xfrm>
          <a:prstGeom prst="rect">
            <a:avLst/>
          </a:prstGeom>
        </p:spPr>
      </p:pic>
      <p:sp>
        <p:nvSpPr>
          <p:cNvPr id="22" name="Text 13"/>
          <p:cNvSpPr/>
          <p:nvPr/>
        </p:nvSpPr>
        <p:spPr>
          <a:xfrm>
            <a:off x="7223760" y="2350008"/>
            <a:ext cx="4389120" cy="914400"/>
          </a:xfrm>
          <a:prstGeom prst="rect">
            <a:avLst/>
          </a:prstGeom>
          <a:noFill/>
          <a:ln/>
        </p:spPr>
        <p:txBody>
          <a:bodyPr wrap="square" lIns="0" tIns="0" rIns="0" bIns="0" rtlCol="0" anchor="ctr"/>
          <a:lstStyle/>
          <a:p>
            <a:pPr marL="0" indent="0">
              <a:lnSpc>
                <a:spcPct val="100000"/>
              </a:lnSpc>
              <a:buNone/>
            </a:pPr>
            <a:r>
              <a:rPr lang="en-US" sz="1350" b="1" dirty="0">
                <a:solidFill>
                  <a:srgbClr val="2B2B2B"/>
                </a:solidFill>
              </a:rPr>
              <a:t>Same loop, more reach</a:t>
            </a:r>
            <a:endParaRPr lang="en-US" sz="1350" dirty="0"/>
          </a:p>
          <a:p>
            <a:pPr marL="0" indent="0">
              <a:lnSpc>
                <a:spcPct val="100000"/>
              </a:lnSpc>
              <a:buNone/>
            </a:pPr>
            <a:r>
              <a:rPr lang="en-US" sz="1150" dirty="0">
                <a:solidFill>
                  <a:srgbClr val="6E6A63"/>
                </a:solidFill>
              </a:rPr>
              <a:t>web-based and multi-user, not a single-seat desktop app</a:t>
            </a:r>
            <a:endParaRPr lang="en-US" sz="1350" dirty="0"/>
          </a:p>
        </p:txBody>
      </p:sp>
      <p:sp>
        <p:nvSpPr>
          <p:cNvPr id="23" name="Shape 14"/>
          <p:cNvSpPr/>
          <p:nvPr/>
        </p:nvSpPr>
        <p:spPr>
          <a:xfrm>
            <a:off x="6492240" y="347472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4" name="Image 6" descr="preencoded.png"/>
          <p:cNvPicPr>
            <a:picLocks noChangeAspect="1"/>
          </p:cNvPicPr>
          <p:nvPr/>
        </p:nvPicPr>
        <p:blipFill>
          <a:blip r:embed="rId9"/>
          <a:stretch>
            <a:fillRect/>
          </a:stretch>
        </p:blipFill>
        <p:spPr>
          <a:xfrm>
            <a:off x="6630497" y="3612977"/>
            <a:ext cx="235549" cy="235549"/>
          </a:xfrm>
          <a:prstGeom prst="rect">
            <a:avLst/>
          </a:prstGeom>
        </p:spPr>
      </p:pic>
      <p:sp>
        <p:nvSpPr>
          <p:cNvPr id="25" name="Text 15"/>
          <p:cNvSpPr/>
          <p:nvPr/>
        </p:nvSpPr>
        <p:spPr>
          <a:xfrm>
            <a:off x="7223760" y="3401568"/>
            <a:ext cx="4389120" cy="914400"/>
          </a:xfrm>
          <a:prstGeom prst="rect">
            <a:avLst/>
          </a:prstGeom>
          <a:noFill/>
          <a:ln/>
        </p:spPr>
        <p:txBody>
          <a:bodyPr wrap="square" lIns="0" tIns="0" rIns="0" bIns="0" rtlCol="0" anchor="ctr"/>
          <a:lstStyle/>
          <a:p>
            <a:pPr marL="0" indent="0">
              <a:lnSpc>
                <a:spcPct val="100000"/>
              </a:lnSpc>
              <a:buNone/>
            </a:pPr>
            <a:r>
              <a:rPr lang="en-US" sz="1350" b="1" dirty="0">
                <a:solidFill>
                  <a:srgbClr val="2B2B2B"/>
                </a:solidFill>
              </a:rPr>
              <a:t>Guardrailed &amp; governed</a:t>
            </a:r>
            <a:endParaRPr lang="en-US" sz="1350" dirty="0"/>
          </a:p>
          <a:p>
            <a:pPr marL="0" indent="0">
              <a:lnSpc>
                <a:spcPct val="100000"/>
              </a:lnSpc>
              <a:buNone/>
            </a:pPr>
            <a:r>
              <a:rPr lang="en-US" sz="1150" dirty="0">
                <a:solidFill>
                  <a:srgbClr val="6E6A63"/>
                </a:solidFill>
              </a:rPr>
              <a:t>live OMOP vocab in Postgres, CDM v5.4 guardrails, review workflow, drift report, dashboards</a:t>
            </a:r>
            <a:endParaRPr lang="en-US" sz="1350" dirty="0"/>
          </a:p>
        </p:txBody>
      </p:sp>
      <p:sp>
        <p:nvSpPr>
          <p:cNvPr id="26" name="Shape 16"/>
          <p:cNvSpPr/>
          <p:nvPr/>
        </p:nvSpPr>
        <p:spPr>
          <a:xfrm>
            <a:off x="6492240" y="452628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7" name="Image 7" descr="preencoded.png"/>
          <p:cNvPicPr>
            <a:picLocks noChangeAspect="1"/>
          </p:cNvPicPr>
          <p:nvPr/>
        </p:nvPicPr>
        <p:blipFill>
          <a:blip r:embed="rId10"/>
          <a:stretch>
            <a:fillRect/>
          </a:stretch>
        </p:blipFill>
        <p:spPr>
          <a:xfrm>
            <a:off x="6630497" y="4664537"/>
            <a:ext cx="235549" cy="235549"/>
          </a:xfrm>
          <a:prstGeom prst="rect">
            <a:avLst/>
          </a:prstGeom>
        </p:spPr>
      </p:pic>
      <p:sp>
        <p:nvSpPr>
          <p:cNvPr id="28" name="Text 17"/>
          <p:cNvSpPr/>
          <p:nvPr/>
        </p:nvSpPr>
        <p:spPr>
          <a:xfrm>
            <a:off x="7223760" y="4453128"/>
            <a:ext cx="4389120" cy="914400"/>
          </a:xfrm>
          <a:prstGeom prst="rect">
            <a:avLst/>
          </a:prstGeom>
          <a:noFill/>
          <a:ln/>
        </p:spPr>
        <p:txBody>
          <a:bodyPr wrap="square" lIns="0" tIns="0" rIns="0" bIns="0" rtlCol="0" anchor="ctr"/>
          <a:lstStyle/>
          <a:p>
            <a:pPr marL="0" indent="0">
              <a:lnSpc>
                <a:spcPct val="100000"/>
              </a:lnSpc>
              <a:buNone/>
            </a:pPr>
            <a:r>
              <a:rPr lang="en-US" sz="1350" b="1" dirty="0">
                <a:solidFill>
                  <a:srgbClr val="2B2B2B"/>
                </a:solidFill>
              </a:rPr>
              <a:t>Interoperable</a:t>
            </a:r>
            <a:endParaRPr lang="en-US" sz="1350" dirty="0"/>
          </a:p>
          <a:p>
            <a:pPr marL="0" indent="0">
              <a:lnSpc>
                <a:spcPct val="100000"/>
              </a:lnSpc>
              <a:buNone/>
            </a:pPr>
            <a:r>
              <a:rPr lang="en-US" sz="1150" dirty="0">
                <a:solidFill>
                  <a:srgbClr val="6E6A63"/>
                </a:solidFill>
              </a:rPr>
              <a:t>COMET exports Usagi format, so it drops into existing OHDSI pipelines</a:t>
            </a:r>
            <a:endParaRPr lang="en-US" sz="1350" dirty="0"/>
          </a:p>
        </p:txBody>
      </p:sp>
      <p:sp>
        <p:nvSpPr>
          <p:cNvPr id="29" name="Shape 18"/>
          <p:cNvSpPr/>
          <p:nvPr/>
        </p:nvSpPr>
        <p:spPr>
          <a:xfrm>
            <a:off x="594360" y="5806440"/>
            <a:ext cx="11018520" cy="777240"/>
          </a:xfrm>
          <a:prstGeom prst="roundRect">
            <a:avLst>
              <a:gd name="adj" fmla="val 9412"/>
            </a:avLst>
          </a:prstGeom>
          <a:solidFill>
            <a:srgbClr val="F6F2EB"/>
          </a:solidFill>
          <a:ln w="12700">
            <a:solidFill>
              <a:srgbClr val="DAD3C6"/>
            </a:solidFill>
            <a:prstDash val="solid"/>
          </a:ln>
        </p:spPr>
        <p:txBody>
          <a:bodyPr/>
          <a:lstStyle/>
          <a:p>
            <a:endParaRPr lang="en-US"/>
          </a:p>
        </p:txBody>
      </p:sp>
      <p:sp>
        <p:nvSpPr>
          <p:cNvPr id="30" name="Text 19"/>
          <p:cNvSpPr/>
          <p:nvPr/>
        </p:nvSpPr>
        <p:spPr>
          <a:xfrm>
            <a:off x="822960" y="5806440"/>
            <a:ext cx="10561320" cy="777240"/>
          </a:xfrm>
          <a:prstGeom prst="rect">
            <a:avLst/>
          </a:prstGeom>
          <a:noFill/>
          <a:ln/>
        </p:spPr>
        <p:txBody>
          <a:bodyPr wrap="square" lIns="0" tIns="0" rIns="0" bIns="0" rtlCol="0" anchor="ctr"/>
          <a:lstStyle/>
          <a:p>
            <a:pPr marL="0" indent="0" algn="ctr">
              <a:buNone/>
            </a:pPr>
            <a:r>
              <a:rPr lang="en-US" sz="1350" b="1" dirty="0">
                <a:solidFill>
                  <a:srgbClr val="23305F"/>
                </a:solidFill>
                <a:latin typeface="Calibri" pitchFamily="34" charset="0"/>
                <a:ea typeface="Calibri" pitchFamily="34" charset="-122"/>
                <a:cs typeface="Calibri" pitchFamily="34" charset="-120"/>
              </a:rPr>
              <a:t>Usagi's candidates are purely lexical</a:t>
            </a:r>
            <a:r>
              <a:rPr lang="en-US" sz="1350" dirty="0">
                <a:solidFill>
                  <a:srgbClr val="6E6A63"/>
                </a:solidFill>
                <a:latin typeface="Calibri" pitchFamily="34" charset="0"/>
                <a:ea typeface="Calibri" pitchFamily="34" charset="-122"/>
                <a:cs typeface="Calibri" pitchFamily="34" charset="-120"/>
              </a:rPr>
              <a:t> — strong on clean terms, weaker on abbreviations and misspellings. That gap is exactly what comes next.</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The original COMET</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A legacy PHP tool that did the job — and showed where the ceiling was</a:t>
            </a:r>
            <a:endParaRPr lang="en-US" sz="1450" dirty="0"/>
          </a:p>
        </p:txBody>
      </p:sp>
      <p:sp>
        <p:nvSpPr>
          <p:cNvPr id="5" name="Shape 2"/>
          <p:cNvSpPr/>
          <p:nvPr/>
        </p:nvSpPr>
        <p:spPr>
          <a:xfrm>
            <a:off x="585216" y="1591056"/>
            <a:ext cx="4956048" cy="4436799"/>
          </a:xfrm>
          <a:prstGeom prst="roundRect">
            <a:avLst>
              <a:gd name="adj" fmla="val 1237"/>
            </a:avLst>
          </a:prstGeom>
          <a:solidFill>
            <a:srgbClr val="FFFFFF"/>
          </a:solidFill>
          <a:ln w="12700">
            <a:solidFill>
              <a:srgbClr val="DAD3C6"/>
            </a:solidFill>
            <a:prstDash val="solid"/>
          </a:ln>
          <a:effectLst>
            <a:outerShdw blurRad="114300" dist="38100" dir="5400000" algn="bl" rotWithShape="0">
              <a:srgbClr val="000000">
                <a:alpha val="22000"/>
              </a:srgbClr>
            </a:outerShdw>
          </a:effectLst>
        </p:spPr>
        <p:txBody>
          <a:bodyPr/>
          <a:lstStyle/>
          <a:p>
            <a:endParaRPr lang="en-US"/>
          </a:p>
        </p:txBody>
      </p:sp>
      <p:pic>
        <p:nvPicPr>
          <p:cNvPr id="6" name="Image 0" descr="/private/tmp/claude-501/-Users-mohammedabdallah-Projects-commet/f78115b9-c404-4e19-b5c5-246250312e25/scratchpad/crop/legacy.png"/>
          <p:cNvPicPr>
            <a:picLocks noChangeAspect="1"/>
          </p:cNvPicPr>
          <p:nvPr/>
        </p:nvPicPr>
        <p:blipFill>
          <a:blip r:embed="rId3"/>
          <a:stretch>
            <a:fillRect/>
          </a:stretch>
        </p:blipFill>
        <p:spPr>
          <a:xfrm>
            <a:off x="640080" y="1645920"/>
            <a:ext cx="4846320" cy="4327071"/>
          </a:xfrm>
          <a:prstGeom prst="rect">
            <a:avLst/>
          </a:prstGeom>
        </p:spPr>
      </p:pic>
      <p:sp>
        <p:nvSpPr>
          <p:cNvPr id="7" name="Text 3"/>
          <p:cNvSpPr/>
          <p:nvPr/>
        </p:nvSpPr>
        <p:spPr>
          <a:xfrm>
            <a:off x="5943600" y="1691640"/>
            <a:ext cx="5577840" cy="365760"/>
          </a:xfrm>
          <a:prstGeom prst="rect">
            <a:avLst/>
          </a:prstGeom>
          <a:noFill/>
          <a:ln/>
        </p:spPr>
        <p:txBody>
          <a:bodyPr wrap="square" lIns="0" tIns="0" rIns="0" bIns="0" rtlCol="0" anchor="ctr"/>
          <a:lstStyle/>
          <a:p>
            <a:pPr marL="0" indent="0">
              <a:buNone/>
            </a:pPr>
            <a:r>
              <a:rPr lang="en-US" sz="1800" b="1" dirty="0">
                <a:solidFill>
                  <a:srgbClr val="23305F"/>
                </a:solidFill>
                <a:latin typeface="Cambria" pitchFamily="34" charset="0"/>
                <a:ea typeface="Cambria" pitchFamily="34" charset="-122"/>
                <a:cs typeface="Cambria" pitchFamily="34" charset="-120"/>
              </a:rPr>
              <a:t>Served its purpose</a:t>
            </a:r>
            <a:endParaRPr lang="en-US" sz="1800" dirty="0"/>
          </a:p>
        </p:txBody>
      </p:sp>
      <p:sp>
        <p:nvSpPr>
          <p:cNvPr id="8" name="Shape 4"/>
          <p:cNvSpPr/>
          <p:nvPr/>
        </p:nvSpPr>
        <p:spPr>
          <a:xfrm>
            <a:off x="5943600" y="224028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6091733" y="2388413"/>
            <a:ext cx="252374" cy="252374"/>
          </a:xfrm>
          <a:prstGeom prst="rect">
            <a:avLst/>
          </a:prstGeom>
        </p:spPr>
      </p:pic>
      <p:sp>
        <p:nvSpPr>
          <p:cNvPr id="10" name="Text 5"/>
          <p:cNvSpPr/>
          <p:nvPr/>
        </p:nvSpPr>
        <p:spPr>
          <a:xfrm>
            <a:off x="6675120" y="2194560"/>
            <a:ext cx="4846320" cy="640080"/>
          </a:xfrm>
          <a:prstGeom prst="rect">
            <a:avLst/>
          </a:prstGeom>
          <a:noFill/>
          <a:ln/>
        </p:spPr>
        <p:txBody>
          <a:bodyPr wrap="square" lIns="0" tIns="0" rIns="0" bIns="0" rtlCol="0" anchor="ctr"/>
          <a:lstStyle/>
          <a:p>
            <a:pPr marL="0" indent="0">
              <a:buNone/>
            </a:pPr>
            <a:r>
              <a:rPr lang="en-US" sz="1400" b="1" dirty="0">
                <a:solidFill>
                  <a:srgbClr val="2B2B2B"/>
                </a:solidFill>
              </a:rPr>
              <a:t>Procedural PHP  </a:t>
            </a:r>
            <a:r>
              <a:rPr lang="en-US" sz="1250" dirty="0">
                <a:solidFill>
                  <a:srgbClr val="6E6A63"/>
                </a:solidFill>
              </a:rPr>
              <a:t>— no framework, no tests, no linter — hard to change safely</a:t>
            </a:r>
            <a:endParaRPr lang="en-US" sz="1400" dirty="0"/>
          </a:p>
        </p:txBody>
      </p:sp>
      <p:sp>
        <p:nvSpPr>
          <p:cNvPr id="11" name="Shape 6"/>
          <p:cNvSpPr/>
          <p:nvPr/>
        </p:nvSpPr>
        <p:spPr>
          <a:xfrm>
            <a:off x="5943600" y="3172968"/>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6091733" y="3321101"/>
            <a:ext cx="252374" cy="252374"/>
          </a:xfrm>
          <a:prstGeom prst="rect">
            <a:avLst/>
          </a:prstGeom>
        </p:spPr>
      </p:pic>
      <p:sp>
        <p:nvSpPr>
          <p:cNvPr id="13" name="Text 7"/>
          <p:cNvSpPr/>
          <p:nvPr/>
        </p:nvSpPr>
        <p:spPr>
          <a:xfrm>
            <a:off x="6675120" y="3127248"/>
            <a:ext cx="4846320" cy="640080"/>
          </a:xfrm>
          <a:prstGeom prst="rect">
            <a:avLst/>
          </a:prstGeom>
          <a:noFill/>
          <a:ln/>
        </p:spPr>
        <p:txBody>
          <a:bodyPr wrap="square" lIns="0" tIns="0" rIns="0" bIns="0" rtlCol="0" anchor="ctr"/>
          <a:lstStyle/>
          <a:p>
            <a:pPr marL="0" indent="0">
              <a:buNone/>
            </a:pPr>
            <a:r>
              <a:rPr lang="en-US" sz="1400" b="1" dirty="0">
                <a:solidFill>
                  <a:srgbClr val="2B2B2B"/>
                </a:solidFill>
              </a:rPr>
              <a:t>Literal search  </a:t>
            </a:r>
            <a:r>
              <a:rPr lang="en-US" sz="1250" dirty="0">
                <a:solidFill>
                  <a:srgbClr val="6E6A63"/>
                </a:solidFill>
              </a:rPr>
              <a:t>— exact-string lookups; mappers transcribed from Athena by hand</a:t>
            </a:r>
            <a:endParaRPr lang="en-US" sz="1400" dirty="0"/>
          </a:p>
        </p:txBody>
      </p:sp>
      <p:sp>
        <p:nvSpPr>
          <p:cNvPr id="14" name="Shape 8"/>
          <p:cNvSpPr/>
          <p:nvPr/>
        </p:nvSpPr>
        <p:spPr>
          <a:xfrm>
            <a:off x="5943600" y="4105656"/>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5" name="Image 3" descr="preencoded.png"/>
          <p:cNvPicPr>
            <a:picLocks noChangeAspect="1"/>
          </p:cNvPicPr>
          <p:nvPr/>
        </p:nvPicPr>
        <p:blipFill>
          <a:blip r:embed="rId6"/>
          <a:stretch>
            <a:fillRect/>
          </a:stretch>
        </p:blipFill>
        <p:spPr>
          <a:xfrm>
            <a:off x="6091733" y="4253789"/>
            <a:ext cx="252374" cy="252374"/>
          </a:xfrm>
          <a:prstGeom prst="rect">
            <a:avLst/>
          </a:prstGeom>
        </p:spPr>
      </p:pic>
      <p:sp>
        <p:nvSpPr>
          <p:cNvPr id="16" name="Text 9"/>
          <p:cNvSpPr/>
          <p:nvPr/>
        </p:nvSpPr>
        <p:spPr>
          <a:xfrm>
            <a:off x="6675120" y="4059936"/>
            <a:ext cx="4846320" cy="640080"/>
          </a:xfrm>
          <a:prstGeom prst="rect">
            <a:avLst/>
          </a:prstGeom>
          <a:noFill/>
          <a:ln/>
        </p:spPr>
        <p:txBody>
          <a:bodyPr wrap="square" lIns="0" tIns="0" rIns="0" bIns="0" rtlCol="0" anchor="ctr"/>
          <a:lstStyle/>
          <a:p>
            <a:pPr marL="0" indent="0">
              <a:buNone/>
            </a:pPr>
            <a:r>
              <a:rPr lang="en-US" sz="1400" b="1" dirty="0">
                <a:solidFill>
                  <a:srgbClr val="2B2B2B"/>
                </a:solidFill>
              </a:rPr>
              <a:t>No drift control  </a:t>
            </a:r>
            <a:r>
              <a:rPr lang="en-US" sz="1250" dirty="0">
                <a:solidFill>
                  <a:srgbClr val="6E6A63"/>
                </a:solidFill>
              </a:rPr>
              <a:t>— vocabulary updates silently broke existing maps</a:t>
            </a:r>
            <a:endParaRPr lang="en-US" sz="1400" dirty="0"/>
          </a:p>
        </p:txBody>
      </p:sp>
      <p:sp>
        <p:nvSpPr>
          <p:cNvPr id="17" name="Shape 10"/>
          <p:cNvSpPr/>
          <p:nvPr/>
        </p:nvSpPr>
        <p:spPr>
          <a:xfrm>
            <a:off x="5943600" y="5038344"/>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8" name="Image 4" descr="preencoded.png"/>
          <p:cNvPicPr>
            <a:picLocks noChangeAspect="1"/>
          </p:cNvPicPr>
          <p:nvPr/>
        </p:nvPicPr>
        <p:blipFill>
          <a:blip r:embed="rId7"/>
          <a:stretch>
            <a:fillRect/>
          </a:stretch>
        </p:blipFill>
        <p:spPr>
          <a:xfrm>
            <a:off x="6091733" y="5186477"/>
            <a:ext cx="252374" cy="252374"/>
          </a:xfrm>
          <a:prstGeom prst="rect">
            <a:avLst/>
          </a:prstGeom>
        </p:spPr>
      </p:pic>
      <p:sp>
        <p:nvSpPr>
          <p:cNvPr id="19" name="Text 11"/>
          <p:cNvSpPr/>
          <p:nvPr/>
        </p:nvSpPr>
        <p:spPr>
          <a:xfrm>
            <a:off x="6675120" y="4992624"/>
            <a:ext cx="4846320" cy="640080"/>
          </a:xfrm>
          <a:prstGeom prst="rect">
            <a:avLst/>
          </a:prstGeom>
          <a:noFill/>
          <a:ln/>
        </p:spPr>
        <p:txBody>
          <a:bodyPr wrap="square" lIns="0" tIns="0" rIns="0" bIns="0" rtlCol="0" anchor="ctr"/>
          <a:lstStyle/>
          <a:p>
            <a:pPr marL="0" indent="0">
              <a:buNone/>
            </a:pPr>
            <a:r>
              <a:rPr lang="en-US" sz="1400" b="1" dirty="0">
                <a:solidFill>
                  <a:srgbClr val="2B2B2B"/>
                </a:solidFill>
              </a:rPr>
              <a:t>Fragile &amp; unsafe  </a:t>
            </a:r>
            <a:r>
              <a:rPr lang="en-US" sz="1250" dirty="0">
                <a:solidFill>
                  <a:srgbClr val="6E6A63"/>
                </a:solidFill>
              </a:rPr>
              <a:t>— string-built SQL, local password login, and audit history that silently failed under strict mode</a:t>
            </a:r>
            <a:endParaRPr lang="en-US" sz="1400" dirty="0"/>
          </a:p>
        </p:txBody>
      </p:sp>
      <p:sp>
        <p:nvSpPr>
          <p:cNvPr id="20" name="Text 12"/>
          <p:cNvSpPr/>
          <p:nvPr/>
        </p:nvSpPr>
        <p:spPr>
          <a:xfrm>
            <a:off x="5943600" y="5715000"/>
            <a:ext cx="5577840" cy="868680"/>
          </a:xfrm>
          <a:prstGeom prst="rect">
            <a:avLst/>
          </a:prstGeom>
          <a:noFill/>
          <a:ln/>
        </p:spPr>
        <p:txBody>
          <a:bodyPr wrap="square" lIns="0" tIns="0" rIns="0" bIns="0" rtlCol="0" anchor="ctr"/>
          <a:lstStyle/>
          <a:p>
            <a:pPr marL="0" indent="0">
              <a:lnSpc>
                <a:spcPct val="105000"/>
              </a:lnSpc>
              <a:buNone/>
            </a:pPr>
            <a:r>
              <a:rPr lang="en-US" sz="1350" i="1" dirty="0">
                <a:solidFill>
                  <a:srgbClr val="C7902B"/>
                </a:solidFill>
                <a:latin typeface="Cambria" pitchFamily="34" charset="0"/>
                <a:ea typeface="Cambria" pitchFamily="34" charset="-122"/>
                <a:cs typeface="Cambria" pitchFamily="34" charset="-120"/>
              </a:rPr>
              <a:t>Roles and a review flow existed — but the foundation wasn't built to scale, was difficult to evolve.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Rebuilt for scale &amp; trust</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A ground-up rebuild on a modern, OMOP-native stack</a:t>
            </a:r>
            <a:endParaRPr lang="en-US" sz="1450" dirty="0"/>
          </a:p>
        </p:txBody>
      </p:sp>
      <p:sp>
        <p:nvSpPr>
          <p:cNvPr id="5" name="Shape 2"/>
          <p:cNvSpPr/>
          <p:nvPr/>
        </p:nvSpPr>
        <p:spPr>
          <a:xfrm>
            <a:off x="585216" y="1591056"/>
            <a:ext cx="7059168" cy="3125978"/>
          </a:xfrm>
          <a:prstGeom prst="roundRect">
            <a:avLst>
              <a:gd name="adj" fmla="val 1755"/>
            </a:avLst>
          </a:prstGeom>
          <a:solidFill>
            <a:srgbClr val="FFFFFF"/>
          </a:solidFill>
          <a:ln w="12700">
            <a:solidFill>
              <a:srgbClr val="DAD3C6"/>
            </a:solidFill>
            <a:prstDash val="solid"/>
          </a:ln>
          <a:effectLst>
            <a:outerShdw blurRad="114300" dist="38100" dir="5400000" algn="bl" rotWithShape="0">
              <a:srgbClr val="000000">
                <a:alpha val="22000"/>
              </a:srgbClr>
            </a:outerShdw>
          </a:effectLst>
        </p:spPr>
        <p:txBody>
          <a:bodyPr/>
          <a:lstStyle/>
          <a:p>
            <a:endParaRPr lang="en-US"/>
          </a:p>
        </p:txBody>
      </p:sp>
      <p:pic>
        <p:nvPicPr>
          <p:cNvPr id="6" name="Image 0" descr="/private/tmp/claude-501/-Users-mohammedabdallah-Projects-commet/f78115b9-c404-4e19-b5c5-246250312e25/scratchpad/crop/home.png"/>
          <p:cNvPicPr>
            <a:picLocks noChangeAspect="1"/>
          </p:cNvPicPr>
          <p:nvPr/>
        </p:nvPicPr>
        <p:blipFill>
          <a:blip r:embed="rId3"/>
          <a:stretch>
            <a:fillRect/>
          </a:stretch>
        </p:blipFill>
        <p:spPr>
          <a:xfrm>
            <a:off x="640080" y="1645920"/>
            <a:ext cx="6949440" cy="3016250"/>
          </a:xfrm>
          <a:prstGeom prst="rect">
            <a:avLst/>
          </a:prstGeom>
        </p:spPr>
      </p:pic>
      <p:sp>
        <p:nvSpPr>
          <p:cNvPr id="7" name="Shape 3"/>
          <p:cNvSpPr/>
          <p:nvPr/>
        </p:nvSpPr>
        <p:spPr>
          <a:xfrm>
            <a:off x="7863840" y="1783080"/>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8007035" y="1926275"/>
            <a:ext cx="243962" cy="243962"/>
          </a:xfrm>
          <a:prstGeom prst="rect">
            <a:avLst/>
          </a:prstGeom>
        </p:spPr>
      </p:pic>
      <p:sp>
        <p:nvSpPr>
          <p:cNvPr id="9" name="Text 4"/>
          <p:cNvSpPr/>
          <p:nvPr/>
        </p:nvSpPr>
        <p:spPr>
          <a:xfrm>
            <a:off x="8577072" y="1728216"/>
            <a:ext cx="3749040" cy="777240"/>
          </a:xfrm>
          <a:prstGeom prst="rect">
            <a:avLst/>
          </a:prstGeom>
          <a:noFill/>
          <a:ln/>
        </p:spPr>
        <p:txBody>
          <a:bodyPr wrap="square" lIns="0" tIns="0" rIns="0" bIns="0" rtlCol="0" anchor="ctr"/>
          <a:lstStyle/>
          <a:p>
            <a:pPr marL="0" indent="0">
              <a:buNone/>
            </a:pPr>
            <a:r>
              <a:rPr lang="en-US" sz="1350" b="1" dirty="0">
                <a:solidFill>
                  <a:srgbClr val="2B2B2B"/>
                </a:solidFill>
              </a:rPr>
              <a:t>Laravel 12 + PostgreSQL 16</a:t>
            </a:r>
            <a:endParaRPr lang="en-US" sz="1350" dirty="0"/>
          </a:p>
          <a:p>
            <a:pPr marL="0" indent="0">
              <a:buNone/>
            </a:pPr>
            <a:r>
              <a:rPr lang="en-US" sz="1150" dirty="0">
                <a:solidFill>
                  <a:srgbClr val="6E6A63"/>
                </a:solidFill>
              </a:rPr>
              <a:t>the vocabulary's natural home in OHDSI</a:t>
            </a:r>
            <a:endParaRPr lang="en-US" sz="1350" dirty="0"/>
          </a:p>
        </p:txBody>
      </p:sp>
      <p:sp>
        <p:nvSpPr>
          <p:cNvPr id="10" name="Shape 5"/>
          <p:cNvSpPr/>
          <p:nvPr/>
        </p:nvSpPr>
        <p:spPr>
          <a:xfrm>
            <a:off x="7863840" y="2679192"/>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8007035" y="2822387"/>
            <a:ext cx="243962" cy="243962"/>
          </a:xfrm>
          <a:prstGeom prst="rect">
            <a:avLst/>
          </a:prstGeom>
        </p:spPr>
      </p:pic>
      <p:sp>
        <p:nvSpPr>
          <p:cNvPr id="12" name="Text 6"/>
          <p:cNvSpPr/>
          <p:nvPr/>
        </p:nvSpPr>
        <p:spPr>
          <a:xfrm>
            <a:off x="8577072" y="2624328"/>
            <a:ext cx="3749040" cy="777240"/>
          </a:xfrm>
          <a:prstGeom prst="rect">
            <a:avLst/>
          </a:prstGeom>
          <a:noFill/>
          <a:ln/>
        </p:spPr>
        <p:txBody>
          <a:bodyPr wrap="square" lIns="0" tIns="0" rIns="0" bIns="0" rtlCol="0" anchor="ctr"/>
          <a:lstStyle/>
          <a:p>
            <a:pPr marL="0" indent="0">
              <a:buNone/>
            </a:pPr>
            <a:r>
              <a:rPr lang="en-US" sz="1350" b="1" dirty="0">
                <a:solidFill>
                  <a:srgbClr val="2B2B2B"/>
                </a:solidFill>
              </a:rPr>
              <a:t>Entra ID SSO + role-based access</a:t>
            </a:r>
            <a:endParaRPr lang="en-US" sz="1350" dirty="0"/>
          </a:p>
          <a:p>
            <a:pPr marL="0" indent="0">
              <a:buNone/>
            </a:pPr>
            <a:r>
              <a:rPr lang="en-US" sz="1150" dirty="0">
                <a:solidFill>
                  <a:srgbClr val="6E6A63"/>
                </a:solidFill>
              </a:rPr>
              <a:t>mapper / importer / reviewer / admin</a:t>
            </a:r>
            <a:endParaRPr lang="en-US" sz="1350" dirty="0"/>
          </a:p>
        </p:txBody>
      </p:sp>
      <p:sp>
        <p:nvSpPr>
          <p:cNvPr id="13" name="Shape 7"/>
          <p:cNvSpPr/>
          <p:nvPr/>
        </p:nvSpPr>
        <p:spPr>
          <a:xfrm>
            <a:off x="7863840" y="3575304"/>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4" name="Image 3" descr="preencoded.png"/>
          <p:cNvPicPr>
            <a:picLocks noChangeAspect="1"/>
          </p:cNvPicPr>
          <p:nvPr/>
        </p:nvPicPr>
        <p:blipFill>
          <a:blip r:embed="rId6"/>
          <a:stretch>
            <a:fillRect/>
          </a:stretch>
        </p:blipFill>
        <p:spPr>
          <a:xfrm>
            <a:off x="8007035" y="3718499"/>
            <a:ext cx="243962" cy="243962"/>
          </a:xfrm>
          <a:prstGeom prst="rect">
            <a:avLst/>
          </a:prstGeom>
        </p:spPr>
      </p:pic>
      <p:sp>
        <p:nvSpPr>
          <p:cNvPr id="15" name="Text 8"/>
          <p:cNvSpPr/>
          <p:nvPr/>
        </p:nvSpPr>
        <p:spPr>
          <a:xfrm>
            <a:off x="8577072" y="3520440"/>
            <a:ext cx="3749040" cy="777240"/>
          </a:xfrm>
          <a:prstGeom prst="rect">
            <a:avLst/>
          </a:prstGeom>
          <a:noFill/>
          <a:ln/>
        </p:spPr>
        <p:txBody>
          <a:bodyPr wrap="square" lIns="0" tIns="0" rIns="0" bIns="0" rtlCol="0" anchor="ctr"/>
          <a:lstStyle/>
          <a:p>
            <a:pPr marL="0" indent="0">
              <a:buNone/>
            </a:pPr>
            <a:r>
              <a:rPr lang="en-US" sz="1350" b="1" dirty="0">
                <a:solidFill>
                  <a:srgbClr val="2B2B2B"/>
                </a:solidFill>
              </a:rPr>
              <a:t>70 automated tests, CI, static analysis</a:t>
            </a:r>
            <a:endParaRPr lang="en-US" sz="1350" dirty="0"/>
          </a:p>
          <a:p>
            <a:pPr marL="0" indent="0">
              <a:buNone/>
            </a:pPr>
            <a:r>
              <a:rPr lang="en-US" sz="1150" dirty="0">
                <a:solidFill>
                  <a:srgbClr val="6E6A63"/>
                </a:solidFill>
              </a:rPr>
              <a:t>correctness you can prove</a:t>
            </a:r>
            <a:endParaRPr lang="en-US" sz="1350" dirty="0"/>
          </a:p>
        </p:txBody>
      </p:sp>
      <p:sp>
        <p:nvSpPr>
          <p:cNvPr id="16" name="Shape 9"/>
          <p:cNvSpPr/>
          <p:nvPr/>
        </p:nvSpPr>
        <p:spPr>
          <a:xfrm>
            <a:off x="7863840" y="4471416"/>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7" name="Image 4" descr="preencoded.png"/>
          <p:cNvPicPr>
            <a:picLocks noChangeAspect="1"/>
          </p:cNvPicPr>
          <p:nvPr/>
        </p:nvPicPr>
        <p:blipFill>
          <a:blip r:embed="rId7"/>
          <a:stretch>
            <a:fillRect/>
          </a:stretch>
        </p:blipFill>
        <p:spPr>
          <a:xfrm>
            <a:off x="8007035" y="4614611"/>
            <a:ext cx="243962" cy="243962"/>
          </a:xfrm>
          <a:prstGeom prst="rect">
            <a:avLst/>
          </a:prstGeom>
        </p:spPr>
      </p:pic>
      <p:sp>
        <p:nvSpPr>
          <p:cNvPr id="18" name="Text 10"/>
          <p:cNvSpPr/>
          <p:nvPr/>
        </p:nvSpPr>
        <p:spPr>
          <a:xfrm>
            <a:off x="8577072" y="4416552"/>
            <a:ext cx="3749040" cy="777240"/>
          </a:xfrm>
          <a:prstGeom prst="rect">
            <a:avLst/>
          </a:prstGeom>
          <a:noFill/>
          <a:ln/>
        </p:spPr>
        <p:txBody>
          <a:bodyPr wrap="square" lIns="0" tIns="0" rIns="0" bIns="0" rtlCol="0" anchor="ctr"/>
          <a:lstStyle/>
          <a:p>
            <a:pPr marL="0" indent="0">
              <a:buNone/>
            </a:pPr>
            <a:r>
              <a:rPr lang="en-US" sz="1350" b="1" dirty="0">
                <a:solidFill>
                  <a:srgbClr val="2B2B2B"/>
                </a:solidFill>
              </a:rPr>
              <a:t>16,111 maps migrated — parity verified</a:t>
            </a:r>
            <a:endParaRPr lang="en-US" sz="1350" dirty="0"/>
          </a:p>
          <a:p>
            <a:pPr marL="0" indent="0">
              <a:buNone/>
            </a:pPr>
            <a:r>
              <a:rPr lang="en-US" sz="1150" dirty="0">
                <a:solidFill>
                  <a:srgbClr val="6E6A63"/>
                </a:solidFill>
              </a:rPr>
              <a:t>identical to the legacy system</a:t>
            </a:r>
            <a:endParaRPr lang="en-US" sz="1350" dirty="0"/>
          </a:p>
        </p:txBody>
      </p:sp>
      <p:sp>
        <p:nvSpPr>
          <p:cNvPr id="19" name="Shape 11"/>
          <p:cNvSpPr/>
          <p:nvPr/>
        </p:nvSpPr>
        <p:spPr>
          <a:xfrm>
            <a:off x="640080" y="5029200"/>
            <a:ext cx="6949440" cy="1097280"/>
          </a:xfrm>
          <a:prstGeom prst="roundRect">
            <a:avLst>
              <a:gd name="adj" fmla="val 6667"/>
            </a:avLst>
          </a:prstGeom>
          <a:solidFill>
            <a:srgbClr val="2A2013"/>
          </a:solidFill>
          <a:ln/>
        </p:spPr>
        <p:txBody>
          <a:bodyPr/>
          <a:lstStyle/>
          <a:p>
            <a:endParaRPr lang="en-US"/>
          </a:p>
        </p:txBody>
      </p:sp>
      <p:sp>
        <p:nvSpPr>
          <p:cNvPr id="20" name="Text 12"/>
          <p:cNvSpPr/>
          <p:nvPr/>
        </p:nvSpPr>
        <p:spPr>
          <a:xfrm>
            <a:off x="914400" y="5029200"/>
            <a:ext cx="6400800" cy="1097280"/>
          </a:xfrm>
          <a:prstGeom prst="rect">
            <a:avLst/>
          </a:prstGeom>
          <a:noFill/>
          <a:ln/>
        </p:spPr>
        <p:txBody>
          <a:bodyPr wrap="square" lIns="0" tIns="0" rIns="0" bIns="0" rtlCol="0" anchor="ctr"/>
          <a:lstStyle/>
          <a:p>
            <a:pPr marL="0" indent="0">
              <a:buNone/>
            </a:pPr>
            <a:r>
              <a:rPr lang="en-US" sz="3000" b="1" dirty="0">
                <a:solidFill>
                  <a:srgbClr val="EBD9AE"/>
                </a:solidFill>
                <a:latin typeface="Cambria" pitchFamily="34" charset="0"/>
                <a:ea typeface="Cambria" pitchFamily="34" charset="-122"/>
                <a:cs typeface="Cambria" pitchFamily="34" charset="-120"/>
              </a:rPr>
              <a:t>12 / 12</a:t>
            </a:r>
            <a:r>
              <a:rPr lang="en-US" sz="1400" dirty="0">
                <a:solidFill>
                  <a:srgbClr val="F1E7D6"/>
                </a:solidFill>
              </a:rPr>
              <a:t>   modernization milestones complete — the full mapping loop, rebuilt</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Enhancement 1 — search that understands clinical language</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Not string matching: a layered, accent-insensitive ranking engine</a:t>
            </a:r>
            <a:endParaRPr lang="en-US" sz="1450" dirty="0"/>
          </a:p>
        </p:txBody>
      </p:sp>
      <p:sp>
        <p:nvSpPr>
          <p:cNvPr id="5" name="Shape 2"/>
          <p:cNvSpPr/>
          <p:nvPr/>
        </p:nvSpPr>
        <p:spPr>
          <a:xfrm>
            <a:off x="1179576" y="1316736"/>
            <a:ext cx="9802368" cy="2465578"/>
          </a:xfrm>
          <a:prstGeom prst="roundRect">
            <a:avLst>
              <a:gd name="adj" fmla="val 2225"/>
            </a:avLst>
          </a:prstGeom>
          <a:solidFill>
            <a:srgbClr val="FFFFFF"/>
          </a:solidFill>
          <a:ln w="12700">
            <a:solidFill>
              <a:srgbClr val="DAD3C6"/>
            </a:solidFill>
            <a:prstDash val="solid"/>
          </a:ln>
          <a:effectLst>
            <a:outerShdw blurRad="114300" dist="38100" dir="5400000" algn="bl" rotWithShape="0">
              <a:srgbClr val="000000">
                <a:alpha val="22000"/>
              </a:srgbClr>
            </a:outerShdw>
          </a:effectLst>
        </p:spPr>
        <p:txBody>
          <a:bodyPr/>
          <a:lstStyle/>
          <a:p>
            <a:endParaRPr lang="en-US"/>
          </a:p>
        </p:txBody>
      </p:sp>
      <p:pic>
        <p:nvPicPr>
          <p:cNvPr id="6" name="Image 0" descr="/private/tmp/claude-501/-Users-mohammedabdallah-Projects-commet/f78115b9-c404-4e19-b5c5-246250312e25/scratchpad/crop/search.png"/>
          <p:cNvPicPr>
            <a:picLocks noChangeAspect="1"/>
          </p:cNvPicPr>
          <p:nvPr/>
        </p:nvPicPr>
        <p:blipFill>
          <a:blip r:embed="rId3"/>
          <a:stretch>
            <a:fillRect/>
          </a:stretch>
        </p:blipFill>
        <p:spPr>
          <a:xfrm>
            <a:off x="1234440" y="1371600"/>
            <a:ext cx="9692640" cy="2355850"/>
          </a:xfrm>
          <a:prstGeom prst="rect">
            <a:avLst/>
          </a:prstGeom>
        </p:spPr>
      </p:pic>
      <p:sp>
        <p:nvSpPr>
          <p:cNvPr id="7" name="Shape 3"/>
          <p:cNvSpPr/>
          <p:nvPr/>
        </p:nvSpPr>
        <p:spPr>
          <a:xfrm>
            <a:off x="640080" y="4160520"/>
            <a:ext cx="2606040" cy="1234440"/>
          </a:xfrm>
          <a:prstGeom prst="roundRect">
            <a:avLst>
              <a:gd name="adj" fmla="val 4444"/>
            </a:avLst>
          </a:prstGeom>
          <a:solidFill>
            <a:srgbClr val="F6F2EB"/>
          </a:solidFill>
          <a:ln w="12700">
            <a:solidFill>
              <a:srgbClr val="DAD3C6"/>
            </a:solidFill>
            <a:prstDash val="solid"/>
          </a:ln>
        </p:spPr>
        <p:txBody>
          <a:bodyPr/>
          <a:lstStyle/>
          <a:p>
            <a:endParaRPr lang="en-US"/>
          </a:p>
        </p:txBody>
      </p:sp>
      <p:sp>
        <p:nvSpPr>
          <p:cNvPr id="8" name="Shape 4"/>
          <p:cNvSpPr/>
          <p:nvPr/>
        </p:nvSpPr>
        <p:spPr>
          <a:xfrm>
            <a:off x="822960" y="4343400"/>
            <a:ext cx="502920" cy="50292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958748" y="4479188"/>
            <a:ext cx="231343" cy="231343"/>
          </a:xfrm>
          <a:prstGeom prst="rect">
            <a:avLst/>
          </a:prstGeom>
        </p:spPr>
      </p:pic>
      <p:sp>
        <p:nvSpPr>
          <p:cNvPr id="10" name="Text 5"/>
          <p:cNvSpPr/>
          <p:nvPr/>
        </p:nvSpPr>
        <p:spPr>
          <a:xfrm>
            <a:off x="1417320" y="4306824"/>
            <a:ext cx="1737360" cy="914400"/>
          </a:xfrm>
          <a:prstGeom prst="rect">
            <a:avLst/>
          </a:prstGeom>
          <a:noFill/>
          <a:ln/>
        </p:spPr>
        <p:txBody>
          <a:bodyPr wrap="square" lIns="0" tIns="0" rIns="0" bIns="0" rtlCol="0" anchor="ctr"/>
          <a:lstStyle/>
          <a:p>
            <a:pPr marL="0" indent="0">
              <a:buNone/>
            </a:pPr>
            <a:r>
              <a:rPr lang="en-US" sz="1250" b="1" dirty="0">
                <a:solidFill>
                  <a:srgbClr val="23305F"/>
                </a:solidFill>
              </a:rPr>
              <a:t>Exact code</a:t>
            </a:r>
            <a:endParaRPr lang="en-US" sz="1250" dirty="0"/>
          </a:p>
          <a:p>
            <a:pPr marL="0" indent="0">
              <a:buNone/>
            </a:pPr>
            <a:r>
              <a:rPr lang="en-US" sz="1100" dirty="0">
                <a:solidFill>
                  <a:srgbClr val="6E6A63"/>
                </a:solidFill>
              </a:rPr>
              <a:t>always ranked first</a:t>
            </a:r>
            <a:endParaRPr lang="en-US" sz="1250" dirty="0"/>
          </a:p>
        </p:txBody>
      </p:sp>
      <p:sp>
        <p:nvSpPr>
          <p:cNvPr id="11" name="Shape 6"/>
          <p:cNvSpPr/>
          <p:nvPr/>
        </p:nvSpPr>
        <p:spPr>
          <a:xfrm>
            <a:off x="3429000" y="4160520"/>
            <a:ext cx="2606040" cy="1234440"/>
          </a:xfrm>
          <a:prstGeom prst="roundRect">
            <a:avLst>
              <a:gd name="adj" fmla="val 4444"/>
            </a:avLst>
          </a:prstGeom>
          <a:solidFill>
            <a:srgbClr val="F6F2EB"/>
          </a:solidFill>
          <a:ln w="12700">
            <a:solidFill>
              <a:srgbClr val="DAD3C6"/>
            </a:solidFill>
            <a:prstDash val="solid"/>
          </a:ln>
        </p:spPr>
        <p:txBody>
          <a:bodyPr/>
          <a:lstStyle/>
          <a:p>
            <a:endParaRPr lang="en-US"/>
          </a:p>
        </p:txBody>
      </p:sp>
      <p:sp>
        <p:nvSpPr>
          <p:cNvPr id="12" name="Shape 7"/>
          <p:cNvSpPr/>
          <p:nvPr/>
        </p:nvSpPr>
        <p:spPr>
          <a:xfrm>
            <a:off x="3611880" y="4343400"/>
            <a:ext cx="502920" cy="50292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3747668" y="4479188"/>
            <a:ext cx="231343" cy="231343"/>
          </a:xfrm>
          <a:prstGeom prst="rect">
            <a:avLst/>
          </a:prstGeom>
        </p:spPr>
      </p:pic>
      <p:sp>
        <p:nvSpPr>
          <p:cNvPr id="14" name="Text 8"/>
          <p:cNvSpPr/>
          <p:nvPr/>
        </p:nvSpPr>
        <p:spPr>
          <a:xfrm>
            <a:off x="4206240" y="4306824"/>
            <a:ext cx="1737360" cy="914400"/>
          </a:xfrm>
          <a:prstGeom prst="rect">
            <a:avLst/>
          </a:prstGeom>
          <a:noFill/>
          <a:ln/>
        </p:spPr>
        <p:txBody>
          <a:bodyPr wrap="square" lIns="0" tIns="0" rIns="0" bIns="0" rtlCol="0" anchor="ctr"/>
          <a:lstStyle/>
          <a:p>
            <a:pPr marL="0" indent="0">
              <a:buNone/>
            </a:pPr>
            <a:r>
              <a:rPr lang="en-US" sz="1250" b="1" dirty="0">
                <a:solidFill>
                  <a:srgbClr val="23305F"/>
                </a:solidFill>
              </a:rPr>
              <a:t>Trigram + accent-insensitive</a:t>
            </a:r>
            <a:endParaRPr lang="en-US" sz="1250" dirty="0"/>
          </a:p>
          <a:p>
            <a:pPr marL="0" indent="0">
              <a:buNone/>
            </a:pPr>
            <a:r>
              <a:rPr lang="en-US" sz="1100" dirty="0">
                <a:solidFill>
                  <a:srgbClr val="6E6A63"/>
                </a:solidFill>
              </a:rPr>
              <a:t>typos &amp; French synonyms match</a:t>
            </a:r>
            <a:endParaRPr lang="en-US" sz="1250" dirty="0"/>
          </a:p>
        </p:txBody>
      </p:sp>
      <p:sp>
        <p:nvSpPr>
          <p:cNvPr id="15" name="Shape 9"/>
          <p:cNvSpPr/>
          <p:nvPr/>
        </p:nvSpPr>
        <p:spPr>
          <a:xfrm>
            <a:off x="6217920" y="4160520"/>
            <a:ext cx="2606040" cy="1234440"/>
          </a:xfrm>
          <a:prstGeom prst="roundRect">
            <a:avLst>
              <a:gd name="adj" fmla="val 4444"/>
            </a:avLst>
          </a:prstGeom>
          <a:solidFill>
            <a:srgbClr val="F6F2EB"/>
          </a:solidFill>
          <a:ln w="12700">
            <a:solidFill>
              <a:srgbClr val="DAD3C6"/>
            </a:solidFill>
            <a:prstDash val="solid"/>
          </a:ln>
        </p:spPr>
        <p:txBody>
          <a:bodyPr/>
          <a:lstStyle/>
          <a:p>
            <a:endParaRPr lang="en-US"/>
          </a:p>
        </p:txBody>
      </p:sp>
      <p:sp>
        <p:nvSpPr>
          <p:cNvPr id="16" name="Shape 10"/>
          <p:cNvSpPr/>
          <p:nvPr/>
        </p:nvSpPr>
        <p:spPr>
          <a:xfrm>
            <a:off x="6400800" y="4343400"/>
            <a:ext cx="502920" cy="50292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7" name="Image 3" descr="preencoded.png"/>
          <p:cNvPicPr>
            <a:picLocks noChangeAspect="1"/>
          </p:cNvPicPr>
          <p:nvPr/>
        </p:nvPicPr>
        <p:blipFill>
          <a:blip r:embed="rId6"/>
          <a:stretch>
            <a:fillRect/>
          </a:stretch>
        </p:blipFill>
        <p:spPr>
          <a:xfrm>
            <a:off x="6536588" y="4479188"/>
            <a:ext cx="231343" cy="231343"/>
          </a:xfrm>
          <a:prstGeom prst="rect">
            <a:avLst/>
          </a:prstGeom>
        </p:spPr>
      </p:pic>
      <p:sp>
        <p:nvSpPr>
          <p:cNvPr id="18" name="Text 11"/>
          <p:cNvSpPr/>
          <p:nvPr/>
        </p:nvSpPr>
        <p:spPr>
          <a:xfrm>
            <a:off x="6995160" y="4306824"/>
            <a:ext cx="1737360" cy="914400"/>
          </a:xfrm>
          <a:prstGeom prst="rect">
            <a:avLst/>
          </a:prstGeom>
          <a:noFill/>
          <a:ln/>
        </p:spPr>
        <p:txBody>
          <a:bodyPr wrap="square" lIns="0" tIns="0" rIns="0" bIns="0" rtlCol="0" anchor="ctr"/>
          <a:lstStyle/>
          <a:p>
            <a:pPr marL="0" indent="0">
              <a:buNone/>
            </a:pPr>
            <a:r>
              <a:rPr lang="en-US" sz="1250" b="1" dirty="0">
                <a:solidFill>
                  <a:srgbClr val="23305F"/>
                </a:solidFill>
              </a:rPr>
              <a:t>Token coverage</a:t>
            </a:r>
            <a:endParaRPr lang="en-US" sz="1250" dirty="0"/>
          </a:p>
          <a:p>
            <a:pPr marL="0" indent="0">
              <a:buNone/>
            </a:pPr>
            <a:r>
              <a:rPr lang="en-US" sz="1100" dirty="0">
                <a:solidFill>
                  <a:srgbClr val="6E6A63"/>
                </a:solidFill>
              </a:rPr>
              <a:t>reordered phrases still match</a:t>
            </a:r>
            <a:endParaRPr lang="en-US" sz="1250" dirty="0"/>
          </a:p>
        </p:txBody>
      </p:sp>
      <p:sp>
        <p:nvSpPr>
          <p:cNvPr id="19" name="Shape 12"/>
          <p:cNvSpPr/>
          <p:nvPr/>
        </p:nvSpPr>
        <p:spPr>
          <a:xfrm>
            <a:off x="9098280" y="4160520"/>
            <a:ext cx="2423160" cy="2331720"/>
          </a:xfrm>
          <a:prstGeom prst="roundRect">
            <a:avLst>
              <a:gd name="adj" fmla="val 2353"/>
            </a:avLst>
          </a:prstGeom>
          <a:solidFill>
            <a:srgbClr val="FBF2E1"/>
          </a:solidFill>
          <a:ln w="12700">
            <a:solidFill>
              <a:srgbClr val="C7902B"/>
            </a:solidFill>
            <a:prstDash val="solid"/>
          </a:ln>
        </p:spPr>
        <p:txBody>
          <a:bodyPr/>
          <a:lstStyle/>
          <a:p>
            <a:endParaRPr lang="en-US"/>
          </a:p>
        </p:txBody>
      </p:sp>
      <p:sp>
        <p:nvSpPr>
          <p:cNvPr id="20" name="Text 13"/>
          <p:cNvSpPr/>
          <p:nvPr/>
        </p:nvSpPr>
        <p:spPr>
          <a:xfrm>
            <a:off x="9235440" y="4270248"/>
            <a:ext cx="2194560" cy="320040"/>
          </a:xfrm>
          <a:prstGeom prst="rect">
            <a:avLst/>
          </a:prstGeom>
          <a:noFill/>
          <a:ln/>
        </p:spPr>
        <p:txBody>
          <a:bodyPr wrap="square" lIns="0" tIns="0" rIns="0" bIns="0" rtlCol="0" anchor="ctr"/>
          <a:lstStyle/>
          <a:p>
            <a:pPr marL="0" indent="0">
              <a:buNone/>
            </a:pPr>
            <a:r>
              <a:rPr lang="en-US" sz="1250" b="1" dirty="0">
                <a:solidFill>
                  <a:srgbClr val="C7902B"/>
                </a:solidFill>
                <a:latin typeface="Calibri" pitchFamily="34" charset="0"/>
                <a:ea typeface="Calibri" pitchFamily="34" charset="-122"/>
                <a:cs typeface="Calibri" pitchFamily="34" charset="-120"/>
              </a:rPr>
              <a:t>Real matches</a:t>
            </a:r>
            <a:endParaRPr lang="en-US" sz="1250" dirty="0"/>
          </a:p>
        </p:txBody>
      </p:sp>
      <p:sp>
        <p:nvSpPr>
          <p:cNvPr id="21" name="Text 14"/>
          <p:cNvSpPr/>
          <p:nvPr/>
        </p:nvSpPr>
        <p:spPr>
          <a:xfrm>
            <a:off x="9235440" y="4617720"/>
            <a:ext cx="2240280" cy="1828800"/>
          </a:xfrm>
          <a:prstGeom prst="rect">
            <a:avLst/>
          </a:prstGeom>
          <a:noFill/>
          <a:ln/>
        </p:spPr>
        <p:txBody>
          <a:bodyPr wrap="square" lIns="0" tIns="0" rIns="0" bIns="0" rtlCol="0" anchor="ctr"/>
          <a:lstStyle/>
          <a:p>
            <a:pPr marL="0" indent="0">
              <a:lnSpc>
                <a:spcPct val="100000"/>
              </a:lnSpc>
              <a:buNone/>
            </a:pPr>
            <a:r>
              <a:rPr lang="en-US" sz="1150" dirty="0">
                <a:solidFill>
                  <a:srgbClr val="2B2B2B"/>
                </a:solidFill>
              </a:rPr>
              <a:t>"Emphysema of lung"</a:t>
            </a:r>
            <a:endParaRPr lang="en-US" sz="1150" dirty="0"/>
          </a:p>
          <a:p>
            <a:pPr marL="0" indent="0">
              <a:lnSpc>
                <a:spcPct val="100000"/>
              </a:lnSpc>
              <a:spcAft>
                <a:spcPts val="600"/>
              </a:spcAft>
              <a:buNone/>
            </a:pPr>
            <a:r>
              <a:rPr lang="en-US" sz="1100" dirty="0">
                <a:solidFill>
                  <a:srgbClr val="2E7D32"/>
                </a:solidFill>
              </a:rPr>
              <a:t>→ Pulmonary emphysema</a:t>
            </a:r>
            <a:endParaRPr lang="en-US" sz="1150" dirty="0"/>
          </a:p>
          <a:p>
            <a:pPr marL="0" indent="0">
              <a:lnSpc>
                <a:spcPct val="100000"/>
              </a:lnSpc>
              <a:buNone/>
            </a:pPr>
            <a:r>
              <a:rPr lang="en-US" sz="1150" dirty="0">
                <a:solidFill>
                  <a:srgbClr val="2B2B2B"/>
                </a:solidFill>
              </a:rPr>
              <a:t>"hemorrage stomach"</a:t>
            </a:r>
            <a:endParaRPr lang="en-US" sz="1150" dirty="0"/>
          </a:p>
          <a:p>
            <a:pPr marL="0" indent="0">
              <a:lnSpc>
                <a:spcPct val="100000"/>
              </a:lnSpc>
              <a:spcAft>
                <a:spcPts val="600"/>
              </a:spcAft>
              <a:buNone/>
            </a:pPr>
            <a:r>
              <a:rPr lang="en-US" sz="1100" dirty="0">
                <a:solidFill>
                  <a:srgbClr val="2E7D32"/>
                </a:solidFill>
              </a:rPr>
              <a:t>→ GI hemorrhage (synonym)</a:t>
            </a:r>
            <a:endParaRPr lang="en-US" sz="1150" dirty="0"/>
          </a:p>
          <a:p>
            <a:pPr marL="0" indent="0">
              <a:lnSpc>
                <a:spcPct val="100000"/>
              </a:lnSpc>
              <a:buNone/>
            </a:pPr>
            <a:r>
              <a:rPr lang="en-US" sz="1150" dirty="0">
                <a:solidFill>
                  <a:srgbClr val="2B2B2B"/>
                </a:solidFill>
              </a:rPr>
              <a:t>"Brain, concussion"</a:t>
            </a:r>
            <a:endParaRPr lang="en-US" sz="1150" dirty="0"/>
          </a:p>
          <a:p>
            <a:pPr marL="0" indent="0">
              <a:lnSpc>
                <a:spcPct val="100000"/>
              </a:lnSpc>
              <a:buNone/>
            </a:pPr>
            <a:r>
              <a:rPr lang="en-US" sz="1100" dirty="0">
                <a:solidFill>
                  <a:srgbClr val="2E7D32"/>
                </a:solidFill>
              </a:rPr>
              <a:t>→ Concussion injury of brain</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Enhancement 2 — mapping at scale</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Candidates precomputed, then a keyboard-fast queue drives the volume</a:t>
            </a:r>
            <a:endParaRPr lang="en-US" sz="1450" dirty="0"/>
          </a:p>
        </p:txBody>
      </p:sp>
      <p:sp>
        <p:nvSpPr>
          <p:cNvPr id="5" name="Shape 2"/>
          <p:cNvSpPr/>
          <p:nvPr/>
        </p:nvSpPr>
        <p:spPr>
          <a:xfrm>
            <a:off x="585216" y="1545336"/>
            <a:ext cx="6967728" cy="3681603"/>
          </a:xfrm>
          <a:prstGeom prst="roundRect">
            <a:avLst>
              <a:gd name="adj" fmla="val 1490"/>
            </a:avLst>
          </a:prstGeom>
          <a:solidFill>
            <a:srgbClr val="FFFFFF"/>
          </a:solidFill>
          <a:ln w="12700">
            <a:solidFill>
              <a:srgbClr val="DAD3C6"/>
            </a:solidFill>
            <a:prstDash val="solid"/>
          </a:ln>
          <a:effectLst>
            <a:outerShdw blurRad="114300" dist="38100" dir="5400000" algn="bl" rotWithShape="0">
              <a:srgbClr val="000000">
                <a:alpha val="22000"/>
              </a:srgbClr>
            </a:outerShdw>
          </a:effectLst>
        </p:spPr>
        <p:txBody>
          <a:bodyPr/>
          <a:lstStyle/>
          <a:p>
            <a:endParaRPr lang="en-US"/>
          </a:p>
        </p:txBody>
      </p:sp>
      <p:pic>
        <p:nvPicPr>
          <p:cNvPr id="6" name="Image 0" descr="/private/tmp/claude-501/-Users-mohammedabdallah-Projects-commet/f78115b9-c404-4e19-b5c5-246250312e25/scratchpad/crop/grid.png"/>
          <p:cNvPicPr>
            <a:picLocks noChangeAspect="1"/>
          </p:cNvPicPr>
          <p:nvPr/>
        </p:nvPicPr>
        <p:blipFill>
          <a:blip r:embed="rId3"/>
          <a:stretch>
            <a:fillRect/>
          </a:stretch>
        </p:blipFill>
        <p:spPr>
          <a:xfrm>
            <a:off x="640080" y="1600200"/>
            <a:ext cx="6858000" cy="3571875"/>
          </a:xfrm>
          <a:prstGeom prst="rect">
            <a:avLst/>
          </a:prstGeom>
        </p:spPr>
      </p:pic>
      <p:sp>
        <p:nvSpPr>
          <p:cNvPr id="7" name="Shape 3"/>
          <p:cNvSpPr/>
          <p:nvPr/>
        </p:nvSpPr>
        <p:spPr>
          <a:xfrm>
            <a:off x="7818120" y="1691640"/>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7956377" y="1829897"/>
            <a:ext cx="235549" cy="235549"/>
          </a:xfrm>
          <a:prstGeom prst="rect">
            <a:avLst/>
          </a:prstGeom>
        </p:spPr>
      </p:pic>
      <p:sp>
        <p:nvSpPr>
          <p:cNvPr id="9" name="Text 4"/>
          <p:cNvSpPr/>
          <p:nvPr/>
        </p:nvSpPr>
        <p:spPr>
          <a:xfrm>
            <a:off x="8513064" y="1636776"/>
            <a:ext cx="3794760" cy="749808"/>
          </a:xfrm>
          <a:prstGeom prst="rect">
            <a:avLst/>
          </a:prstGeom>
          <a:noFill/>
          <a:ln/>
        </p:spPr>
        <p:txBody>
          <a:bodyPr wrap="square" lIns="0" tIns="0" rIns="0" bIns="0" rtlCol="0" anchor="ctr"/>
          <a:lstStyle/>
          <a:p>
            <a:pPr marL="0" indent="0">
              <a:buNone/>
            </a:pPr>
            <a:r>
              <a:rPr lang="en-US" sz="1300" b="1" dirty="0">
                <a:solidFill>
                  <a:srgbClr val="2B2B2B"/>
                </a:solidFill>
              </a:rPr>
              <a:t>Batch auto-mapper</a:t>
            </a:r>
            <a:endParaRPr lang="en-US" sz="1300" dirty="0"/>
          </a:p>
          <a:p>
            <a:pPr marL="0" indent="0">
              <a:buNone/>
            </a:pPr>
            <a:r>
              <a:rPr lang="en-US" sz="1100" dirty="0">
                <a:solidFill>
                  <a:srgbClr val="6E6A63"/>
                </a:solidFill>
              </a:rPr>
              <a:t>ranked candidates precomputed for every unmapped term</a:t>
            </a:r>
            <a:endParaRPr lang="en-US" sz="1300" dirty="0"/>
          </a:p>
        </p:txBody>
      </p:sp>
      <p:sp>
        <p:nvSpPr>
          <p:cNvPr id="10" name="Shape 5"/>
          <p:cNvSpPr/>
          <p:nvPr/>
        </p:nvSpPr>
        <p:spPr>
          <a:xfrm>
            <a:off x="7818120" y="2532888"/>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1" name="Image 2" descr="preencoded.png"/>
          <p:cNvPicPr>
            <a:picLocks noChangeAspect="1"/>
          </p:cNvPicPr>
          <p:nvPr/>
        </p:nvPicPr>
        <p:blipFill>
          <a:blip r:embed="rId5"/>
          <a:stretch>
            <a:fillRect/>
          </a:stretch>
        </p:blipFill>
        <p:spPr>
          <a:xfrm>
            <a:off x="7956377" y="2671145"/>
            <a:ext cx="235549" cy="235549"/>
          </a:xfrm>
          <a:prstGeom prst="rect">
            <a:avLst/>
          </a:prstGeom>
        </p:spPr>
      </p:pic>
      <p:sp>
        <p:nvSpPr>
          <p:cNvPr id="12" name="Text 6"/>
          <p:cNvSpPr/>
          <p:nvPr/>
        </p:nvSpPr>
        <p:spPr>
          <a:xfrm>
            <a:off x="8513064" y="2478024"/>
            <a:ext cx="3794760" cy="749808"/>
          </a:xfrm>
          <a:prstGeom prst="rect">
            <a:avLst/>
          </a:prstGeom>
          <a:noFill/>
          <a:ln/>
        </p:spPr>
        <p:txBody>
          <a:bodyPr wrap="square" lIns="0" tIns="0" rIns="0" bIns="0" rtlCol="0" anchor="ctr"/>
          <a:lstStyle/>
          <a:p>
            <a:pPr marL="0" indent="0">
              <a:buNone/>
            </a:pPr>
            <a:r>
              <a:rPr lang="en-US" sz="1300" b="1" dirty="0">
                <a:solidFill>
                  <a:srgbClr val="2B2B2B"/>
                </a:solidFill>
              </a:rPr>
              <a:t>Keyboard mapping mode</a:t>
            </a:r>
            <a:endParaRPr lang="en-US" sz="1300" dirty="0"/>
          </a:p>
          <a:p>
            <a:pPr marL="0" indent="0">
              <a:buNone/>
            </a:pPr>
            <a:r>
              <a:rPr lang="en-US" sz="1100" dirty="0">
                <a:solidFill>
                  <a:srgbClr val="6E6A63"/>
                </a:solidFill>
              </a:rPr>
              <a:t>1–9 to map, letters to set status, walk by usage</a:t>
            </a:r>
            <a:endParaRPr lang="en-US" sz="1300" dirty="0"/>
          </a:p>
        </p:txBody>
      </p:sp>
      <p:sp>
        <p:nvSpPr>
          <p:cNvPr id="13" name="Shape 7"/>
          <p:cNvSpPr/>
          <p:nvPr/>
        </p:nvSpPr>
        <p:spPr>
          <a:xfrm>
            <a:off x="7818120" y="3374136"/>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4" name="Image 3" descr="preencoded.png"/>
          <p:cNvPicPr>
            <a:picLocks noChangeAspect="1"/>
          </p:cNvPicPr>
          <p:nvPr/>
        </p:nvPicPr>
        <p:blipFill>
          <a:blip r:embed="rId6"/>
          <a:stretch>
            <a:fillRect/>
          </a:stretch>
        </p:blipFill>
        <p:spPr>
          <a:xfrm>
            <a:off x="7956377" y="3512393"/>
            <a:ext cx="235549" cy="235549"/>
          </a:xfrm>
          <a:prstGeom prst="rect">
            <a:avLst/>
          </a:prstGeom>
        </p:spPr>
      </p:pic>
      <p:sp>
        <p:nvSpPr>
          <p:cNvPr id="15" name="Text 8"/>
          <p:cNvSpPr/>
          <p:nvPr/>
        </p:nvSpPr>
        <p:spPr>
          <a:xfrm>
            <a:off x="8513064" y="3319272"/>
            <a:ext cx="3794760" cy="749808"/>
          </a:xfrm>
          <a:prstGeom prst="rect">
            <a:avLst/>
          </a:prstGeom>
          <a:noFill/>
          <a:ln/>
        </p:spPr>
        <p:txBody>
          <a:bodyPr wrap="square" lIns="0" tIns="0" rIns="0" bIns="0" rtlCol="0" anchor="ctr"/>
          <a:lstStyle/>
          <a:p>
            <a:pPr marL="0" indent="0">
              <a:buNone/>
            </a:pPr>
            <a:r>
              <a:rPr lang="en-US" sz="1300" b="1" dirty="0">
                <a:solidFill>
                  <a:srgbClr val="2B2B2B"/>
                </a:solidFill>
              </a:rPr>
              <a:t>Equivalence</a:t>
            </a:r>
            <a:endParaRPr lang="en-US" sz="1300" dirty="0"/>
          </a:p>
          <a:p>
            <a:pPr marL="0" indent="0">
              <a:buNone/>
            </a:pPr>
            <a:r>
              <a:rPr lang="en-US" sz="1100" dirty="0">
                <a:solidFill>
                  <a:srgbClr val="6E6A63"/>
                </a:solidFill>
              </a:rPr>
              <a:t>record EQUAL / WIDER / NARROWER fidelity</a:t>
            </a:r>
            <a:endParaRPr lang="en-US" sz="1300" dirty="0"/>
          </a:p>
        </p:txBody>
      </p:sp>
      <p:sp>
        <p:nvSpPr>
          <p:cNvPr id="16" name="Shape 9"/>
          <p:cNvSpPr/>
          <p:nvPr/>
        </p:nvSpPr>
        <p:spPr>
          <a:xfrm>
            <a:off x="7818120" y="4215384"/>
            <a:ext cx="512064" cy="512064"/>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17" name="Image 4" descr="preencoded.png"/>
          <p:cNvPicPr>
            <a:picLocks noChangeAspect="1"/>
          </p:cNvPicPr>
          <p:nvPr/>
        </p:nvPicPr>
        <p:blipFill>
          <a:blip r:embed="rId7"/>
          <a:stretch>
            <a:fillRect/>
          </a:stretch>
        </p:blipFill>
        <p:spPr>
          <a:xfrm>
            <a:off x="7956377" y="4353641"/>
            <a:ext cx="235549" cy="235549"/>
          </a:xfrm>
          <a:prstGeom prst="rect">
            <a:avLst/>
          </a:prstGeom>
        </p:spPr>
      </p:pic>
      <p:sp>
        <p:nvSpPr>
          <p:cNvPr id="18" name="Text 10"/>
          <p:cNvSpPr/>
          <p:nvPr/>
        </p:nvSpPr>
        <p:spPr>
          <a:xfrm>
            <a:off x="8513064" y="4160520"/>
            <a:ext cx="3794760" cy="749808"/>
          </a:xfrm>
          <a:prstGeom prst="rect">
            <a:avLst/>
          </a:prstGeom>
          <a:noFill/>
          <a:ln/>
        </p:spPr>
        <p:txBody>
          <a:bodyPr wrap="square" lIns="0" tIns="0" rIns="0" bIns="0" rtlCol="0" anchor="ctr"/>
          <a:lstStyle/>
          <a:p>
            <a:pPr marL="0" indent="0">
              <a:buNone/>
            </a:pPr>
            <a:r>
              <a:rPr lang="en-US" sz="1300" b="1" dirty="0">
                <a:solidFill>
                  <a:srgbClr val="2B2B2B"/>
                </a:solidFill>
              </a:rPr>
              <a:t>Propagation</a:t>
            </a:r>
            <a:endParaRPr lang="en-US" sz="1300" dirty="0"/>
          </a:p>
          <a:p>
            <a:pPr marL="0" indent="0">
              <a:buNone/>
            </a:pPr>
            <a:r>
              <a:rPr lang="en-US" sz="1100" dirty="0">
                <a:solidFill>
                  <a:srgbClr val="6E6A63"/>
                </a:solidFill>
              </a:rPr>
              <a:t>apply one decision to all identical terms at once</a:t>
            </a:r>
            <a:endParaRPr lang="en-US" sz="1300" dirty="0"/>
          </a:p>
        </p:txBody>
      </p:sp>
      <p:sp>
        <p:nvSpPr>
          <p:cNvPr id="19" name="Shape 11"/>
          <p:cNvSpPr/>
          <p:nvPr/>
        </p:nvSpPr>
        <p:spPr>
          <a:xfrm>
            <a:off x="7818120" y="5166360"/>
            <a:ext cx="4343400" cy="1051560"/>
          </a:xfrm>
          <a:prstGeom prst="roundRect">
            <a:avLst>
              <a:gd name="adj" fmla="val 6957"/>
            </a:avLst>
          </a:prstGeom>
          <a:solidFill>
            <a:srgbClr val="23305F"/>
          </a:solidFill>
          <a:ln/>
        </p:spPr>
        <p:txBody>
          <a:bodyPr/>
          <a:lstStyle/>
          <a:p>
            <a:endParaRPr lang="en-US"/>
          </a:p>
        </p:txBody>
      </p:sp>
      <p:sp>
        <p:nvSpPr>
          <p:cNvPr id="20" name="Text 12"/>
          <p:cNvSpPr/>
          <p:nvPr/>
        </p:nvSpPr>
        <p:spPr>
          <a:xfrm>
            <a:off x="8046720" y="5166360"/>
            <a:ext cx="3931920" cy="1051560"/>
          </a:xfrm>
          <a:prstGeom prst="rect">
            <a:avLst/>
          </a:prstGeom>
          <a:noFill/>
          <a:ln/>
        </p:spPr>
        <p:txBody>
          <a:bodyPr wrap="square" lIns="0" tIns="0" rIns="0" bIns="0" rtlCol="0" anchor="ctr"/>
          <a:lstStyle/>
          <a:p>
            <a:pPr marL="0" indent="0">
              <a:buNone/>
            </a:pPr>
            <a:r>
              <a:rPr lang="en-US" sz="2600" b="1" dirty="0">
                <a:solidFill>
                  <a:srgbClr val="EBD9AE"/>
                </a:solidFill>
                <a:latin typeface="Cambria" pitchFamily="34" charset="0"/>
                <a:ea typeface="Cambria" pitchFamily="34" charset="-122"/>
                <a:cs typeface="Cambria" pitchFamily="34" charset="-120"/>
              </a:rPr>
              <a:t>124,621</a:t>
            </a:r>
            <a:r>
              <a:rPr lang="en-US" sz="1250" dirty="0">
                <a:solidFill>
                  <a:srgbClr val="F1E7D6"/>
                </a:solidFill>
              </a:rPr>
              <a:t>  candidates precomputed</a:t>
            </a:r>
            <a:endParaRPr lang="en-US" sz="2600" dirty="0"/>
          </a:p>
          <a:p>
            <a:pPr marL="0" indent="0">
              <a:buNone/>
            </a:pPr>
            <a:r>
              <a:rPr lang="en-US" sz="1250" dirty="0">
                <a:solidFill>
                  <a:srgbClr val="F1E7D6"/>
                </a:solidFill>
              </a:rPr>
              <a:t>across </a:t>
            </a:r>
            <a:endParaRPr lang="en-US" sz="2600" dirty="0"/>
          </a:p>
          <a:p>
            <a:pPr marL="0" indent="0">
              <a:buNone/>
            </a:pPr>
            <a:r>
              <a:rPr lang="en-US" sz="1500" b="1" dirty="0">
                <a:solidFill>
                  <a:srgbClr val="FFFFFF"/>
                </a:solidFill>
              </a:rPr>
              <a:t>48,180</a:t>
            </a:r>
            <a:r>
              <a:rPr lang="en-US" sz="1250" dirty="0">
                <a:solidFill>
                  <a:srgbClr val="F1E7D6"/>
                </a:solidFill>
              </a:rPr>
              <a:t> terms — never a wait</a:t>
            </a:r>
            <a:endParaRPr lang="en-US" sz="2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Enhancement 3 — guardrails, review &amp; teamwork</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Correctness enforced, drift caught, every decision remembered</a:t>
            </a:r>
            <a:endParaRPr lang="en-US" sz="1450" dirty="0"/>
          </a:p>
        </p:txBody>
      </p:sp>
      <p:sp>
        <p:nvSpPr>
          <p:cNvPr id="5" name="Shape 2"/>
          <p:cNvSpPr/>
          <p:nvPr/>
        </p:nvSpPr>
        <p:spPr>
          <a:xfrm>
            <a:off x="640080" y="1783080"/>
            <a:ext cx="3474720" cy="1627632"/>
          </a:xfrm>
          <a:prstGeom prst="roundRect">
            <a:avLst>
              <a:gd name="adj" fmla="val 4494"/>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6" name="Shape 3"/>
          <p:cNvSpPr/>
          <p:nvPr/>
        </p:nvSpPr>
        <p:spPr>
          <a:xfrm>
            <a:off x="868680" y="2002536"/>
            <a:ext cx="640080" cy="64008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041502" y="2175358"/>
            <a:ext cx="294437" cy="294437"/>
          </a:xfrm>
          <a:prstGeom prst="rect">
            <a:avLst/>
          </a:prstGeom>
        </p:spPr>
      </p:pic>
      <p:sp>
        <p:nvSpPr>
          <p:cNvPr id="8" name="Text 4"/>
          <p:cNvSpPr/>
          <p:nvPr/>
        </p:nvSpPr>
        <p:spPr>
          <a:xfrm>
            <a:off x="1645920" y="1965960"/>
            <a:ext cx="2331720" cy="658368"/>
          </a:xfrm>
          <a:prstGeom prst="rect">
            <a:avLst/>
          </a:prstGeom>
          <a:noFill/>
          <a:ln/>
        </p:spPr>
        <p:txBody>
          <a:bodyPr wrap="square" lIns="0" tIns="0" rIns="0" bIns="0" rtlCol="0" anchor="ctr"/>
          <a:lstStyle/>
          <a:p>
            <a:pPr marL="0" indent="0">
              <a:buNone/>
            </a:pPr>
            <a:r>
              <a:rPr lang="en-US" sz="1400" b="1" dirty="0">
                <a:solidFill>
                  <a:srgbClr val="23305F"/>
                </a:solidFill>
                <a:latin typeface="Calibri" pitchFamily="34" charset="0"/>
                <a:ea typeface="Calibri" pitchFamily="34" charset="-122"/>
                <a:cs typeface="Calibri" pitchFamily="34" charset="-120"/>
              </a:rPr>
              <a:t>CDM v5.4 guardrails</a:t>
            </a:r>
            <a:endParaRPr lang="en-US" sz="1400" dirty="0"/>
          </a:p>
        </p:txBody>
      </p:sp>
      <p:sp>
        <p:nvSpPr>
          <p:cNvPr id="9" name="Text 5"/>
          <p:cNvSpPr/>
          <p:nvPr/>
        </p:nvSpPr>
        <p:spPr>
          <a:xfrm>
            <a:off x="896112" y="2715768"/>
            <a:ext cx="3017520" cy="566928"/>
          </a:xfrm>
          <a:prstGeom prst="rect">
            <a:avLst/>
          </a:prstGeom>
          <a:noFill/>
          <a:ln/>
        </p:spPr>
        <p:txBody>
          <a:bodyPr wrap="square" lIns="0" tIns="0" rIns="0" bIns="0" rtlCol="0" anchor="ctr"/>
          <a:lstStyle/>
          <a:p>
            <a:pPr marL="0" indent="0">
              <a:lnSpc>
                <a:spcPct val="100000"/>
              </a:lnSpc>
              <a:buNone/>
            </a:pPr>
            <a:r>
              <a:rPr lang="en-US" sz="1200" dirty="0">
                <a:solidFill>
                  <a:srgbClr val="6E6A63"/>
                </a:solidFill>
                <a:latin typeface="Calibri" pitchFamily="34" charset="0"/>
                <a:ea typeface="Calibri" pitchFamily="34" charset="-122"/>
                <a:cs typeface="Calibri" pitchFamily="34" charset="-120"/>
              </a:rPr>
              <a:t>block non-standard targets; offer the standard replacement</a:t>
            </a:r>
            <a:endParaRPr lang="en-US" sz="1200" dirty="0"/>
          </a:p>
        </p:txBody>
      </p:sp>
      <p:sp>
        <p:nvSpPr>
          <p:cNvPr id="10" name="Shape 6"/>
          <p:cNvSpPr/>
          <p:nvPr/>
        </p:nvSpPr>
        <p:spPr>
          <a:xfrm>
            <a:off x="4343400" y="1783080"/>
            <a:ext cx="3474720" cy="1627632"/>
          </a:xfrm>
          <a:prstGeom prst="roundRect">
            <a:avLst>
              <a:gd name="adj" fmla="val 4494"/>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11" name="Shape 7"/>
          <p:cNvSpPr/>
          <p:nvPr/>
        </p:nvSpPr>
        <p:spPr>
          <a:xfrm>
            <a:off x="4572000" y="2002536"/>
            <a:ext cx="640080" cy="64008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744822" y="2175358"/>
            <a:ext cx="294437" cy="294437"/>
          </a:xfrm>
          <a:prstGeom prst="rect">
            <a:avLst/>
          </a:prstGeom>
        </p:spPr>
      </p:pic>
      <p:sp>
        <p:nvSpPr>
          <p:cNvPr id="13" name="Text 8"/>
          <p:cNvSpPr/>
          <p:nvPr/>
        </p:nvSpPr>
        <p:spPr>
          <a:xfrm>
            <a:off x="5349240" y="1965960"/>
            <a:ext cx="2331720" cy="658368"/>
          </a:xfrm>
          <a:prstGeom prst="rect">
            <a:avLst/>
          </a:prstGeom>
          <a:noFill/>
          <a:ln/>
        </p:spPr>
        <p:txBody>
          <a:bodyPr wrap="square" lIns="0" tIns="0" rIns="0" bIns="0" rtlCol="0" anchor="ctr"/>
          <a:lstStyle/>
          <a:p>
            <a:pPr marL="0" indent="0">
              <a:buNone/>
            </a:pPr>
            <a:r>
              <a:rPr lang="en-US" sz="1400" b="1" dirty="0">
                <a:solidFill>
                  <a:srgbClr val="23305F"/>
                </a:solidFill>
                <a:latin typeface="Calibri" pitchFamily="34" charset="0"/>
                <a:ea typeface="Calibri" pitchFamily="34" charset="-122"/>
                <a:cs typeface="Calibri" pitchFamily="34" charset="-120"/>
              </a:rPr>
              <a:t>Immutable audit trail</a:t>
            </a:r>
            <a:endParaRPr lang="en-US" sz="1400" dirty="0"/>
          </a:p>
        </p:txBody>
      </p:sp>
      <p:sp>
        <p:nvSpPr>
          <p:cNvPr id="14" name="Text 9"/>
          <p:cNvSpPr/>
          <p:nvPr/>
        </p:nvSpPr>
        <p:spPr>
          <a:xfrm>
            <a:off x="4599432" y="2715768"/>
            <a:ext cx="3017520" cy="566928"/>
          </a:xfrm>
          <a:prstGeom prst="rect">
            <a:avLst/>
          </a:prstGeom>
          <a:noFill/>
          <a:ln/>
        </p:spPr>
        <p:txBody>
          <a:bodyPr wrap="square" lIns="0" tIns="0" rIns="0" bIns="0" rtlCol="0" anchor="ctr"/>
          <a:lstStyle/>
          <a:p>
            <a:pPr marL="0" indent="0">
              <a:lnSpc>
                <a:spcPct val="100000"/>
              </a:lnSpc>
              <a:buNone/>
            </a:pPr>
            <a:r>
              <a:rPr lang="en-US" sz="1200" dirty="0">
                <a:solidFill>
                  <a:srgbClr val="6E6A63"/>
                </a:solidFill>
                <a:latin typeface="Calibri" pitchFamily="34" charset="0"/>
                <a:ea typeface="Calibri" pitchFamily="34" charset="-122"/>
                <a:cs typeface="Calibri" pitchFamily="34" charset="-120"/>
              </a:rPr>
              <a:t>who mapped what, when — with a source snapshot</a:t>
            </a:r>
            <a:endParaRPr lang="en-US" sz="1200" dirty="0"/>
          </a:p>
        </p:txBody>
      </p:sp>
      <p:sp>
        <p:nvSpPr>
          <p:cNvPr id="15" name="Shape 10"/>
          <p:cNvSpPr/>
          <p:nvPr/>
        </p:nvSpPr>
        <p:spPr>
          <a:xfrm>
            <a:off x="8046720" y="1783080"/>
            <a:ext cx="3474720" cy="1627632"/>
          </a:xfrm>
          <a:prstGeom prst="roundRect">
            <a:avLst>
              <a:gd name="adj" fmla="val 4494"/>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16" name="Shape 11"/>
          <p:cNvSpPr/>
          <p:nvPr/>
        </p:nvSpPr>
        <p:spPr>
          <a:xfrm>
            <a:off x="8275320" y="2002536"/>
            <a:ext cx="640080" cy="64008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8448142" y="2175358"/>
            <a:ext cx="294437" cy="294437"/>
          </a:xfrm>
          <a:prstGeom prst="rect">
            <a:avLst/>
          </a:prstGeom>
        </p:spPr>
      </p:pic>
      <p:sp>
        <p:nvSpPr>
          <p:cNvPr id="18" name="Text 12"/>
          <p:cNvSpPr/>
          <p:nvPr/>
        </p:nvSpPr>
        <p:spPr>
          <a:xfrm>
            <a:off x="9052560" y="1965960"/>
            <a:ext cx="2331720" cy="658368"/>
          </a:xfrm>
          <a:prstGeom prst="rect">
            <a:avLst/>
          </a:prstGeom>
          <a:noFill/>
          <a:ln/>
        </p:spPr>
        <p:txBody>
          <a:bodyPr wrap="square" lIns="0" tIns="0" rIns="0" bIns="0" rtlCol="0" anchor="ctr"/>
          <a:lstStyle/>
          <a:p>
            <a:pPr marL="0" indent="0">
              <a:buNone/>
            </a:pPr>
            <a:r>
              <a:rPr lang="en-US" sz="1400" b="1" dirty="0">
                <a:solidFill>
                  <a:srgbClr val="23305F"/>
                </a:solidFill>
                <a:latin typeface="Calibri" pitchFamily="34" charset="0"/>
                <a:ea typeface="Calibri" pitchFamily="34" charset="-122"/>
                <a:cs typeface="Calibri" pitchFamily="34" charset="-120"/>
              </a:rPr>
              <a:t>Review &amp; approve loop</a:t>
            </a:r>
            <a:endParaRPr lang="en-US" sz="1400" dirty="0"/>
          </a:p>
        </p:txBody>
      </p:sp>
      <p:sp>
        <p:nvSpPr>
          <p:cNvPr id="19" name="Text 13"/>
          <p:cNvSpPr/>
          <p:nvPr/>
        </p:nvSpPr>
        <p:spPr>
          <a:xfrm>
            <a:off x="8302752" y="2715768"/>
            <a:ext cx="3017520" cy="566928"/>
          </a:xfrm>
          <a:prstGeom prst="rect">
            <a:avLst/>
          </a:prstGeom>
          <a:noFill/>
          <a:ln/>
        </p:spPr>
        <p:txBody>
          <a:bodyPr wrap="square" lIns="0" tIns="0" rIns="0" bIns="0" rtlCol="0" anchor="ctr"/>
          <a:lstStyle/>
          <a:p>
            <a:pPr marL="0" indent="0">
              <a:lnSpc>
                <a:spcPct val="100000"/>
              </a:lnSpc>
              <a:buNone/>
            </a:pPr>
            <a:r>
              <a:rPr lang="en-US" sz="1200" dirty="0">
                <a:solidFill>
                  <a:srgbClr val="6E6A63"/>
                </a:solidFill>
                <a:latin typeface="Calibri" pitchFamily="34" charset="0"/>
                <a:ea typeface="Calibri" pitchFamily="34" charset="-122"/>
                <a:cs typeface="Calibri" pitchFamily="34" charset="-120"/>
              </a:rPr>
              <a:t>before/after, approve or return with a comment</a:t>
            </a:r>
            <a:endParaRPr lang="en-US" sz="1200" dirty="0"/>
          </a:p>
        </p:txBody>
      </p:sp>
      <p:sp>
        <p:nvSpPr>
          <p:cNvPr id="20" name="Shape 14"/>
          <p:cNvSpPr/>
          <p:nvPr/>
        </p:nvSpPr>
        <p:spPr>
          <a:xfrm>
            <a:off x="640080" y="3630168"/>
            <a:ext cx="3474720" cy="1627632"/>
          </a:xfrm>
          <a:prstGeom prst="roundRect">
            <a:avLst>
              <a:gd name="adj" fmla="val 4494"/>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21" name="Shape 15"/>
          <p:cNvSpPr/>
          <p:nvPr/>
        </p:nvSpPr>
        <p:spPr>
          <a:xfrm>
            <a:off x="868680" y="3849624"/>
            <a:ext cx="640080" cy="64008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1041502" y="4022446"/>
            <a:ext cx="294437" cy="294437"/>
          </a:xfrm>
          <a:prstGeom prst="rect">
            <a:avLst/>
          </a:prstGeom>
        </p:spPr>
      </p:pic>
      <p:sp>
        <p:nvSpPr>
          <p:cNvPr id="23" name="Text 16"/>
          <p:cNvSpPr/>
          <p:nvPr/>
        </p:nvSpPr>
        <p:spPr>
          <a:xfrm>
            <a:off x="1645920" y="3813048"/>
            <a:ext cx="2331720" cy="658368"/>
          </a:xfrm>
          <a:prstGeom prst="rect">
            <a:avLst/>
          </a:prstGeom>
          <a:noFill/>
          <a:ln/>
        </p:spPr>
        <p:txBody>
          <a:bodyPr wrap="square" lIns="0" tIns="0" rIns="0" bIns="0" rtlCol="0" anchor="ctr"/>
          <a:lstStyle/>
          <a:p>
            <a:pPr marL="0" indent="0">
              <a:buNone/>
            </a:pPr>
            <a:r>
              <a:rPr lang="en-US" sz="1400" b="1" dirty="0">
                <a:solidFill>
                  <a:srgbClr val="23305F"/>
                </a:solidFill>
                <a:latin typeface="Calibri" pitchFamily="34" charset="0"/>
                <a:ea typeface="Calibri" pitchFamily="34" charset="-122"/>
                <a:cs typeface="Calibri" pitchFamily="34" charset="-120"/>
              </a:rPr>
              <a:t>Vocabulary impact report</a:t>
            </a:r>
            <a:endParaRPr lang="en-US" sz="1400" dirty="0"/>
          </a:p>
        </p:txBody>
      </p:sp>
      <p:sp>
        <p:nvSpPr>
          <p:cNvPr id="24" name="Text 17"/>
          <p:cNvSpPr/>
          <p:nvPr/>
        </p:nvSpPr>
        <p:spPr>
          <a:xfrm>
            <a:off x="896112" y="4562856"/>
            <a:ext cx="3017520" cy="566928"/>
          </a:xfrm>
          <a:prstGeom prst="rect">
            <a:avLst/>
          </a:prstGeom>
          <a:noFill/>
          <a:ln/>
        </p:spPr>
        <p:txBody>
          <a:bodyPr wrap="square" lIns="0" tIns="0" rIns="0" bIns="0" rtlCol="0" anchor="ctr"/>
          <a:lstStyle/>
          <a:p>
            <a:pPr marL="0" indent="0">
              <a:lnSpc>
                <a:spcPct val="100000"/>
              </a:lnSpc>
              <a:buNone/>
            </a:pPr>
            <a:r>
              <a:rPr lang="en-US" sz="1200" dirty="0">
                <a:solidFill>
                  <a:srgbClr val="6E6A63"/>
                </a:solidFill>
                <a:latin typeface="Calibri" pitchFamily="34" charset="0"/>
                <a:ea typeface="Calibri" pitchFamily="34" charset="-122"/>
                <a:cs typeface="Calibri" pitchFamily="34" charset="-120"/>
              </a:rPr>
              <a:t>after each release, find &amp; repair broken maps</a:t>
            </a:r>
            <a:endParaRPr lang="en-US" sz="1200" dirty="0"/>
          </a:p>
        </p:txBody>
      </p:sp>
      <p:sp>
        <p:nvSpPr>
          <p:cNvPr id="25" name="Shape 18"/>
          <p:cNvSpPr/>
          <p:nvPr/>
        </p:nvSpPr>
        <p:spPr>
          <a:xfrm>
            <a:off x="4343400" y="3630168"/>
            <a:ext cx="3474720" cy="1627632"/>
          </a:xfrm>
          <a:prstGeom prst="roundRect">
            <a:avLst>
              <a:gd name="adj" fmla="val 4494"/>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26" name="Shape 19"/>
          <p:cNvSpPr/>
          <p:nvPr/>
        </p:nvSpPr>
        <p:spPr>
          <a:xfrm>
            <a:off x="4572000" y="3849624"/>
            <a:ext cx="640080" cy="64008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27" name="Image 4" descr="preencoded.png"/>
          <p:cNvPicPr>
            <a:picLocks noChangeAspect="1"/>
          </p:cNvPicPr>
          <p:nvPr/>
        </p:nvPicPr>
        <p:blipFill>
          <a:blip r:embed="rId7"/>
          <a:stretch>
            <a:fillRect/>
          </a:stretch>
        </p:blipFill>
        <p:spPr>
          <a:xfrm>
            <a:off x="4744822" y="4022446"/>
            <a:ext cx="294437" cy="294437"/>
          </a:xfrm>
          <a:prstGeom prst="rect">
            <a:avLst/>
          </a:prstGeom>
        </p:spPr>
      </p:pic>
      <p:sp>
        <p:nvSpPr>
          <p:cNvPr id="28" name="Text 20"/>
          <p:cNvSpPr/>
          <p:nvPr/>
        </p:nvSpPr>
        <p:spPr>
          <a:xfrm>
            <a:off x="5349240" y="3813048"/>
            <a:ext cx="2331720" cy="658368"/>
          </a:xfrm>
          <a:prstGeom prst="rect">
            <a:avLst/>
          </a:prstGeom>
          <a:noFill/>
          <a:ln/>
        </p:spPr>
        <p:txBody>
          <a:bodyPr wrap="square" lIns="0" tIns="0" rIns="0" bIns="0" rtlCol="0" anchor="ctr"/>
          <a:lstStyle/>
          <a:p>
            <a:pPr marL="0" indent="0">
              <a:buNone/>
            </a:pPr>
            <a:r>
              <a:rPr lang="en-US" sz="1400" b="1" dirty="0">
                <a:solidFill>
                  <a:srgbClr val="23305F"/>
                </a:solidFill>
                <a:latin typeface="Calibri" pitchFamily="34" charset="0"/>
                <a:ea typeface="Calibri" pitchFamily="34" charset="-122"/>
                <a:cs typeface="Calibri" pitchFamily="34" charset="-120"/>
              </a:rPr>
              <a:t>Lightweight claims</a:t>
            </a:r>
            <a:endParaRPr lang="en-US" sz="1400" dirty="0"/>
          </a:p>
        </p:txBody>
      </p:sp>
      <p:sp>
        <p:nvSpPr>
          <p:cNvPr id="29" name="Text 21"/>
          <p:cNvSpPr/>
          <p:nvPr/>
        </p:nvSpPr>
        <p:spPr>
          <a:xfrm>
            <a:off x="4599432" y="4562856"/>
            <a:ext cx="3017520" cy="566928"/>
          </a:xfrm>
          <a:prstGeom prst="rect">
            <a:avLst/>
          </a:prstGeom>
          <a:noFill/>
          <a:ln/>
        </p:spPr>
        <p:txBody>
          <a:bodyPr wrap="square" lIns="0" tIns="0" rIns="0" bIns="0" rtlCol="0" anchor="ctr"/>
          <a:lstStyle/>
          <a:p>
            <a:pPr marL="0" indent="0">
              <a:lnSpc>
                <a:spcPct val="100000"/>
              </a:lnSpc>
              <a:buNone/>
            </a:pPr>
            <a:r>
              <a:rPr lang="en-US" sz="1200" dirty="0">
                <a:solidFill>
                  <a:srgbClr val="6E6A63"/>
                </a:solidFill>
                <a:latin typeface="Calibri" pitchFamily="34" charset="0"/>
                <a:ea typeface="Calibri" pitchFamily="34" charset="-122"/>
                <a:cs typeface="Calibri" pitchFamily="34" charset="-120"/>
              </a:rPr>
              <a:t>two mappers never collide on the same term</a:t>
            </a:r>
            <a:endParaRPr lang="en-US" sz="1200" dirty="0"/>
          </a:p>
        </p:txBody>
      </p:sp>
      <p:sp>
        <p:nvSpPr>
          <p:cNvPr id="30" name="Shape 22"/>
          <p:cNvSpPr/>
          <p:nvPr/>
        </p:nvSpPr>
        <p:spPr>
          <a:xfrm>
            <a:off x="8046720" y="3630168"/>
            <a:ext cx="3474720" cy="1627632"/>
          </a:xfrm>
          <a:prstGeom prst="roundRect">
            <a:avLst>
              <a:gd name="adj" fmla="val 4494"/>
            </a:avLst>
          </a:prstGeom>
          <a:solidFill>
            <a:srgbClr val="F6F2EB"/>
          </a:solidFill>
          <a:ln w="12700">
            <a:solidFill>
              <a:srgbClr val="DAD3C6"/>
            </a:solidFill>
            <a:prstDash val="solid"/>
          </a:ln>
          <a:effectLst>
            <a:outerShdw blurRad="76200" dist="25400" dir="5400000" algn="bl" rotWithShape="0">
              <a:srgbClr val="000000">
                <a:alpha val="10000"/>
              </a:srgbClr>
            </a:outerShdw>
          </a:effectLst>
        </p:spPr>
        <p:txBody>
          <a:bodyPr/>
          <a:lstStyle/>
          <a:p>
            <a:endParaRPr lang="en-US"/>
          </a:p>
        </p:txBody>
      </p:sp>
      <p:sp>
        <p:nvSpPr>
          <p:cNvPr id="31" name="Shape 23"/>
          <p:cNvSpPr/>
          <p:nvPr/>
        </p:nvSpPr>
        <p:spPr>
          <a:xfrm>
            <a:off x="8275320" y="3849624"/>
            <a:ext cx="640080" cy="640080"/>
          </a:xfrm>
          <a:prstGeom prst="ellipse">
            <a:avLst/>
          </a:prstGeom>
          <a:solidFill>
            <a:srgbClr val="FFFFFF"/>
          </a:solidFill>
          <a:ln/>
          <a:effectLst>
            <a:outerShdw blurRad="63500" dist="25400" dir="5400000" algn="bl" rotWithShape="0">
              <a:srgbClr val="000000">
                <a:alpha val="18000"/>
              </a:srgbClr>
            </a:outerShdw>
          </a:effectLst>
        </p:spPr>
        <p:txBody>
          <a:bodyPr/>
          <a:lstStyle/>
          <a:p>
            <a:endParaRPr lang="en-US"/>
          </a:p>
        </p:txBody>
      </p:sp>
      <p:pic>
        <p:nvPicPr>
          <p:cNvPr id="32" name="Image 5" descr="preencoded.png"/>
          <p:cNvPicPr>
            <a:picLocks noChangeAspect="1"/>
          </p:cNvPicPr>
          <p:nvPr/>
        </p:nvPicPr>
        <p:blipFill>
          <a:blip r:embed="rId8"/>
          <a:stretch>
            <a:fillRect/>
          </a:stretch>
        </p:blipFill>
        <p:spPr>
          <a:xfrm>
            <a:off x="8448142" y="4022446"/>
            <a:ext cx="294437" cy="294437"/>
          </a:xfrm>
          <a:prstGeom prst="rect">
            <a:avLst/>
          </a:prstGeom>
        </p:spPr>
      </p:pic>
      <p:sp>
        <p:nvSpPr>
          <p:cNvPr id="33" name="Text 24"/>
          <p:cNvSpPr/>
          <p:nvPr/>
        </p:nvSpPr>
        <p:spPr>
          <a:xfrm>
            <a:off x="9052560" y="3813048"/>
            <a:ext cx="2331720" cy="658368"/>
          </a:xfrm>
          <a:prstGeom prst="rect">
            <a:avLst/>
          </a:prstGeom>
          <a:noFill/>
          <a:ln/>
        </p:spPr>
        <p:txBody>
          <a:bodyPr wrap="square" lIns="0" tIns="0" rIns="0" bIns="0" rtlCol="0" anchor="ctr"/>
          <a:lstStyle/>
          <a:p>
            <a:pPr marL="0" indent="0">
              <a:buNone/>
            </a:pPr>
            <a:r>
              <a:rPr lang="en-US" sz="1400" b="1" dirty="0">
                <a:solidFill>
                  <a:srgbClr val="23305F"/>
                </a:solidFill>
                <a:latin typeface="Calibri" pitchFamily="34" charset="0"/>
                <a:ea typeface="Calibri" pitchFamily="34" charset="-122"/>
                <a:cs typeface="Calibri" pitchFamily="34" charset="-120"/>
              </a:rPr>
              <a:t>Team dashboard</a:t>
            </a:r>
            <a:endParaRPr lang="en-US" sz="1400" dirty="0"/>
          </a:p>
        </p:txBody>
      </p:sp>
      <p:sp>
        <p:nvSpPr>
          <p:cNvPr id="34" name="Text 25"/>
          <p:cNvSpPr/>
          <p:nvPr/>
        </p:nvSpPr>
        <p:spPr>
          <a:xfrm>
            <a:off x="8302752" y="4562856"/>
            <a:ext cx="3017520" cy="566928"/>
          </a:xfrm>
          <a:prstGeom prst="rect">
            <a:avLst/>
          </a:prstGeom>
          <a:noFill/>
          <a:ln/>
        </p:spPr>
        <p:txBody>
          <a:bodyPr wrap="square" lIns="0" tIns="0" rIns="0" bIns="0" rtlCol="0" anchor="ctr"/>
          <a:lstStyle/>
          <a:p>
            <a:pPr marL="0" indent="0">
              <a:lnSpc>
                <a:spcPct val="100000"/>
              </a:lnSpc>
              <a:buNone/>
            </a:pPr>
            <a:r>
              <a:rPr lang="en-US" sz="1200" dirty="0">
                <a:solidFill>
                  <a:srgbClr val="6E6A63"/>
                </a:solidFill>
                <a:latin typeface="Calibri" pitchFamily="34" charset="0"/>
                <a:ea typeface="Calibri" pitchFamily="34" charset="-122"/>
                <a:cs typeface="Calibri" pitchFamily="34" charset="-120"/>
              </a:rPr>
              <a:t>throughput, backlog aging, pipeline at a glance</a:t>
            </a:r>
            <a:endParaRPr lang="en-US" sz="1200" dirty="0"/>
          </a:p>
        </p:txBody>
      </p:sp>
      <p:sp>
        <p:nvSpPr>
          <p:cNvPr id="35" name="Shape 26"/>
          <p:cNvSpPr/>
          <p:nvPr/>
        </p:nvSpPr>
        <p:spPr>
          <a:xfrm>
            <a:off x="640080" y="5623560"/>
            <a:ext cx="10835640" cy="868680"/>
          </a:xfrm>
          <a:prstGeom prst="roundRect">
            <a:avLst>
              <a:gd name="adj" fmla="val 8421"/>
            </a:avLst>
          </a:prstGeom>
          <a:solidFill>
            <a:srgbClr val="2A2013"/>
          </a:solidFill>
          <a:ln/>
        </p:spPr>
        <p:txBody>
          <a:bodyPr/>
          <a:lstStyle/>
          <a:p>
            <a:endParaRPr lang="en-US"/>
          </a:p>
        </p:txBody>
      </p:sp>
      <p:sp>
        <p:nvSpPr>
          <p:cNvPr id="36" name="Text 27"/>
          <p:cNvSpPr/>
          <p:nvPr/>
        </p:nvSpPr>
        <p:spPr>
          <a:xfrm>
            <a:off x="822960" y="5623560"/>
            <a:ext cx="10469880" cy="868680"/>
          </a:xfrm>
          <a:prstGeom prst="rect">
            <a:avLst/>
          </a:prstGeom>
          <a:noFill/>
          <a:ln/>
        </p:spPr>
        <p:txBody>
          <a:bodyPr wrap="square" lIns="0" tIns="0" rIns="0" bIns="0" rtlCol="0" anchor="ctr"/>
          <a:lstStyle/>
          <a:p>
            <a:pPr marL="0" indent="0" algn="ctr">
              <a:buNone/>
            </a:pPr>
            <a:r>
              <a:rPr lang="en-US" sz="1550" b="1" dirty="0">
                <a:solidFill>
                  <a:srgbClr val="EBD9AE"/>
                </a:solidFill>
                <a:latin typeface="Calibri" pitchFamily="34" charset="0"/>
                <a:ea typeface="Calibri" pitchFamily="34" charset="-122"/>
                <a:cs typeface="Calibri" pitchFamily="34" charset="-120"/>
              </a:rPr>
              <a:t>Every map is enforceable, reversible, and attributable</a:t>
            </a:r>
            <a:r>
              <a:rPr lang="en-US" sz="1550" dirty="0">
                <a:solidFill>
                  <a:srgbClr val="F1E7D6"/>
                </a:solidFill>
                <a:latin typeface="Calibri" pitchFamily="34" charset="0"/>
                <a:ea typeface="Calibri" pitchFamily="34" charset="-122"/>
                <a:cs typeface="Calibri" pitchFamily="34" charset="-120"/>
              </a:rPr>
              <a:t>  —  the difference between a spreadsheet and a system of record.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Canadian vocabularies &amp; real-world validation</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First-class support for the codes Canadian hospitals actually use</a:t>
            </a:r>
            <a:endParaRPr lang="en-US" sz="1450" dirty="0"/>
          </a:p>
        </p:txBody>
      </p:sp>
      <p:sp>
        <p:nvSpPr>
          <p:cNvPr id="5" name="Shape 2"/>
          <p:cNvSpPr/>
          <p:nvPr/>
        </p:nvSpPr>
        <p:spPr>
          <a:xfrm>
            <a:off x="640080" y="1645920"/>
            <a:ext cx="640080" cy="640080"/>
          </a:xfrm>
          <a:prstGeom prst="ellipse">
            <a:avLst/>
          </a:prstGeom>
          <a:solidFill>
            <a:srgbClr val="E7F1E7"/>
          </a:solidFill>
          <a:ln/>
          <a:effectLst>
            <a:outerShdw blurRad="63500" dist="254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12902" y="1818742"/>
            <a:ext cx="294437" cy="294437"/>
          </a:xfrm>
          <a:prstGeom prst="rect">
            <a:avLst/>
          </a:prstGeom>
        </p:spPr>
      </p:pic>
      <p:sp>
        <p:nvSpPr>
          <p:cNvPr id="7" name="Text 3"/>
          <p:cNvSpPr/>
          <p:nvPr/>
        </p:nvSpPr>
        <p:spPr>
          <a:xfrm>
            <a:off x="1417320" y="1691640"/>
            <a:ext cx="4846320" cy="502920"/>
          </a:xfrm>
          <a:prstGeom prst="rect">
            <a:avLst/>
          </a:prstGeom>
          <a:noFill/>
          <a:ln/>
        </p:spPr>
        <p:txBody>
          <a:bodyPr wrap="square" lIns="0" tIns="0" rIns="0" bIns="0" rtlCol="0" anchor="ctr"/>
          <a:lstStyle/>
          <a:p>
            <a:pPr marL="0" indent="0">
              <a:buNone/>
            </a:pPr>
            <a:r>
              <a:rPr lang="en-US" sz="1700" b="1" dirty="0">
                <a:solidFill>
                  <a:srgbClr val="23305F"/>
                </a:solidFill>
                <a:latin typeface="Cambria" pitchFamily="34" charset="0"/>
                <a:ea typeface="Cambria" pitchFamily="34" charset="-122"/>
                <a:cs typeface="Cambria" pitchFamily="34" charset="-120"/>
              </a:rPr>
              <a:t>Bringing Canada into OMOP</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5486400" cy="1920240"/>
        </p:xfrm>
        <a:graphic>
          <a:graphicData uri="http://schemas.openxmlformats.org/drawingml/2006/table">
            <a:tbl>
              <a:tblPr/>
              <a:tblGrid>
                <a:gridCol w="2286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Vocabulary</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23305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Covers</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23305F"/>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ICD-10-CA</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Diagnoses (CIHI)</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CCI</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Procedures (CIHI)</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SNOMED CT-CA</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Canadian concepts (Infoway)</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extLst>
                  <a:ext uri="{0D108BD9-81ED-4DB2-BD59-A6C34878D82A}">
                    <a16:rowId xmlns:a16="http://schemas.microsoft.com/office/drawing/2014/main" val="10003"/>
                  </a:ext>
                </a:extLst>
              </a:tr>
              <a:tr h="384048">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pCLOCD</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tc>
                  <a:txBody>
                    <a:bodyPr/>
                    <a:lstStyle/>
                    <a:p>
                      <a:pPr marL="0" indent="0" algn="l">
                        <a:buNone/>
                      </a:pPr>
                      <a:r>
                        <a:rPr lang="en-US" sz="1200" dirty="0">
                          <a:solidFill>
                            <a:srgbClr val="2B2B2B"/>
                          </a:solidFill>
                          <a:latin typeface="Calibri" pitchFamily="34" charset="0"/>
                          <a:ea typeface="Calibri" pitchFamily="34" charset="-122"/>
                          <a:cs typeface="Calibri" pitchFamily="34" charset="-120"/>
                        </a:rPr>
                        <a:t>Lab observations</a:t>
                      </a:r>
                      <a:endParaRPr lang="en-US" sz="1200" dirty="0">
                        <a:latin typeface="Calibri" charset="0"/>
                        <a:ea typeface="Calibri" charset="0"/>
                        <a:cs typeface="Calibri" charset="0"/>
                      </a:endParaRPr>
                    </a:p>
                  </a:txBody>
                  <a:tcPr marL="76200" marR="76200" marT="25400" marB="25400" anchor="ctr">
                    <a:lnL w="6350" cap="flat" cmpd="sng" algn="ctr">
                      <a:solidFill>
                        <a:srgbClr val="DAD3C6"/>
                      </a:solidFill>
                      <a:prstDash val="solid"/>
                      <a:round/>
                      <a:headEnd type="none" w="med" len="med"/>
                      <a:tailEnd type="none" w="med" len="med"/>
                    </a:lnL>
                    <a:lnR w="6350" cap="flat" cmpd="sng" algn="ctr">
                      <a:solidFill>
                        <a:srgbClr val="DAD3C6"/>
                      </a:solidFill>
                      <a:prstDash val="solid"/>
                      <a:round/>
                      <a:headEnd type="none" w="med" len="med"/>
                      <a:tailEnd type="none" w="med" len="med"/>
                    </a:lnR>
                    <a:lnT w="6350" cap="flat" cmpd="sng" algn="ctr">
                      <a:solidFill>
                        <a:srgbClr val="DAD3C6"/>
                      </a:solidFill>
                      <a:prstDash val="solid"/>
                      <a:round/>
                      <a:headEnd type="none" w="med" len="med"/>
                      <a:tailEnd type="none" w="med" len="med"/>
                    </a:lnT>
                    <a:lnB w="6350" cap="flat" cmpd="sng" algn="ctr">
                      <a:solidFill>
                        <a:srgbClr val="DAD3C6"/>
                      </a:solidFill>
                      <a:prstDash val="solid"/>
                      <a:round/>
                      <a:headEnd type="none" w="med" len="med"/>
                      <a:tailEnd type="none" w="med" len="med"/>
                    </a:lnB>
                    <a:solidFill>
                      <a:srgbClr val="F6F2EB"/>
                    </a:solidFill>
                  </a:tcPr>
                </a:tc>
                <a:extLst>
                  <a:ext uri="{0D108BD9-81ED-4DB2-BD59-A6C34878D82A}">
                    <a16:rowId xmlns:a16="http://schemas.microsoft.com/office/drawing/2014/main" val="10004"/>
                  </a:ext>
                </a:extLst>
              </a:tr>
            </a:tbl>
          </a:graphicData>
        </a:graphic>
      </p:graphicFrame>
      <p:sp>
        <p:nvSpPr>
          <p:cNvPr id="9" name="Text 4"/>
          <p:cNvSpPr/>
          <p:nvPr/>
        </p:nvSpPr>
        <p:spPr>
          <a:xfrm>
            <a:off x="640080" y="4754880"/>
            <a:ext cx="5486400" cy="1097280"/>
          </a:xfrm>
          <a:prstGeom prst="rect">
            <a:avLst/>
          </a:prstGeom>
          <a:noFill/>
          <a:ln/>
        </p:spPr>
        <p:txBody>
          <a:bodyPr wrap="square" lIns="0" tIns="0" rIns="0" bIns="0" rtlCol="0" anchor="ctr"/>
          <a:lstStyle/>
          <a:p>
            <a:pPr marL="0" indent="0">
              <a:lnSpc>
                <a:spcPct val="105000"/>
              </a:lnSpc>
              <a:buNone/>
            </a:pPr>
            <a:r>
              <a:rPr lang="en-US" sz="1300" dirty="0">
                <a:solidFill>
                  <a:srgbClr val="6E6A63"/>
                </a:solidFill>
                <a:latin typeface="Calibri" pitchFamily="34" charset="0"/>
                <a:ea typeface="Calibri" pitchFamily="34" charset="-122"/>
                <a:cs typeface="Calibri" pitchFamily="34" charset="-120"/>
              </a:rPr>
              <a:t>Custom concepts use the reserved 2-billion id range; genuinely unmappable terms are escalated via the </a:t>
            </a:r>
            <a:r>
              <a:rPr lang="en-US" sz="1300" b="1" dirty="0">
                <a:solidFill>
                  <a:srgbClr val="C7902B"/>
                </a:solidFill>
                <a:latin typeface="Calibri" pitchFamily="34" charset="0"/>
                <a:ea typeface="Calibri" pitchFamily="34" charset="-122"/>
                <a:cs typeface="Calibri" pitchFamily="34" charset="-120"/>
              </a:rPr>
              <a:t>SDO submission</a:t>
            </a:r>
            <a:r>
              <a:rPr lang="en-US" sz="1300" dirty="0">
                <a:solidFill>
                  <a:srgbClr val="6E6A63"/>
                </a:solidFill>
                <a:latin typeface="Calibri" pitchFamily="34" charset="0"/>
                <a:ea typeface="Calibri" pitchFamily="34" charset="-122"/>
                <a:cs typeface="Calibri" pitchFamily="34" charset="-120"/>
              </a:rPr>
              <a:t> path — never a forced, wrong map.</a:t>
            </a:r>
            <a:endParaRPr lang="en-US" sz="1300" dirty="0"/>
          </a:p>
        </p:txBody>
      </p:sp>
      <p:sp>
        <p:nvSpPr>
          <p:cNvPr id="10" name="Shape 5"/>
          <p:cNvSpPr/>
          <p:nvPr/>
        </p:nvSpPr>
        <p:spPr>
          <a:xfrm>
            <a:off x="6583680" y="1645920"/>
            <a:ext cx="4983480" cy="4343400"/>
          </a:xfrm>
          <a:prstGeom prst="roundRect">
            <a:avLst>
              <a:gd name="adj" fmla="val 2105"/>
            </a:avLst>
          </a:prstGeom>
          <a:solidFill>
            <a:srgbClr val="2A2013"/>
          </a:solidFill>
          <a:ln/>
        </p:spPr>
        <p:txBody>
          <a:bodyPr/>
          <a:lstStyle/>
          <a:p>
            <a:endParaRPr lang="en-US"/>
          </a:p>
        </p:txBody>
      </p:sp>
      <p:sp>
        <p:nvSpPr>
          <p:cNvPr id="11" name="Text 6"/>
          <p:cNvSpPr/>
          <p:nvPr/>
        </p:nvSpPr>
        <p:spPr>
          <a:xfrm>
            <a:off x="6858000" y="1828800"/>
            <a:ext cx="4480560" cy="457200"/>
          </a:xfrm>
          <a:prstGeom prst="rect">
            <a:avLst/>
          </a:prstGeom>
          <a:noFill/>
          <a:ln/>
        </p:spPr>
        <p:txBody>
          <a:bodyPr wrap="square" lIns="0" tIns="0" rIns="0" bIns="0" rtlCol="0" anchor="ctr"/>
          <a:lstStyle/>
          <a:p>
            <a:r>
              <a:rPr lang="en-CA" dirty="0">
                <a:solidFill>
                  <a:schemeClr val="bg1"/>
                </a:solidFill>
              </a:rPr>
              <a:t>Validated on a real vocabulary sample (OHDSI Eunomia)</a:t>
            </a:r>
            <a:endParaRPr lang="en-US" sz="1700" dirty="0">
              <a:solidFill>
                <a:schemeClr val="bg1"/>
              </a:solidFill>
            </a:endParaRPr>
          </a:p>
        </p:txBody>
      </p:sp>
      <p:sp>
        <p:nvSpPr>
          <p:cNvPr id="12" name="Text 7"/>
          <p:cNvSpPr/>
          <p:nvPr/>
        </p:nvSpPr>
        <p:spPr>
          <a:xfrm>
            <a:off x="6903720" y="2468880"/>
            <a:ext cx="1965960" cy="777240"/>
          </a:xfrm>
          <a:prstGeom prst="rect">
            <a:avLst/>
          </a:prstGeom>
          <a:noFill/>
          <a:ln/>
        </p:spPr>
        <p:txBody>
          <a:bodyPr wrap="square" lIns="0" tIns="0" rIns="0" bIns="0" rtlCol="0" anchor="ctr"/>
          <a:lstStyle/>
          <a:p>
            <a:pPr marL="0" indent="0">
              <a:buNone/>
            </a:pPr>
            <a:r>
              <a:rPr lang="en-US" sz="3000" b="1" dirty="0">
                <a:solidFill>
                  <a:srgbClr val="EBD9AE"/>
                </a:solidFill>
                <a:latin typeface="Cambria" pitchFamily="34" charset="0"/>
                <a:ea typeface="Cambria" pitchFamily="34" charset="-122"/>
                <a:cs typeface="Cambria" pitchFamily="34" charset="-120"/>
              </a:rPr>
              <a:t>444+</a:t>
            </a:r>
            <a:endParaRPr lang="en-US" sz="3000" dirty="0"/>
          </a:p>
        </p:txBody>
      </p:sp>
      <p:sp>
        <p:nvSpPr>
          <p:cNvPr id="13" name="Text 8"/>
          <p:cNvSpPr/>
          <p:nvPr/>
        </p:nvSpPr>
        <p:spPr>
          <a:xfrm>
            <a:off x="8823960" y="2468880"/>
            <a:ext cx="2606040" cy="777240"/>
          </a:xfrm>
          <a:prstGeom prst="rect">
            <a:avLst/>
          </a:prstGeom>
          <a:noFill/>
          <a:ln/>
        </p:spPr>
        <p:txBody>
          <a:bodyPr wrap="square" lIns="0" tIns="0" rIns="0" bIns="0" rtlCol="0" anchor="ctr"/>
          <a:lstStyle/>
          <a:p>
            <a:pPr marL="0" indent="0">
              <a:buNone/>
            </a:pPr>
            <a:r>
              <a:rPr lang="en-US" sz="1250" dirty="0">
                <a:solidFill>
                  <a:srgbClr val="F1E7D6"/>
                </a:solidFill>
                <a:latin typeface="Calibri" pitchFamily="34" charset="0"/>
                <a:ea typeface="Calibri" pitchFamily="34" charset="-122"/>
                <a:cs typeface="Calibri" pitchFamily="34" charset="-120"/>
              </a:rPr>
              <a:t>real OMOP concepts loaded, with a 65k-row hierarchy</a:t>
            </a:r>
            <a:endParaRPr lang="en-US" sz="1250" dirty="0"/>
          </a:p>
        </p:txBody>
      </p:sp>
      <p:sp>
        <p:nvSpPr>
          <p:cNvPr id="14" name="Text 9"/>
          <p:cNvSpPr/>
          <p:nvPr/>
        </p:nvSpPr>
        <p:spPr>
          <a:xfrm>
            <a:off x="6903720" y="3429000"/>
            <a:ext cx="1965960" cy="777240"/>
          </a:xfrm>
          <a:prstGeom prst="rect">
            <a:avLst/>
          </a:prstGeom>
          <a:noFill/>
          <a:ln/>
        </p:spPr>
        <p:txBody>
          <a:bodyPr wrap="square" lIns="0" tIns="0" rIns="0" bIns="0" rtlCol="0" anchor="ctr"/>
          <a:lstStyle/>
          <a:p>
            <a:pPr marL="0" indent="0">
              <a:buNone/>
            </a:pPr>
            <a:r>
              <a:rPr lang="en-US" sz="3000" b="1" dirty="0">
                <a:solidFill>
                  <a:srgbClr val="EBD9AE"/>
                </a:solidFill>
                <a:latin typeface="Cambria" pitchFamily="34" charset="0"/>
                <a:ea typeface="Cambria" pitchFamily="34" charset="-122"/>
                <a:cs typeface="Cambria" pitchFamily="34" charset="-120"/>
              </a:rPr>
              <a:t>1.0</a:t>
            </a:r>
            <a:endParaRPr lang="en-US" sz="3000" dirty="0"/>
          </a:p>
        </p:txBody>
      </p:sp>
      <p:sp>
        <p:nvSpPr>
          <p:cNvPr id="15" name="Text 10"/>
          <p:cNvSpPr/>
          <p:nvPr/>
        </p:nvSpPr>
        <p:spPr>
          <a:xfrm>
            <a:off x="8823960" y="3429000"/>
            <a:ext cx="2606040" cy="777240"/>
          </a:xfrm>
          <a:prstGeom prst="rect">
            <a:avLst/>
          </a:prstGeom>
          <a:noFill/>
          <a:ln/>
        </p:spPr>
        <p:txBody>
          <a:bodyPr wrap="square" lIns="0" tIns="0" rIns="0" bIns="0" rtlCol="0" anchor="ctr"/>
          <a:lstStyle/>
          <a:p>
            <a:pPr marL="0" indent="0">
              <a:buNone/>
            </a:pPr>
            <a:r>
              <a:rPr lang="en-US" sz="1250" dirty="0">
                <a:solidFill>
                  <a:srgbClr val="F1E7D6"/>
                </a:solidFill>
                <a:latin typeface="Calibri" pitchFamily="34" charset="0"/>
                <a:ea typeface="Calibri" pitchFamily="34" charset="-122"/>
                <a:cs typeface="Calibri" pitchFamily="34" charset="-120"/>
              </a:rPr>
              <a:t>score: "Coronary arteriosclerosis" → the exact SNOMED concept</a:t>
            </a:r>
            <a:endParaRPr lang="en-US" sz="1250" dirty="0"/>
          </a:p>
        </p:txBody>
      </p:sp>
      <p:sp>
        <p:nvSpPr>
          <p:cNvPr id="16" name="Text 11"/>
          <p:cNvSpPr/>
          <p:nvPr/>
        </p:nvSpPr>
        <p:spPr>
          <a:xfrm>
            <a:off x="6903720" y="4389120"/>
            <a:ext cx="1965960" cy="777240"/>
          </a:xfrm>
          <a:prstGeom prst="rect">
            <a:avLst/>
          </a:prstGeom>
          <a:noFill/>
          <a:ln/>
        </p:spPr>
        <p:txBody>
          <a:bodyPr wrap="square" lIns="0" tIns="0" rIns="0" bIns="0" rtlCol="0" anchor="ctr"/>
          <a:lstStyle/>
          <a:p>
            <a:pPr marL="0" indent="0">
              <a:buNone/>
            </a:pPr>
            <a:r>
              <a:rPr lang="en-US" sz="3000" b="1" dirty="0">
                <a:solidFill>
                  <a:srgbClr val="EBD9AE"/>
                </a:solidFill>
                <a:latin typeface="Cambria" pitchFamily="34" charset="0"/>
                <a:ea typeface="Cambria" pitchFamily="34" charset="-122"/>
                <a:cs typeface="Cambria" pitchFamily="34" charset="-120"/>
              </a:rPr>
              <a:t>16,111</a:t>
            </a:r>
            <a:endParaRPr lang="en-US" sz="3000" dirty="0"/>
          </a:p>
        </p:txBody>
      </p:sp>
      <p:sp>
        <p:nvSpPr>
          <p:cNvPr id="17" name="Text 12"/>
          <p:cNvSpPr/>
          <p:nvPr/>
        </p:nvSpPr>
        <p:spPr>
          <a:xfrm>
            <a:off x="8823960" y="4389120"/>
            <a:ext cx="2606040" cy="777240"/>
          </a:xfrm>
          <a:prstGeom prst="rect">
            <a:avLst/>
          </a:prstGeom>
          <a:noFill/>
          <a:ln/>
        </p:spPr>
        <p:txBody>
          <a:bodyPr wrap="square" lIns="0" tIns="0" rIns="0" bIns="0" rtlCol="0" anchor="ctr"/>
          <a:lstStyle/>
          <a:p>
            <a:pPr marL="0" indent="0">
              <a:buNone/>
            </a:pPr>
            <a:r>
              <a:rPr lang="en-US" sz="1250" dirty="0">
                <a:solidFill>
                  <a:srgbClr val="F1E7D6"/>
                </a:solidFill>
                <a:latin typeface="Calibri" pitchFamily="34" charset="0"/>
                <a:ea typeface="Calibri" pitchFamily="34" charset="-122"/>
                <a:cs typeface="Calibri" pitchFamily="34" charset="-120"/>
              </a:rPr>
              <a:t>maps — byte-for-byte parity with the legacy system</a:t>
            </a:r>
            <a:endParaRPr lang="en-US" sz="1250" dirty="0"/>
          </a:p>
        </p:txBody>
      </p:sp>
      <p:sp>
        <p:nvSpPr>
          <p:cNvPr id="18" name="Text 13"/>
          <p:cNvSpPr/>
          <p:nvPr/>
        </p:nvSpPr>
        <p:spPr>
          <a:xfrm>
            <a:off x="6903720" y="5257800"/>
            <a:ext cx="4526280" cy="640080"/>
          </a:xfrm>
          <a:prstGeom prst="rect">
            <a:avLst/>
          </a:prstGeom>
          <a:noFill/>
          <a:ln/>
        </p:spPr>
        <p:txBody>
          <a:bodyPr wrap="square" lIns="0" tIns="0" rIns="0" bIns="0" rtlCol="0" anchor="ctr"/>
          <a:lstStyle/>
          <a:p>
            <a:pPr marL="0" indent="0">
              <a:lnSpc>
                <a:spcPct val="105000"/>
              </a:lnSpc>
              <a:buNone/>
            </a:pPr>
            <a:r>
              <a:rPr lang="en-US" sz="1250" i="1" dirty="0">
                <a:solidFill>
                  <a:srgbClr val="EBD9AE"/>
                </a:solidFill>
                <a:latin typeface="Calibri" pitchFamily="34" charset="0"/>
                <a:ea typeface="Calibri" pitchFamily="34" charset="-122"/>
                <a:cs typeface="Calibri" pitchFamily="34" charset="-120"/>
              </a:rPr>
              <a:t>Real vocabulary → indexed search → auto-map → correct candidates. End to end, on real data.</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Usagi, original COMET, new COMET — side by side</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Same philosophy — machine proposes, human decides — realized at team scale</a:t>
            </a:r>
            <a:endParaRPr lang="en-US" sz="1450" dirty="0"/>
          </a:p>
        </p:txBody>
      </p:sp>
      <p:sp>
        <p:nvSpPr>
          <p:cNvPr id="5" name="Shape 2"/>
          <p:cNvSpPr/>
          <p:nvPr/>
        </p:nvSpPr>
        <p:spPr>
          <a:xfrm>
            <a:off x="594360" y="1508760"/>
            <a:ext cx="2697480" cy="457200"/>
          </a:xfrm>
          <a:prstGeom prst="rect">
            <a:avLst/>
          </a:prstGeom>
          <a:solidFill>
            <a:srgbClr val="FFFFFF"/>
          </a:solidFill>
          <a:ln/>
        </p:spPr>
        <p:txBody>
          <a:bodyPr/>
          <a:lstStyle/>
          <a:p>
            <a:endParaRPr lang="en-US"/>
          </a:p>
        </p:txBody>
      </p:sp>
      <p:sp>
        <p:nvSpPr>
          <p:cNvPr id="6" name="Shape 3"/>
          <p:cNvSpPr/>
          <p:nvPr/>
        </p:nvSpPr>
        <p:spPr>
          <a:xfrm>
            <a:off x="3337560" y="1508760"/>
            <a:ext cx="2697480" cy="457200"/>
          </a:xfrm>
          <a:prstGeom prst="rect">
            <a:avLst/>
          </a:prstGeom>
          <a:solidFill>
            <a:srgbClr val="23305F"/>
          </a:solidFill>
          <a:ln/>
        </p:spPr>
        <p:txBody>
          <a:bodyPr/>
          <a:lstStyle/>
          <a:p>
            <a:endParaRPr lang="en-US"/>
          </a:p>
        </p:txBody>
      </p:sp>
      <p:sp>
        <p:nvSpPr>
          <p:cNvPr id="7" name="Text 4"/>
          <p:cNvSpPr/>
          <p:nvPr/>
        </p:nvSpPr>
        <p:spPr>
          <a:xfrm>
            <a:off x="3447288" y="1508760"/>
            <a:ext cx="25146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Usagi</a:t>
            </a:r>
            <a:endParaRPr lang="en-US" sz="1300" dirty="0"/>
          </a:p>
        </p:txBody>
      </p:sp>
      <p:sp>
        <p:nvSpPr>
          <p:cNvPr id="8" name="Shape 5"/>
          <p:cNvSpPr/>
          <p:nvPr/>
        </p:nvSpPr>
        <p:spPr>
          <a:xfrm>
            <a:off x="6080760" y="1508760"/>
            <a:ext cx="2697480" cy="457200"/>
          </a:xfrm>
          <a:prstGeom prst="rect">
            <a:avLst/>
          </a:prstGeom>
          <a:solidFill>
            <a:srgbClr val="23305F"/>
          </a:solidFill>
          <a:ln/>
        </p:spPr>
        <p:txBody>
          <a:bodyPr/>
          <a:lstStyle/>
          <a:p>
            <a:endParaRPr lang="en-US"/>
          </a:p>
        </p:txBody>
      </p:sp>
      <p:sp>
        <p:nvSpPr>
          <p:cNvPr id="9" name="Text 6"/>
          <p:cNvSpPr/>
          <p:nvPr/>
        </p:nvSpPr>
        <p:spPr>
          <a:xfrm>
            <a:off x="6190488" y="1508760"/>
            <a:ext cx="25146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Original COMET</a:t>
            </a:r>
            <a:endParaRPr lang="en-US" sz="1300" dirty="0"/>
          </a:p>
        </p:txBody>
      </p:sp>
      <p:sp>
        <p:nvSpPr>
          <p:cNvPr id="10" name="Shape 7"/>
          <p:cNvSpPr/>
          <p:nvPr/>
        </p:nvSpPr>
        <p:spPr>
          <a:xfrm>
            <a:off x="8823960" y="1508760"/>
            <a:ext cx="2788920" cy="457200"/>
          </a:xfrm>
          <a:prstGeom prst="rect">
            <a:avLst/>
          </a:prstGeom>
          <a:solidFill>
            <a:srgbClr val="C7902B"/>
          </a:solidFill>
          <a:ln/>
        </p:spPr>
        <p:txBody>
          <a:bodyPr/>
          <a:lstStyle/>
          <a:p>
            <a:endParaRPr lang="en-US"/>
          </a:p>
        </p:txBody>
      </p:sp>
      <p:sp>
        <p:nvSpPr>
          <p:cNvPr id="11" name="Text 8"/>
          <p:cNvSpPr/>
          <p:nvPr/>
        </p:nvSpPr>
        <p:spPr>
          <a:xfrm>
            <a:off x="8933688" y="1508760"/>
            <a:ext cx="2606040" cy="457200"/>
          </a:xfrm>
          <a:prstGeom prst="rect">
            <a:avLst/>
          </a:prstGeom>
          <a:noFill/>
          <a:ln/>
        </p:spPr>
        <p:txBody>
          <a:bodyPr wrap="square" lIns="0" tIns="0" rIns="0" bIns="0" rtlCol="0" anchor="ctr"/>
          <a:lstStyle/>
          <a:p>
            <a:pPr marL="0" indent="0">
              <a:buNone/>
            </a:pPr>
            <a:r>
              <a:rPr lang="en-US" sz="1300" b="1" dirty="0">
                <a:solidFill>
                  <a:srgbClr val="2A2013"/>
                </a:solidFill>
                <a:latin typeface="Calibri" pitchFamily="34" charset="0"/>
                <a:ea typeface="Calibri" pitchFamily="34" charset="-122"/>
                <a:cs typeface="Calibri" pitchFamily="34" charset="-120"/>
              </a:rPr>
              <a:t>New COMET</a:t>
            </a:r>
            <a:endParaRPr lang="en-US" sz="1300" dirty="0"/>
          </a:p>
        </p:txBody>
      </p:sp>
      <p:sp>
        <p:nvSpPr>
          <p:cNvPr id="12" name="Shape 9"/>
          <p:cNvSpPr/>
          <p:nvPr/>
        </p:nvSpPr>
        <p:spPr>
          <a:xfrm>
            <a:off x="594360" y="1965960"/>
            <a:ext cx="2697480" cy="502920"/>
          </a:xfrm>
          <a:prstGeom prst="rect">
            <a:avLst/>
          </a:prstGeom>
          <a:solidFill>
            <a:srgbClr val="F6F2EB"/>
          </a:solidFill>
          <a:ln w="6350">
            <a:solidFill>
              <a:srgbClr val="DAD3C6"/>
            </a:solidFill>
            <a:prstDash val="solid"/>
          </a:ln>
        </p:spPr>
        <p:txBody>
          <a:bodyPr/>
          <a:lstStyle/>
          <a:p>
            <a:endParaRPr lang="en-US"/>
          </a:p>
        </p:txBody>
      </p:sp>
      <p:sp>
        <p:nvSpPr>
          <p:cNvPr id="13" name="Text 10"/>
          <p:cNvSpPr/>
          <p:nvPr/>
        </p:nvSpPr>
        <p:spPr>
          <a:xfrm>
            <a:off x="704088" y="196596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Platform</a:t>
            </a:r>
            <a:endParaRPr lang="en-US" sz="1150" dirty="0"/>
          </a:p>
        </p:txBody>
      </p:sp>
      <p:sp>
        <p:nvSpPr>
          <p:cNvPr id="14" name="Shape 11"/>
          <p:cNvSpPr/>
          <p:nvPr/>
        </p:nvSpPr>
        <p:spPr>
          <a:xfrm>
            <a:off x="3337560" y="1965960"/>
            <a:ext cx="2697480" cy="502920"/>
          </a:xfrm>
          <a:prstGeom prst="rect">
            <a:avLst/>
          </a:prstGeom>
          <a:solidFill>
            <a:srgbClr val="FAF8F4"/>
          </a:solidFill>
          <a:ln w="6350">
            <a:solidFill>
              <a:srgbClr val="DAD3C6"/>
            </a:solidFill>
            <a:prstDash val="solid"/>
          </a:ln>
        </p:spPr>
        <p:txBody>
          <a:bodyPr/>
          <a:lstStyle/>
          <a:p>
            <a:endParaRPr lang="en-US"/>
          </a:p>
        </p:txBody>
      </p:sp>
      <p:sp>
        <p:nvSpPr>
          <p:cNvPr id="15" name="Text 12"/>
          <p:cNvSpPr/>
          <p:nvPr/>
        </p:nvSpPr>
        <p:spPr>
          <a:xfrm>
            <a:off x="3447288" y="196596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Java desktop, single-seat</a:t>
            </a:r>
            <a:endParaRPr lang="en-US" sz="1100" dirty="0"/>
          </a:p>
        </p:txBody>
      </p:sp>
      <p:sp>
        <p:nvSpPr>
          <p:cNvPr id="16" name="Shape 13"/>
          <p:cNvSpPr/>
          <p:nvPr/>
        </p:nvSpPr>
        <p:spPr>
          <a:xfrm>
            <a:off x="6080760" y="1965960"/>
            <a:ext cx="2697480" cy="502920"/>
          </a:xfrm>
          <a:prstGeom prst="rect">
            <a:avLst/>
          </a:prstGeom>
          <a:solidFill>
            <a:srgbClr val="FAF8F4"/>
          </a:solidFill>
          <a:ln w="6350">
            <a:solidFill>
              <a:srgbClr val="DAD3C6"/>
            </a:solidFill>
            <a:prstDash val="solid"/>
          </a:ln>
        </p:spPr>
        <p:txBody>
          <a:bodyPr/>
          <a:lstStyle/>
          <a:p>
            <a:endParaRPr lang="en-US"/>
          </a:p>
        </p:txBody>
      </p:sp>
      <p:sp>
        <p:nvSpPr>
          <p:cNvPr id="17" name="Text 14"/>
          <p:cNvSpPr/>
          <p:nvPr/>
        </p:nvSpPr>
        <p:spPr>
          <a:xfrm>
            <a:off x="6190488" y="196596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Procedural PHP web</a:t>
            </a:r>
            <a:endParaRPr lang="en-US" sz="1100" dirty="0"/>
          </a:p>
        </p:txBody>
      </p:sp>
      <p:sp>
        <p:nvSpPr>
          <p:cNvPr id="18" name="Shape 15"/>
          <p:cNvSpPr/>
          <p:nvPr/>
        </p:nvSpPr>
        <p:spPr>
          <a:xfrm>
            <a:off x="8823960" y="1965960"/>
            <a:ext cx="2788920" cy="502920"/>
          </a:xfrm>
          <a:prstGeom prst="rect">
            <a:avLst/>
          </a:prstGeom>
          <a:solidFill>
            <a:srgbClr val="FBF2E1"/>
          </a:solidFill>
          <a:ln w="12700">
            <a:solidFill>
              <a:srgbClr val="C7902B"/>
            </a:solidFill>
            <a:prstDash val="solid"/>
          </a:ln>
        </p:spPr>
        <p:txBody>
          <a:bodyPr/>
          <a:lstStyle/>
          <a:p>
            <a:endParaRPr lang="en-US"/>
          </a:p>
        </p:txBody>
      </p:sp>
      <p:sp>
        <p:nvSpPr>
          <p:cNvPr id="19" name="Text 16"/>
          <p:cNvSpPr/>
          <p:nvPr/>
        </p:nvSpPr>
        <p:spPr>
          <a:xfrm>
            <a:off x="8933688" y="196596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Laravel 12 + Postgres 16</a:t>
            </a:r>
            <a:endParaRPr lang="en-US" sz="1100" dirty="0"/>
          </a:p>
        </p:txBody>
      </p:sp>
      <p:sp>
        <p:nvSpPr>
          <p:cNvPr id="20" name="Shape 17"/>
          <p:cNvSpPr/>
          <p:nvPr/>
        </p:nvSpPr>
        <p:spPr>
          <a:xfrm>
            <a:off x="594360" y="2468880"/>
            <a:ext cx="2697480" cy="502920"/>
          </a:xfrm>
          <a:prstGeom prst="rect">
            <a:avLst/>
          </a:prstGeom>
          <a:solidFill>
            <a:srgbClr val="F6F2EB"/>
          </a:solidFill>
          <a:ln w="6350">
            <a:solidFill>
              <a:srgbClr val="DAD3C6"/>
            </a:solidFill>
            <a:prstDash val="solid"/>
          </a:ln>
        </p:spPr>
        <p:txBody>
          <a:bodyPr/>
          <a:lstStyle/>
          <a:p>
            <a:endParaRPr lang="en-US"/>
          </a:p>
        </p:txBody>
      </p:sp>
      <p:sp>
        <p:nvSpPr>
          <p:cNvPr id="21" name="Text 18"/>
          <p:cNvSpPr/>
          <p:nvPr/>
        </p:nvSpPr>
        <p:spPr>
          <a:xfrm>
            <a:off x="704088" y="246888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Users &amp; roles</a:t>
            </a:r>
            <a:endParaRPr lang="en-US" sz="1150" dirty="0"/>
          </a:p>
        </p:txBody>
      </p:sp>
      <p:sp>
        <p:nvSpPr>
          <p:cNvPr id="22" name="Shape 19"/>
          <p:cNvSpPr/>
          <p:nvPr/>
        </p:nvSpPr>
        <p:spPr>
          <a:xfrm>
            <a:off x="3337560" y="2468880"/>
            <a:ext cx="2697480" cy="502920"/>
          </a:xfrm>
          <a:prstGeom prst="rect">
            <a:avLst/>
          </a:prstGeom>
          <a:solidFill>
            <a:srgbClr val="FFFFFF"/>
          </a:solidFill>
          <a:ln w="6350">
            <a:solidFill>
              <a:srgbClr val="DAD3C6"/>
            </a:solidFill>
            <a:prstDash val="solid"/>
          </a:ln>
        </p:spPr>
        <p:txBody>
          <a:bodyPr/>
          <a:lstStyle/>
          <a:p>
            <a:endParaRPr lang="en-US"/>
          </a:p>
        </p:txBody>
      </p:sp>
      <p:sp>
        <p:nvSpPr>
          <p:cNvPr id="23" name="Text 20"/>
          <p:cNvSpPr/>
          <p:nvPr/>
        </p:nvSpPr>
        <p:spPr>
          <a:xfrm>
            <a:off x="3447288" y="246888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Single user</a:t>
            </a:r>
            <a:endParaRPr lang="en-US" sz="1100" dirty="0"/>
          </a:p>
        </p:txBody>
      </p:sp>
      <p:sp>
        <p:nvSpPr>
          <p:cNvPr id="24" name="Shape 21"/>
          <p:cNvSpPr/>
          <p:nvPr/>
        </p:nvSpPr>
        <p:spPr>
          <a:xfrm>
            <a:off x="6080760" y="2468880"/>
            <a:ext cx="2697480" cy="502920"/>
          </a:xfrm>
          <a:prstGeom prst="rect">
            <a:avLst/>
          </a:prstGeom>
          <a:solidFill>
            <a:srgbClr val="FFFFFF"/>
          </a:solidFill>
          <a:ln w="6350">
            <a:solidFill>
              <a:srgbClr val="DAD3C6"/>
            </a:solidFill>
            <a:prstDash val="solid"/>
          </a:ln>
        </p:spPr>
        <p:txBody>
          <a:bodyPr/>
          <a:lstStyle/>
          <a:p>
            <a:endParaRPr lang="en-US"/>
          </a:p>
        </p:txBody>
      </p:sp>
      <p:sp>
        <p:nvSpPr>
          <p:cNvPr id="25" name="Text 22"/>
          <p:cNvSpPr/>
          <p:nvPr/>
        </p:nvSpPr>
        <p:spPr>
          <a:xfrm>
            <a:off x="6190488" y="246888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4 roles, local login</a:t>
            </a:r>
            <a:endParaRPr lang="en-US" sz="1100" dirty="0"/>
          </a:p>
        </p:txBody>
      </p:sp>
      <p:sp>
        <p:nvSpPr>
          <p:cNvPr id="26" name="Shape 23"/>
          <p:cNvSpPr/>
          <p:nvPr/>
        </p:nvSpPr>
        <p:spPr>
          <a:xfrm>
            <a:off x="8823960" y="2468880"/>
            <a:ext cx="2788920" cy="502920"/>
          </a:xfrm>
          <a:prstGeom prst="rect">
            <a:avLst/>
          </a:prstGeom>
          <a:solidFill>
            <a:srgbClr val="FBF2E1"/>
          </a:solidFill>
          <a:ln w="12700">
            <a:solidFill>
              <a:srgbClr val="C7902B"/>
            </a:solidFill>
            <a:prstDash val="solid"/>
          </a:ln>
        </p:spPr>
        <p:txBody>
          <a:bodyPr/>
          <a:lstStyle/>
          <a:p>
            <a:endParaRPr lang="en-US"/>
          </a:p>
        </p:txBody>
      </p:sp>
      <p:sp>
        <p:nvSpPr>
          <p:cNvPr id="27" name="Text 24"/>
          <p:cNvSpPr/>
          <p:nvPr/>
        </p:nvSpPr>
        <p:spPr>
          <a:xfrm>
            <a:off x="8933688" y="246888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Same roles + SSO · claims · dashboard</a:t>
            </a:r>
            <a:endParaRPr lang="en-US" sz="1100" dirty="0"/>
          </a:p>
        </p:txBody>
      </p:sp>
      <p:sp>
        <p:nvSpPr>
          <p:cNvPr id="28" name="Shape 25"/>
          <p:cNvSpPr/>
          <p:nvPr/>
        </p:nvSpPr>
        <p:spPr>
          <a:xfrm>
            <a:off x="594360" y="2971800"/>
            <a:ext cx="2697480" cy="502920"/>
          </a:xfrm>
          <a:prstGeom prst="rect">
            <a:avLst/>
          </a:prstGeom>
          <a:solidFill>
            <a:srgbClr val="F6F2EB"/>
          </a:solidFill>
          <a:ln w="6350">
            <a:solidFill>
              <a:srgbClr val="DAD3C6"/>
            </a:solidFill>
            <a:prstDash val="solid"/>
          </a:ln>
        </p:spPr>
        <p:txBody>
          <a:bodyPr/>
          <a:lstStyle/>
          <a:p>
            <a:endParaRPr lang="en-US"/>
          </a:p>
        </p:txBody>
      </p:sp>
      <p:sp>
        <p:nvSpPr>
          <p:cNvPr id="29" name="Text 26"/>
          <p:cNvSpPr/>
          <p:nvPr/>
        </p:nvSpPr>
        <p:spPr>
          <a:xfrm>
            <a:off x="704088" y="297180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Candidate search</a:t>
            </a:r>
            <a:endParaRPr lang="en-US" sz="1150" dirty="0"/>
          </a:p>
        </p:txBody>
      </p:sp>
      <p:sp>
        <p:nvSpPr>
          <p:cNvPr id="30" name="Shape 27"/>
          <p:cNvSpPr/>
          <p:nvPr/>
        </p:nvSpPr>
        <p:spPr>
          <a:xfrm>
            <a:off x="3337560" y="2971800"/>
            <a:ext cx="2697480" cy="502920"/>
          </a:xfrm>
          <a:prstGeom prst="rect">
            <a:avLst/>
          </a:prstGeom>
          <a:solidFill>
            <a:srgbClr val="FAF8F4"/>
          </a:solidFill>
          <a:ln w="6350">
            <a:solidFill>
              <a:srgbClr val="DAD3C6"/>
            </a:solidFill>
            <a:prstDash val="solid"/>
          </a:ln>
        </p:spPr>
        <p:txBody>
          <a:bodyPr/>
          <a:lstStyle/>
          <a:p>
            <a:endParaRPr lang="en-US"/>
          </a:p>
        </p:txBody>
      </p:sp>
      <p:sp>
        <p:nvSpPr>
          <p:cNvPr id="31" name="Text 28"/>
          <p:cNvSpPr/>
          <p:nvPr/>
        </p:nvSpPr>
        <p:spPr>
          <a:xfrm>
            <a:off x="3447288" y="297180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Lucene lexical</a:t>
            </a:r>
            <a:endParaRPr lang="en-US" sz="1100" dirty="0"/>
          </a:p>
        </p:txBody>
      </p:sp>
      <p:sp>
        <p:nvSpPr>
          <p:cNvPr id="32" name="Shape 29"/>
          <p:cNvSpPr/>
          <p:nvPr/>
        </p:nvSpPr>
        <p:spPr>
          <a:xfrm>
            <a:off x="6080760" y="2971800"/>
            <a:ext cx="2697480" cy="502920"/>
          </a:xfrm>
          <a:prstGeom prst="rect">
            <a:avLst/>
          </a:prstGeom>
          <a:solidFill>
            <a:srgbClr val="FAF8F4"/>
          </a:solidFill>
          <a:ln w="6350">
            <a:solidFill>
              <a:srgbClr val="DAD3C6"/>
            </a:solidFill>
            <a:prstDash val="solid"/>
          </a:ln>
        </p:spPr>
        <p:txBody>
          <a:bodyPr/>
          <a:lstStyle/>
          <a:p>
            <a:endParaRPr lang="en-US"/>
          </a:p>
        </p:txBody>
      </p:sp>
      <p:sp>
        <p:nvSpPr>
          <p:cNvPr id="33" name="Text 30"/>
          <p:cNvSpPr/>
          <p:nvPr/>
        </p:nvSpPr>
        <p:spPr>
          <a:xfrm>
            <a:off x="6190488" y="297180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Literal string match</a:t>
            </a:r>
            <a:endParaRPr lang="en-US" sz="1100" dirty="0"/>
          </a:p>
        </p:txBody>
      </p:sp>
      <p:sp>
        <p:nvSpPr>
          <p:cNvPr id="34" name="Shape 31"/>
          <p:cNvSpPr/>
          <p:nvPr/>
        </p:nvSpPr>
        <p:spPr>
          <a:xfrm>
            <a:off x="8823960" y="2971800"/>
            <a:ext cx="2788920" cy="502920"/>
          </a:xfrm>
          <a:prstGeom prst="rect">
            <a:avLst/>
          </a:prstGeom>
          <a:solidFill>
            <a:srgbClr val="FBF2E1"/>
          </a:solidFill>
          <a:ln w="12700">
            <a:solidFill>
              <a:srgbClr val="C7902B"/>
            </a:solidFill>
            <a:prstDash val="solid"/>
          </a:ln>
        </p:spPr>
        <p:txBody>
          <a:bodyPr/>
          <a:lstStyle/>
          <a:p>
            <a:endParaRPr lang="en-US"/>
          </a:p>
        </p:txBody>
      </p:sp>
      <p:sp>
        <p:nvSpPr>
          <p:cNvPr id="35" name="Text 32"/>
          <p:cNvSpPr/>
          <p:nvPr/>
        </p:nvSpPr>
        <p:spPr>
          <a:xfrm>
            <a:off x="8933688" y="297180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Hybrid ranked + auto-map</a:t>
            </a:r>
            <a:endParaRPr lang="en-US" sz="1100" dirty="0"/>
          </a:p>
        </p:txBody>
      </p:sp>
      <p:sp>
        <p:nvSpPr>
          <p:cNvPr id="36" name="Shape 33"/>
          <p:cNvSpPr/>
          <p:nvPr/>
        </p:nvSpPr>
        <p:spPr>
          <a:xfrm>
            <a:off x="594360" y="3474720"/>
            <a:ext cx="2697480" cy="502920"/>
          </a:xfrm>
          <a:prstGeom prst="rect">
            <a:avLst/>
          </a:prstGeom>
          <a:solidFill>
            <a:srgbClr val="F6F2EB"/>
          </a:solidFill>
          <a:ln w="6350">
            <a:solidFill>
              <a:srgbClr val="DAD3C6"/>
            </a:solidFill>
            <a:prstDash val="solid"/>
          </a:ln>
        </p:spPr>
        <p:txBody>
          <a:bodyPr/>
          <a:lstStyle/>
          <a:p>
            <a:endParaRPr lang="en-US"/>
          </a:p>
        </p:txBody>
      </p:sp>
      <p:sp>
        <p:nvSpPr>
          <p:cNvPr id="37" name="Text 34"/>
          <p:cNvSpPr/>
          <p:nvPr/>
        </p:nvSpPr>
        <p:spPr>
          <a:xfrm>
            <a:off x="704088" y="347472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Guardrails (CDM v5.4)</a:t>
            </a:r>
            <a:endParaRPr lang="en-US" sz="1150" dirty="0"/>
          </a:p>
        </p:txBody>
      </p:sp>
      <p:sp>
        <p:nvSpPr>
          <p:cNvPr id="38" name="Shape 35"/>
          <p:cNvSpPr/>
          <p:nvPr/>
        </p:nvSpPr>
        <p:spPr>
          <a:xfrm>
            <a:off x="3337560" y="3474720"/>
            <a:ext cx="2697480" cy="502920"/>
          </a:xfrm>
          <a:prstGeom prst="rect">
            <a:avLst/>
          </a:prstGeom>
          <a:solidFill>
            <a:srgbClr val="FFFFFF"/>
          </a:solidFill>
          <a:ln w="6350">
            <a:solidFill>
              <a:srgbClr val="DAD3C6"/>
            </a:solidFill>
            <a:prstDash val="solid"/>
          </a:ln>
        </p:spPr>
        <p:txBody>
          <a:bodyPr/>
          <a:lstStyle/>
          <a:p>
            <a:endParaRPr lang="en-US"/>
          </a:p>
        </p:txBody>
      </p:sp>
      <p:sp>
        <p:nvSpPr>
          <p:cNvPr id="39" name="Text 36"/>
          <p:cNvSpPr/>
          <p:nvPr/>
        </p:nvSpPr>
        <p:spPr>
          <a:xfrm>
            <a:off x="3447288" y="3474720"/>
            <a:ext cx="2496312" cy="502920"/>
          </a:xfrm>
          <a:prstGeom prst="rect">
            <a:avLst/>
          </a:prstGeom>
          <a:noFill/>
          <a:ln/>
        </p:spPr>
        <p:txBody>
          <a:bodyPr wrap="square" lIns="0" tIns="0" rIns="0" bIns="0" rtlCol="0" anchor="ctr"/>
          <a:lstStyle/>
          <a:p>
            <a:pPr marL="0" indent="0" algn="ctr">
              <a:lnSpc>
                <a:spcPct val="92000"/>
              </a:lnSpc>
              <a:buNone/>
            </a:pPr>
            <a:r>
              <a:rPr lang="en-US" sz="1100" dirty="0">
                <a:solidFill>
                  <a:srgbClr val="B23A2E"/>
                </a:solidFill>
                <a:latin typeface="Calibri" pitchFamily="34" charset="0"/>
                <a:ea typeface="Calibri" pitchFamily="34" charset="-122"/>
                <a:cs typeface="Calibri" pitchFamily="34" charset="-120"/>
              </a:rPr>
              <a:t>—</a:t>
            </a:r>
            <a:endParaRPr lang="en-US" sz="1100" dirty="0"/>
          </a:p>
        </p:txBody>
      </p:sp>
      <p:sp>
        <p:nvSpPr>
          <p:cNvPr id="40" name="Shape 37"/>
          <p:cNvSpPr/>
          <p:nvPr/>
        </p:nvSpPr>
        <p:spPr>
          <a:xfrm>
            <a:off x="6080760" y="3474720"/>
            <a:ext cx="2697480" cy="502920"/>
          </a:xfrm>
          <a:prstGeom prst="rect">
            <a:avLst/>
          </a:prstGeom>
          <a:solidFill>
            <a:srgbClr val="FFFFFF"/>
          </a:solidFill>
          <a:ln w="6350">
            <a:solidFill>
              <a:srgbClr val="DAD3C6"/>
            </a:solidFill>
            <a:prstDash val="solid"/>
          </a:ln>
        </p:spPr>
        <p:txBody>
          <a:bodyPr/>
          <a:lstStyle/>
          <a:p>
            <a:endParaRPr lang="en-US"/>
          </a:p>
        </p:txBody>
      </p:sp>
      <p:sp>
        <p:nvSpPr>
          <p:cNvPr id="41" name="Text 38"/>
          <p:cNvSpPr/>
          <p:nvPr/>
        </p:nvSpPr>
        <p:spPr>
          <a:xfrm>
            <a:off x="6190488" y="3474720"/>
            <a:ext cx="2496312" cy="502920"/>
          </a:xfrm>
          <a:prstGeom prst="rect">
            <a:avLst/>
          </a:prstGeom>
          <a:noFill/>
          <a:ln/>
        </p:spPr>
        <p:txBody>
          <a:bodyPr wrap="square" lIns="0" tIns="0" rIns="0" bIns="0" rtlCol="0" anchor="ctr"/>
          <a:lstStyle/>
          <a:p>
            <a:pPr marL="0" indent="0" algn="ctr">
              <a:lnSpc>
                <a:spcPct val="92000"/>
              </a:lnSpc>
              <a:buNone/>
            </a:pPr>
            <a:r>
              <a:rPr lang="en-US" sz="1100" dirty="0">
                <a:solidFill>
                  <a:srgbClr val="B23A2E"/>
                </a:solidFill>
                <a:latin typeface="Calibri" pitchFamily="34" charset="0"/>
                <a:ea typeface="Calibri" pitchFamily="34" charset="-122"/>
                <a:cs typeface="Calibri" pitchFamily="34" charset="-120"/>
              </a:rPr>
              <a:t>—</a:t>
            </a:r>
            <a:endParaRPr lang="en-US" sz="1100" dirty="0"/>
          </a:p>
        </p:txBody>
      </p:sp>
      <p:sp>
        <p:nvSpPr>
          <p:cNvPr id="42" name="Shape 39"/>
          <p:cNvSpPr/>
          <p:nvPr/>
        </p:nvSpPr>
        <p:spPr>
          <a:xfrm>
            <a:off x="8823960" y="3474720"/>
            <a:ext cx="2788920" cy="502920"/>
          </a:xfrm>
          <a:prstGeom prst="rect">
            <a:avLst/>
          </a:prstGeom>
          <a:solidFill>
            <a:srgbClr val="FBF2E1"/>
          </a:solidFill>
          <a:ln w="12700">
            <a:solidFill>
              <a:srgbClr val="C7902B"/>
            </a:solidFill>
            <a:prstDash val="solid"/>
          </a:ln>
        </p:spPr>
        <p:txBody>
          <a:bodyPr/>
          <a:lstStyle/>
          <a:p>
            <a:endParaRPr lang="en-US"/>
          </a:p>
        </p:txBody>
      </p:sp>
      <p:sp>
        <p:nvSpPr>
          <p:cNvPr id="43" name="Text 40"/>
          <p:cNvSpPr/>
          <p:nvPr/>
        </p:nvSpPr>
        <p:spPr>
          <a:xfrm>
            <a:off x="8933688" y="347472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Enforced, offers replacements</a:t>
            </a:r>
            <a:endParaRPr lang="en-US" sz="1100" dirty="0"/>
          </a:p>
        </p:txBody>
      </p:sp>
      <p:sp>
        <p:nvSpPr>
          <p:cNvPr id="44" name="Shape 41"/>
          <p:cNvSpPr/>
          <p:nvPr/>
        </p:nvSpPr>
        <p:spPr>
          <a:xfrm>
            <a:off x="594360" y="3977640"/>
            <a:ext cx="2697480" cy="502920"/>
          </a:xfrm>
          <a:prstGeom prst="rect">
            <a:avLst/>
          </a:prstGeom>
          <a:solidFill>
            <a:srgbClr val="F6F2EB"/>
          </a:solidFill>
          <a:ln w="6350">
            <a:solidFill>
              <a:srgbClr val="DAD3C6"/>
            </a:solidFill>
            <a:prstDash val="solid"/>
          </a:ln>
        </p:spPr>
        <p:txBody>
          <a:bodyPr/>
          <a:lstStyle/>
          <a:p>
            <a:endParaRPr lang="en-US"/>
          </a:p>
        </p:txBody>
      </p:sp>
      <p:sp>
        <p:nvSpPr>
          <p:cNvPr id="45" name="Text 42"/>
          <p:cNvSpPr/>
          <p:nvPr/>
        </p:nvSpPr>
        <p:spPr>
          <a:xfrm>
            <a:off x="704088" y="397764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Review &amp; audit</a:t>
            </a:r>
            <a:endParaRPr lang="en-US" sz="1150" dirty="0"/>
          </a:p>
        </p:txBody>
      </p:sp>
      <p:sp>
        <p:nvSpPr>
          <p:cNvPr id="46" name="Shape 43"/>
          <p:cNvSpPr/>
          <p:nvPr/>
        </p:nvSpPr>
        <p:spPr>
          <a:xfrm>
            <a:off x="3337560" y="3977640"/>
            <a:ext cx="2697480" cy="502920"/>
          </a:xfrm>
          <a:prstGeom prst="rect">
            <a:avLst/>
          </a:prstGeom>
          <a:solidFill>
            <a:srgbClr val="FAF8F4"/>
          </a:solidFill>
          <a:ln w="6350">
            <a:solidFill>
              <a:srgbClr val="DAD3C6"/>
            </a:solidFill>
            <a:prstDash val="solid"/>
          </a:ln>
        </p:spPr>
        <p:txBody>
          <a:bodyPr/>
          <a:lstStyle/>
          <a:p>
            <a:endParaRPr lang="en-US"/>
          </a:p>
        </p:txBody>
      </p:sp>
      <p:sp>
        <p:nvSpPr>
          <p:cNvPr id="47" name="Text 44"/>
          <p:cNvSpPr/>
          <p:nvPr/>
        </p:nvSpPr>
        <p:spPr>
          <a:xfrm>
            <a:off x="3447288" y="397764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Personal flags</a:t>
            </a:r>
            <a:endParaRPr lang="en-US" sz="1100" dirty="0"/>
          </a:p>
        </p:txBody>
      </p:sp>
      <p:sp>
        <p:nvSpPr>
          <p:cNvPr id="48" name="Shape 45"/>
          <p:cNvSpPr/>
          <p:nvPr/>
        </p:nvSpPr>
        <p:spPr>
          <a:xfrm>
            <a:off x="6080760" y="3977640"/>
            <a:ext cx="2697480" cy="502920"/>
          </a:xfrm>
          <a:prstGeom prst="rect">
            <a:avLst/>
          </a:prstGeom>
          <a:solidFill>
            <a:srgbClr val="FAF8F4"/>
          </a:solidFill>
          <a:ln w="6350">
            <a:solidFill>
              <a:srgbClr val="DAD3C6"/>
            </a:solidFill>
            <a:prstDash val="solid"/>
          </a:ln>
        </p:spPr>
        <p:txBody>
          <a:bodyPr/>
          <a:lstStyle/>
          <a:p>
            <a:endParaRPr lang="en-US"/>
          </a:p>
        </p:txBody>
      </p:sp>
      <p:sp>
        <p:nvSpPr>
          <p:cNvPr id="49" name="Text 46"/>
          <p:cNvSpPr/>
          <p:nvPr/>
        </p:nvSpPr>
        <p:spPr>
          <a:xfrm>
            <a:off x="6190488" y="397764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Reviewer flow; fragile audit</a:t>
            </a:r>
            <a:endParaRPr lang="en-US" sz="1100" dirty="0"/>
          </a:p>
        </p:txBody>
      </p:sp>
      <p:sp>
        <p:nvSpPr>
          <p:cNvPr id="50" name="Shape 47"/>
          <p:cNvSpPr/>
          <p:nvPr/>
        </p:nvSpPr>
        <p:spPr>
          <a:xfrm>
            <a:off x="8823960" y="3977640"/>
            <a:ext cx="2788920" cy="502920"/>
          </a:xfrm>
          <a:prstGeom prst="rect">
            <a:avLst/>
          </a:prstGeom>
          <a:solidFill>
            <a:srgbClr val="FBF2E1"/>
          </a:solidFill>
          <a:ln w="12700">
            <a:solidFill>
              <a:srgbClr val="C7902B"/>
            </a:solidFill>
            <a:prstDash val="solid"/>
          </a:ln>
        </p:spPr>
        <p:txBody>
          <a:bodyPr/>
          <a:lstStyle/>
          <a:p>
            <a:endParaRPr lang="en-US"/>
          </a:p>
        </p:txBody>
      </p:sp>
      <p:sp>
        <p:nvSpPr>
          <p:cNvPr id="51" name="Text 48"/>
          <p:cNvSpPr/>
          <p:nvPr/>
        </p:nvSpPr>
        <p:spPr>
          <a:xfrm>
            <a:off x="8933688" y="397764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Approve loop + immutable audit</a:t>
            </a:r>
            <a:endParaRPr lang="en-US" sz="1100" dirty="0"/>
          </a:p>
        </p:txBody>
      </p:sp>
      <p:sp>
        <p:nvSpPr>
          <p:cNvPr id="52" name="Shape 49"/>
          <p:cNvSpPr/>
          <p:nvPr/>
        </p:nvSpPr>
        <p:spPr>
          <a:xfrm>
            <a:off x="594360" y="4480560"/>
            <a:ext cx="2697480" cy="502920"/>
          </a:xfrm>
          <a:prstGeom prst="rect">
            <a:avLst/>
          </a:prstGeom>
          <a:solidFill>
            <a:srgbClr val="F6F2EB"/>
          </a:solidFill>
          <a:ln w="6350">
            <a:solidFill>
              <a:srgbClr val="DAD3C6"/>
            </a:solidFill>
            <a:prstDash val="solid"/>
          </a:ln>
        </p:spPr>
        <p:txBody>
          <a:bodyPr/>
          <a:lstStyle/>
          <a:p>
            <a:endParaRPr lang="en-US"/>
          </a:p>
        </p:txBody>
      </p:sp>
      <p:sp>
        <p:nvSpPr>
          <p:cNvPr id="53" name="Text 50"/>
          <p:cNvSpPr/>
          <p:nvPr/>
        </p:nvSpPr>
        <p:spPr>
          <a:xfrm>
            <a:off x="704088" y="448056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Vocabulary drift</a:t>
            </a:r>
            <a:endParaRPr lang="en-US" sz="1150" dirty="0"/>
          </a:p>
        </p:txBody>
      </p:sp>
      <p:sp>
        <p:nvSpPr>
          <p:cNvPr id="54" name="Shape 51"/>
          <p:cNvSpPr/>
          <p:nvPr/>
        </p:nvSpPr>
        <p:spPr>
          <a:xfrm>
            <a:off x="3337560" y="4480560"/>
            <a:ext cx="2697480" cy="502920"/>
          </a:xfrm>
          <a:prstGeom prst="rect">
            <a:avLst/>
          </a:prstGeom>
          <a:solidFill>
            <a:srgbClr val="FFFFFF"/>
          </a:solidFill>
          <a:ln w="6350">
            <a:solidFill>
              <a:srgbClr val="DAD3C6"/>
            </a:solidFill>
            <a:prstDash val="solid"/>
          </a:ln>
        </p:spPr>
        <p:txBody>
          <a:bodyPr/>
          <a:lstStyle/>
          <a:p>
            <a:endParaRPr lang="en-US"/>
          </a:p>
        </p:txBody>
      </p:sp>
      <p:sp>
        <p:nvSpPr>
          <p:cNvPr id="55" name="Text 52"/>
          <p:cNvSpPr/>
          <p:nvPr/>
        </p:nvSpPr>
        <p:spPr>
          <a:xfrm>
            <a:off x="3447288" y="448056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Manual re-map</a:t>
            </a:r>
            <a:endParaRPr lang="en-US" sz="1100" dirty="0"/>
          </a:p>
        </p:txBody>
      </p:sp>
      <p:sp>
        <p:nvSpPr>
          <p:cNvPr id="56" name="Shape 53"/>
          <p:cNvSpPr/>
          <p:nvPr/>
        </p:nvSpPr>
        <p:spPr>
          <a:xfrm>
            <a:off x="6080760" y="4480560"/>
            <a:ext cx="2697480" cy="502920"/>
          </a:xfrm>
          <a:prstGeom prst="rect">
            <a:avLst/>
          </a:prstGeom>
          <a:solidFill>
            <a:srgbClr val="FFFFFF"/>
          </a:solidFill>
          <a:ln w="6350">
            <a:solidFill>
              <a:srgbClr val="DAD3C6"/>
            </a:solidFill>
            <a:prstDash val="solid"/>
          </a:ln>
        </p:spPr>
        <p:txBody>
          <a:bodyPr/>
          <a:lstStyle/>
          <a:p>
            <a:endParaRPr lang="en-US"/>
          </a:p>
        </p:txBody>
      </p:sp>
      <p:sp>
        <p:nvSpPr>
          <p:cNvPr id="57" name="Text 54"/>
          <p:cNvSpPr/>
          <p:nvPr/>
        </p:nvSpPr>
        <p:spPr>
          <a:xfrm>
            <a:off x="6190488" y="448056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No control</a:t>
            </a:r>
            <a:endParaRPr lang="en-US" sz="1100" dirty="0"/>
          </a:p>
        </p:txBody>
      </p:sp>
      <p:sp>
        <p:nvSpPr>
          <p:cNvPr id="58" name="Shape 55"/>
          <p:cNvSpPr/>
          <p:nvPr/>
        </p:nvSpPr>
        <p:spPr>
          <a:xfrm>
            <a:off x="8823960" y="4480560"/>
            <a:ext cx="2788920" cy="502920"/>
          </a:xfrm>
          <a:prstGeom prst="rect">
            <a:avLst/>
          </a:prstGeom>
          <a:solidFill>
            <a:srgbClr val="FBF2E1"/>
          </a:solidFill>
          <a:ln w="12700">
            <a:solidFill>
              <a:srgbClr val="C7902B"/>
            </a:solidFill>
            <a:prstDash val="solid"/>
          </a:ln>
        </p:spPr>
        <p:txBody>
          <a:bodyPr/>
          <a:lstStyle/>
          <a:p>
            <a:endParaRPr lang="en-US"/>
          </a:p>
        </p:txBody>
      </p:sp>
      <p:sp>
        <p:nvSpPr>
          <p:cNvPr id="59" name="Text 56"/>
          <p:cNvSpPr/>
          <p:nvPr/>
        </p:nvSpPr>
        <p:spPr>
          <a:xfrm>
            <a:off x="8933688" y="448056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Vocabulary impact report</a:t>
            </a:r>
            <a:endParaRPr lang="en-US" sz="1100" dirty="0"/>
          </a:p>
        </p:txBody>
      </p:sp>
      <p:sp>
        <p:nvSpPr>
          <p:cNvPr id="60" name="Shape 57"/>
          <p:cNvSpPr/>
          <p:nvPr/>
        </p:nvSpPr>
        <p:spPr>
          <a:xfrm>
            <a:off x="594360" y="4983480"/>
            <a:ext cx="2697480" cy="502920"/>
          </a:xfrm>
          <a:prstGeom prst="rect">
            <a:avLst/>
          </a:prstGeom>
          <a:solidFill>
            <a:srgbClr val="F6F2EB"/>
          </a:solidFill>
          <a:ln w="6350">
            <a:solidFill>
              <a:srgbClr val="DAD3C6"/>
            </a:solidFill>
            <a:prstDash val="solid"/>
          </a:ln>
        </p:spPr>
        <p:txBody>
          <a:bodyPr/>
          <a:lstStyle/>
          <a:p>
            <a:endParaRPr lang="en-US"/>
          </a:p>
        </p:txBody>
      </p:sp>
      <p:sp>
        <p:nvSpPr>
          <p:cNvPr id="61" name="Text 58"/>
          <p:cNvSpPr/>
          <p:nvPr/>
        </p:nvSpPr>
        <p:spPr>
          <a:xfrm>
            <a:off x="704088" y="498348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Canadian vocab</a:t>
            </a:r>
            <a:endParaRPr lang="en-US" sz="1150" dirty="0"/>
          </a:p>
        </p:txBody>
      </p:sp>
      <p:sp>
        <p:nvSpPr>
          <p:cNvPr id="62" name="Shape 59"/>
          <p:cNvSpPr/>
          <p:nvPr/>
        </p:nvSpPr>
        <p:spPr>
          <a:xfrm>
            <a:off x="3337560" y="4983480"/>
            <a:ext cx="2697480" cy="502920"/>
          </a:xfrm>
          <a:prstGeom prst="rect">
            <a:avLst/>
          </a:prstGeom>
          <a:solidFill>
            <a:srgbClr val="FAF8F4"/>
          </a:solidFill>
          <a:ln w="6350">
            <a:solidFill>
              <a:srgbClr val="DAD3C6"/>
            </a:solidFill>
            <a:prstDash val="solid"/>
          </a:ln>
        </p:spPr>
        <p:txBody>
          <a:bodyPr/>
          <a:lstStyle/>
          <a:p>
            <a:endParaRPr lang="en-US"/>
          </a:p>
        </p:txBody>
      </p:sp>
      <p:sp>
        <p:nvSpPr>
          <p:cNvPr id="63" name="Text 60"/>
          <p:cNvSpPr/>
          <p:nvPr/>
        </p:nvSpPr>
        <p:spPr>
          <a:xfrm>
            <a:off x="3447288" y="498348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Generic only</a:t>
            </a:r>
            <a:endParaRPr lang="en-US" sz="1100" dirty="0"/>
          </a:p>
        </p:txBody>
      </p:sp>
      <p:sp>
        <p:nvSpPr>
          <p:cNvPr id="64" name="Shape 61"/>
          <p:cNvSpPr/>
          <p:nvPr/>
        </p:nvSpPr>
        <p:spPr>
          <a:xfrm>
            <a:off x="6080760" y="4983480"/>
            <a:ext cx="2697480" cy="502920"/>
          </a:xfrm>
          <a:prstGeom prst="rect">
            <a:avLst/>
          </a:prstGeom>
          <a:solidFill>
            <a:srgbClr val="FAF8F4"/>
          </a:solidFill>
          <a:ln w="6350">
            <a:solidFill>
              <a:srgbClr val="DAD3C6"/>
            </a:solidFill>
            <a:prstDash val="solid"/>
          </a:ln>
        </p:spPr>
        <p:txBody>
          <a:bodyPr/>
          <a:lstStyle/>
          <a:p>
            <a:endParaRPr lang="en-US"/>
          </a:p>
        </p:txBody>
      </p:sp>
      <p:sp>
        <p:nvSpPr>
          <p:cNvPr id="65" name="Text 62"/>
          <p:cNvSpPr/>
          <p:nvPr/>
        </p:nvSpPr>
        <p:spPr>
          <a:xfrm>
            <a:off x="6190488" y="498348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Ad hoc</a:t>
            </a:r>
            <a:endParaRPr lang="en-US" sz="1100" dirty="0"/>
          </a:p>
        </p:txBody>
      </p:sp>
      <p:sp>
        <p:nvSpPr>
          <p:cNvPr id="66" name="Shape 63"/>
          <p:cNvSpPr/>
          <p:nvPr/>
        </p:nvSpPr>
        <p:spPr>
          <a:xfrm>
            <a:off x="8823960" y="4983480"/>
            <a:ext cx="2788920" cy="502920"/>
          </a:xfrm>
          <a:prstGeom prst="rect">
            <a:avLst/>
          </a:prstGeom>
          <a:solidFill>
            <a:srgbClr val="FBF2E1"/>
          </a:solidFill>
          <a:ln w="12700">
            <a:solidFill>
              <a:srgbClr val="C7902B"/>
            </a:solidFill>
            <a:prstDash val="solid"/>
          </a:ln>
        </p:spPr>
        <p:txBody>
          <a:bodyPr/>
          <a:lstStyle/>
          <a:p>
            <a:endParaRPr lang="en-US"/>
          </a:p>
        </p:txBody>
      </p:sp>
      <p:sp>
        <p:nvSpPr>
          <p:cNvPr id="67" name="Text 64"/>
          <p:cNvSpPr/>
          <p:nvPr/>
        </p:nvSpPr>
        <p:spPr>
          <a:xfrm>
            <a:off x="8933688" y="498348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ICD-10-CA · CCI · SNOMED CT-CA</a:t>
            </a:r>
            <a:endParaRPr lang="en-US" sz="1100" dirty="0"/>
          </a:p>
        </p:txBody>
      </p:sp>
      <p:sp>
        <p:nvSpPr>
          <p:cNvPr id="68" name="Shape 65"/>
          <p:cNvSpPr/>
          <p:nvPr/>
        </p:nvSpPr>
        <p:spPr>
          <a:xfrm>
            <a:off x="594360" y="5486400"/>
            <a:ext cx="2697480" cy="502920"/>
          </a:xfrm>
          <a:prstGeom prst="rect">
            <a:avLst/>
          </a:prstGeom>
          <a:solidFill>
            <a:srgbClr val="F6F2EB"/>
          </a:solidFill>
          <a:ln w="6350">
            <a:solidFill>
              <a:srgbClr val="DAD3C6"/>
            </a:solidFill>
            <a:prstDash val="solid"/>
          </a:ln>
        </p:spPr>
        <p:txBody>
          <a:bodyPr/>
          <a:lstStyle/>
          <a:p>
            <a:endParaRPr lang="en-US"/>
          </a:p>
        </p:txBody>
      </p:sp>
      <p:sp>
        <p:nvSpPr>
          <p:cNvPr id="69" name="Text 66"/>
          <p:cNvSpPr/>
          <p:nvPr/>
        </p:nvSpPr>
        <p:spPr>
          <a:xfrm>
            <a:off x="704088" y="5486400"/>
            <a:ext cx="2496312" cy="502920"/>
          </a:xfrm>
          <a:prstGeom prst="rect">
            <a:avLst/>
          </a:prstGeom>
          <a:noFill/>
          <a:ln/>
        </p:spPr>
        <p:txBody>
          <a:bodyPr wrap="square" lIns="0" tIns="0" rIns="0" bIns="0" rtlCol="0" anchor="ctr"/>
          <a:lstStyle/>
          <a:p>
            <a:pPr marL="0" indent="0" algn="l">
              <a:lnSpc>
                <a:spcPct val="92000"/>
              </a:lnSpc>
              <a:buNone/>
            </a:pPr>
            <a:r>
              <a:rPr lang="en-US" sz="1150" b="1" dirty="0">
                <a:solidFill>
                  <a:srgbClr val="23305F"/>
                </a:solidFill>
                <a:latin typeface="Calibri" pitchFamily="34" charset="0"/>
                <a:ea typeface="Calibri" pitchFamily="34" charset="-122"/>
                <a:cs typeface="Calibri" pitchFamily="34" charset="-120"/>
              </a:rPr>
              <a:t>Export / interop</a:t>
            </a:r>
            <a:endParaRPr lang="en-US" sz="1150" dirty="0"/>
          </a:p>
        </p:txBody>
      </p:sp>
      <p:sp>
        <p:nvSpPr>
          <p:cNvPr id="70" name="Shape 67"/>
          <p:cNvSpPr/>
          <p:nvPr/>
        </p:nvSpPr>
        <p:spPr>
          <a:xfrm>
            <a:off x="3337560" y="5486400"/>
            <a:ext cx="2697480" cy="502920"/>
          </a:xfrm>
          <a:prstGeom prst="rect">
            <a:avLst/>
          </a:prstGeom>
          <a:solidFill>
            <a:srgbClr val="FFFFFF"/>
          </a:solidFill>
          <a:ln w="6350">
            <a:solidFill>
              <a:srgbClr val="DAD3C6"/>
            </a:solidFill>
            <a:prstDash val="solid"/>
          </a:ln>
        </p:spPr>
        <p:txBody>
          <a:bodyPr/>
          <a:lstStyle/>
          <a:p>
            <a:endParaRPr lang="en-US"/>
          </a:p>
        </p:txBody>
      </p:sp>
      <p:sp>
        <p:nvSpPr>
          <p:cNvPr id="71" name="Text 68"/>
          <p:cNvSpPr/>
          <p:nvPr/>
        </p:nvSpPr>
        <p:spPr>
          <a:xfrm>
            <a:off x="3447288" y="548640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STCM</a:t>
            </a:r>
            <a:endParaRPr lang="en-US" sz="1100" dirty="0"/>
          </a:p>
        </p:txBody>
      </p:sp>
      <p:sp>
        <p:nvSpPr>
          <p:cNvPr id="72" name="Shape 69"/>
          <p:cNvSpPr/>
          <p:nvPr/>
        </p:nvSpPr>
        <p:spPr>
          <a:xfrm>
            <a:off x="6080760" y="5486400"/>
            <a:ext cx="2697480" cy="502920"/>
          </a:xfrm>
          <a:prstGeom prst="rect">
            <a:avLst/>
          </a:prstGeom>
          <a:solidFill>
            <a:srgbClr val="FFFFFF"/>
          </a:solidFill>
          <a:ln w="6350">
            <a:solidFill>
              <a:srgbClr val="DAD3C6"/>
            </a:solidFill>
            <a:prstDash val="solid"/>
          </a:ln>
        </p:spPr>
        <p:txBody>
          <a:bodyPr/>
          <a:lstStyle/>
          <a:p>
            <a:endParaRPr lang="en-US"/>
          </a:p>
        </p:txBody>
      </p:sp>
      <p:sp>
        <p:nvSpPr>
          <p:cNvPr id="73" name="Text 70"/>
          <p:cNvSpPr/>
          <p:nvPr/>
        </p:nvSpPr>
        <p:spPr>
          <a:xfrm>
            <a:off x="6190488" y="5486400"/>
            <a:ext cx="2496312" cy="502920"/>
          </a:xfrm>
          <a:prstGeom prst="rect">
            <a:avLst/>
          </a:prstGeom>
          <a:noFill/>
          <a:ln/>
        </p:spPr>
        <p:txBody>
          <a:bodyPr wrap="square" lIns="0" tIns="0" rIns="0" bIns="0" rtlCol="0" anchor="ctr"/>
          <a:lstStyle/>
          <a:p>
            <a:pPr marL="0" indent="0" algn="l">
              <a:lnSpc>
                <a:spcPct val="92000"/>
              </a:lnSpc>
              <a:buNone/>
            </a:pPr>
            <a:r>
              <a:rPr lang="en-US" sz="1100" dirty="0">
                <a:solidFill>
                  <a:srgbClr val="6E6A63"/>
                </a:solidFill>
                <a:latin typeface="Calibri" pitchFamily="34" charset="0"/>
                <a:ea typeface="Calibri" pitchFamily="34" charset="-122"/>
                <a:cs typeface="Calibri" pitchFamily="34" charset="-120"/>
              </a:rPr>
              <a:t>Custom files</a:t>
            </a:r>
            <a:endParaRPr lang="en-US" sz="1100" dirty="0"/>
          </a:p>
        </p:txBody>
      </p:sp>
      <p:sp>
        <p:nvSpPr>
          <p:cNvPr id="74" name="Shape 71"/>
          <p:cNvSpPr/>
          <p:nvPr/>
        </p:nvSpPr>
        <p:spPr>
          <a:xfrm>
            <a:off x="8823960" y="5486400"/>
            <a:ext cx="2788920" cy="502920"/>
          </a:xfrm>
          <a:prstGeom prst="rect">
            <a:avLst/>
          </a:prstGeom>
          <a:solidFill>
            <a:srgbClr val="FBF2E1"/>
          </a:solidFill>
          <a:ln w="12700">
            <a:solidFill>
              <a:srgbClr val="C7902B"/>
            </a:solidFill>
            <a:prstDash val="solid"/>
          </a:ln>
        </p:spPr>
        <p:txBody>
          <a:bodyPr/>
          <a:lstStyle/>
          <a:p>
            <a:endParaRPr lang="en-US"/>
          </a:p>
        </p:txBody>
      </p:sp>
      <p:sp>
        <p:nvSpPr>
          <p:cNvPr id="75" name="Text 72"/>
          <p:cNvSpPr/>
          <p:nvPr/>
        </p:nvSpPr>
        <p:spPr>
          <a:xfrm>
            <a:off x="8933688" y="5486400"/>
            <a:ext cx="2587752" cy="502920"/>
          </a:xfrm>
          <a:prstGeom prst="rect">
            <a:avLst/>
          </a:prstGeom>
          <a:noFill/>
          <a:ln/>
        </p:spPr>
        <p:txBody>
          <a:bodyPr wrap="square" lIns="0" tIns="0" rIns="0" bIns="0" rtlCol="0" anchor="ctr"/>
          <a:lstStyle/>
          <a:p>
            <a:pPr marL="0" indent="0" algn="l">
              <a:lnSpc>
                <a:spcPct val="92000"/>
              </a:lnSpc>
              <a:buNone/>
            </a:pPr>
            <a:r>
              <a:rPr lang="en-US" sz="1100" b="1" dirty="0">
                <a:solidFill>
                  <a:srgbClr val="8A5A12"/>
                </a:solidFill>
                <a:latin typeface="Calibri" pitchFamily="34" charset="0"/>
                <a:ea typeface="Calibri" pitchFamily="34" charset="-122"/>
                <a:cs typeface="Calibri" pitchFamily="34" charset="-120"/>
              </a:rPr>
              <a:t>STCM · Usagi · releases</a:t>
            </a:r>
            <a:endParaRPr lang="en-US" sz="1100" dirty="0"/>
          </a:p>
        </p:txBody>
      </p:sp>
      <p:sp>
        <p:nvSpPr>
          <p:cNvPr id="76" name="Text 73"/>
          <p:cNvSpPr/>
          <p:nvPr/>
        </p:nvSpPr>
        <p:spPr>
          <a:xfrm>
            <a:off x="594360" y="6099048"/>
            <a:ext cx="11018520" cy="411480"/>
          </a:xfrm>
          <a:prstGeom prst="rect">
            <a:avLst/>
          </a:prstGeom>
          <a:noFill/>
          <a:ln/>
        </p:spPr>
        <p:txBody>
          <a:bodyPr wrap="square" lIns="0" tIns="0" rIns="0" bIns="0" rtlCol="0" anchor="ctr"/>
          <a:lstStyle/>
          <a:p>
            <a:pPr marL="0" indent="0" algn="ctr">
              <a:buNone/>
            </a:pPr>
            <a:r>
              <a:rPr lang="en-US" sz="1300" b="1" dirty="0">
                <a:solidFill>
                  <a:srgbClr val="23305F"/>
                </a:solidFill>
                <a:latin typeface="Calibri" pitchFamily="34" charset="0"/>
                <a:ea typeface="Calibri" pitchFamily="34" charset="-122"/>
                <a:cs typeface="Calibri" pitchFamily="34" charset="-120"/>
              </a:rPr>
              <a:t>Not a different idea from Usagi</a:t>
            </a:r>
            <a:r>
              <a:rPr lang="en-US" sz="1300" dirty="0">
                <a:solidFill>
                  <a:srgbClr val="6E6A63"/>
                </a:solidFill>
                <a:latin typeface="Calibri" pitchFamily="34" charset="0"/>
                <a:ea typeface="Calibri" pitchFamily="34" charset="-122"/>
                <a:cs typeface="Calibri" pitchFamily="34" charset="-120"/>
              </a:rPr>
              <a:t> — a production-grade, team-scale realization of it, hardened for correctness and Canadian coverage.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Where this is heading: multi-agent LLM mapping</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Automated OMOP mapping with LLM agents + graph-enhanced retrieval — Ahmed et al., OHDSI 2025</a:t>
            </a:r>
            <a:endParaRPr lang="en-US" sz="1450" dirty="0"/>
          </a:p>
        </p:txBody>
      </p:sp>
      <p:sp>
        <p:nvSpPr>
          <p:cNvPr id="5" name="Shape 2"/>
          <p:cNvSpPr/>
          <p:nvPr/>
        </p:nvSpPr>
        <p:spPr>
          <a:xfrm>
            <a:off x="594360" y="1691640"/>
            <a:ext cx="2011680" cy="1371600"/>
          </a:xfrm>
          <a:prstGeom prst="roundRect">
            <a:avLst>
              <a:gd name="adj" fmla="val 5333"/>
            </a:avLst>
          </a:prstGeom>
          <a:solidFill>
            <a:srgbClr val="F6F2EB"/>
          </a:solidFill>
          <a:ln w="16510">
            <a:solidFill>
              <a:srgbClr val="DAD3C6"/>
            </a:solidFill>
            <a:prstDash val="solid"/>
          </a:ln>
          <a:effectLst>
            <a:outerShdw blurRad="63500" dist="25400" dir="5400000" algn="bl" rotWithShape="0">
              <a:srgbClr val="000000">
                <a:alpha val="12000"/>
              </a:srgbClr>
            </a:outerShdw>
          </a:effectLst>
        </p:spPr>
        <p:txBody>
          <a:bodyPr/>
          <a:lstStyle/>
          <a:p>
            <a:endParaRPr lang="en-US"/>
          </a:p>
        </p:txBody>
      </p:sp>
      <p:sp>
        <p:nvSpPr>
          <p:cNvPr id="6" name="Text 3"/>
          <p:cNvSpPr/>
          <p:nvPr/>
        </p:nvSpPr>
        <p:spPr>
          <a:xfrm>
            <a:off x="594360" y="1837944"/>
            <a:ext cx="2011680" cy="411480"/>
          </a:xfrm>
          <a:prstGeom prst="rect">
            <a:avLst/>
          </a:prstGeom>
          <a:noFill/>
          <a:ln/>
        </p:spPr>
        <p:txBody>
          <a:bodyPr wrap="square" lIns="0" tIns="0" rIns="0" bIns="0" rtlCol="0" anchor="ctr"/>
          <a:lstStyle/>
          <a:p>
            <a:pPr marL="0" indent="0" algn="ctr">
              <a:buNone/>
            </a:pPr>
            <a:r>
              <a:rPr lang="en-US" sz="1300" b="1" dirty="0">
                <a:solidFill>
                  <a:srgbClr val="2B2B2B"/>
                </a:solidFill>
                <a:latin typeface="Calibri" pitchFamily="34" charset="0"/>
                <a:ea typeface="Calibri" pitchFamily="34" charset="-122"/>
                <a:cs typeface="Calibri" pitchFamily="34" charset="-120"/>
              </a:rPr>
              <a:t>Source term</a:t>
            </a:r>
            <a:endParaRPr lang="en-US" sz="1300" dirty="0"/>
          </a:p>
        </p:txBody>
      </p:sp>
      <p:sp>
        <p:nvSpPr>
          <p:cNvPr id="7" name="Text 4"/>
          <p:cNvSpPr/>
          <p:nvPr/>
        </p:nvSpPr>
        <p:spPr>
          <a:xfrm>
            <a:off x="685800" y="2295144"/>
            <a:ext cx="1828800" cy="685800"/>
          </a:xfrm>
          <a:prstGeom prst="rect">
            <a:avLst/>
          </a:prstGeom>
          <a:noFill/>
          <a:ln/>
        </p:spPr>
        <p:txBody>
          <a:bodyPr wrap="square" lIns="0" tIns="0" rIns="0" bIns="0" rtlCol="0" anchor="ctr"/>
          <a:lstStyle/>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"URINE PROTEIN</a:t>
            </a:r>
            <a:endParaRPr lang="en-US" sz="1050" dirty="0"/>
          </a:p>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RANDOM - SLH"</a:t>
            </a:r>
            <a:endParaRPr lang="en-US" sz="1050" dirty="0"/>
          </a:p>
        </p:txBody>
      </p:sp>
      <p:sp>
        <p:nvSpPr>
          <p:cNvPr id="8" name="Shape 5"/>
          <p:cNvSpPr/>
          <p:nvPr/>
        </p:nvSpPr>
        <p:spPr>
          <a:xfrm>
            <a:off x="2624328" y="2295144"/>
            <a:ext cx="329184" cy="164592"/>
          </a:xfrm>
          <a:prstGeom prst="rightArrow">
            <a:avLst/>
          </a:prstGeom>
          <a:solidFill>
            <a:srgbClr val="C7902B"/>
          </a:solidFill>
          <a:ln/>
        </p:spPr>
        <p:txBody>
          <a:bodyPr/>
          <a:lstStyle/>
          <a:p>
            <a:endParaRPr lang="en-US"/>
          </a:p>
        </p:txBody>
      </p:sp>
      <p:sp>
        <p:nvSpPr>
          <p:cNvPr id="9" name="Shape 6"/>
          <p:cNvSpPr/>
          <p:nvPr/>
        </p:nvSpPr>
        <p:spPr>
          <a:xfrm>
            <a:off x="2807208" y="1691640"/>
            <a:ext cx="2011680" cy="1371600"/>
          </a:xfrm>
          <a:prstGeom prst="roundRect">
            <a:avLst>
              <a:gd name="adj" fmla="val 5333"/>
            </a:avLst>
          </a:prstGeom>
          <a:solidFill>
            <a:srgbClr val="FBF2E1"/>
          </a:solidFill>
          <a:ln w="16510">
            <a:solidFill>
              <a:srgbClr val="8A5A12"/>
            </a:solidFill>
            <a:prstDash val="solid"/>
          </a:ln>
          <a:effectLst>
            <a:outerShdw blurRad="63500" dist="25400" dir="5400000" algn="bl" rotWithShape="0">
              <a:srgbClr val="000000">
                <a:alpha val="12000"/>
              </a:srgbClr>
            </a:outerShdw>
          </a:effectLst>
        </p:spPr>
        <p:txBody>
          <a:bodyPr/>
          <a:lstStyle/>
          <a:p>
            <a:endParaRPr lang="en-US"/>
          </a:p>
        </p:txBody>
      </p:sp>
      <p:sp>
        <p:nvSpPr>
          <p:cNvPr id="10" name="Text 7"/>
          <p:cNvSpPr/>
          <p:nvPr/>
        </p:nvSpPr>
        <p:spPr>
          <a:xfrm>
            <a:off x="2807208" y="1837944"/>
            <a:ext cx="2011680" cy="411480"/>
          </a:xfrm>
          <a:prstGeom prst="rect">
            <a:avLst/>
          </a:prstGeom>
          <a:noFill/>
          <a:ln/>
        </p:spPr>
        <p:txBody>
          <a:bodyPr wrap="square" lIns="0" tIns="0" rIns="0" bIns="0" rtlCol="0" anchor="ctr"/>
          <a:lstStyle/>
          <a:p>
            <a:pPr marL="0" indent="0" algn="ctr">
              <a:buNone/>
            </a:pPr>
            <a:r>
              <a:rPr lang="en-US" sz="1300" b="1" dirty="0">
                <a:solidFill>
                  <a:srgbClr val="8A5A12"/>
                </a:solidFill>
                <a:latin typeface="Calibri" pitchFamily="34" charset="0"/>
                <a:ea typeface="Calibri" pitchFamily="34" charset="-122"/>
                <a:cs typeface="Calibri" pitchFamily="34" charset="-120"/>
              </a:rPr>
              <a:t>Agent 1</a:t>
            </a:r>
            <a:endParaRPr lang="en-US" sz="1300" dirty="0"/>
          </a:p>
        </p:txBody>
      </p:sp>
      <p:sp>
        <p:nvSpPr>
          <p:cNvPr id="11" name="Text 8"/>
          <p:cNvSpPr/>
          <p:nvPr/>
        </p:nvSpPr>
        <p:spPr>
          <a:xfrm>
            <a:off x="2898648" y="2295144"/>
            <a:ext cx="1828800" cy="685800"/>
          </a:xfrm>
          <a:prstGeom prst="rect">
            <a:avLst/>
          </a:prstGeom>
          <a:noFill/>
          <a:ln/>
        </p:spPr>
        <p:txBody>
          <a:bodyPr wrap="square" lIns="0" tIns="0" rIns="0" bIns="0" rtlCol="0" anchor="ctr"/>
          <a:lstStyle/>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expand &amp;</a:t>
            </a:r>
            <a:endParaRPr lang="en-US" sz="1050" dirty="0"/>
          </a:p>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normalize the term</a:t>
            </a:r>
            <a:endParaRPr lang="en-US" sz="1050" dirty="0"/>
          </a:p>
        </p:txBody>
      </p:sp>
      <p:sp>
        <p:nvSpPr>
          <p:cNvPr id="12" name="Shape 9"/>
          <p:cNvSpPr/>
          <p:nvPr/>
        </p:nvSpPr>
        <p:spPr>
          <a:xfrm>
            <a:off x="4837176" y="2295144"/>
            <a:ext cx="329184" cy="164592"/>
          </a:xfrm>
          <a:prstGeom prst="rightArrow">
            <a:avLst/>
          </a:prstGeom>
          <a:solidFill>
            <a:srgbClr val="C7902B"/>
          </a:solidFill>
          <a:ln/>
        </p:spPr>
        <p:txBody>
          <a:bodyPr/>
          <a:lstStyle/>
          <a:p>
            <a:endParaRPr lang="en-US"/>
          </a:p>
        </p:txBody>
      </p:sp>
      <p:sp>
        <p:nvSpPr>
          <p:cNvPr id="13" name="Shape 10"/>
          <p:cNvSpPr/>
          <p:nvPr/>
        </p:nvSpPr>
        <p:spPr>
          <a:xfrm>
            <a:off x="5020056" y="1691640"/>
            <a:ext cx="2011680" cy="1371600"/>
          </a:xfrm>
          <a:prstGeom prst="roundRect">
            <a:avLst>
              <a:gd name="adj" fmla="val 5333"/>
            </a:avLst>
          </a:prstGeom>
          <a:solidFill>
            <a:srgbClr val="EDEFF7"/>
          </a:solidFill>
          <a:ln w="16510">
            <a:solidFill>
              <a:srgbClr val="23305F"/>
            </a:solidFill>
            <a:prstDash val="solid"/>
          </a:ln>
          <a:effectLst>
            <a:outerShdw blurRad="63500" dist="25400" dir="5400000" algn="bl" rotWithShape="0">
              <a:srgbClr val="000000">
                <a:alpha val="12000"/>
              </a:srgbClr>
            </a:outerShdw>
          </a:effectLst>
        </p:spPr>
        <p:txBody>
          <a:bodyPr/>
          <a:lstStyle/>
          <a:p>
            <a:endParaRPr lang="en-US"/>
          </a:p>
        </p:txBody>
      </p:sp>
      <p:sp>
        <p:nvSpPr>
          <p:cNvPr id="14" name="Text 11"/>
          <p:cNvSpPr/>
          <p:nvPr/>
        </p:nvSpPr>
        <p:spPr>
          <a:xfrm>
            <a:off x="5020056" y="1837944"/>
            <a:ext cx="2011680" cy="411480"/>
          </a:xfrm>
          <a:prstGeom prst="rect">
            <a:avLst/>
          </a:prstGeom>
          <a:noFill/>
          <a:ln/>
        </p:spPr>
        <p:txBody>
          <a:bodyPr wrap="square" lIns="0" tIns="0" rIns="0" bIns="0" rtlCol="0" anchor="ctr"/>
          <a:lstStyle/>
          <a:p>
            <a:pPr marL="0" indent="0" algn="ctr">
              <a:buNone/>
            </a:pPr>
            <a:r>
              <a:rPr lang="en-US" sz="1300" b="1" dirty="0">
                <a:solidFill>
                  <a:srgbClr val="23305F"/>
                </a:solidFill>
                <a:latin typeface="Calibri" pitchFamily="34" charset="0"/>
                <a:ea typeface="Calibri" pitchFamily="34" charset="-122"/>
                <a:cs typeface="Calibri" pitchFamily="34" charset="-120"/>
              </a:rPr>
              <a:t>Retrieve + graph</a:t>
            </a:r>
            <a:endParaRPr lang="en-US" sz="1300" dirty="0"/>
          </a:p>
        </p:txBody>
      </p:sp>
      <p:sp>
        <p:nvSpPr>
          <p:cNvPr id="15" name="Text 12"/>
          <p:cNvSpPr/>
          <p:nvPr/>
        </p:nvSpPr>
        <p:spPr>
          <a:xfrm>
            <a:off x="5111496" y="2295144"/>
            <a:ext cx="1828800" cy="685800"/>
          </a:xfrm>
          <a:prstGeom prst="rect">
            <a:avLst/>
          </a:prstGeom>
          <a:noFill/>
          <a:ln/>
        </p:spPr>
        <p:txBody>
          <a:bodyPr wrap="square" lIns="0" tIns="0" rIns="0" bIns="0" rtlCol="0" anchor="ctr"/>
          <a:lstStyle/>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PubMedBERT +</a:t>
            </a:r>
            <a:endParaRPr lang="en-US" sz="1050" dirty="0"/>
          </a:p>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OMOP graph, top-20</a:t>
            </a:r>
            <a:endParaRPr lang="en-US" sz="1050" dirty="0"/>
          </a:p>
        </p:txBody>
      </p:sp>
      <p:sp>
        <p:nvSpPr>
          <p:cNvPr id="16" name="Shape 13"/>
          <p:cNvSpPr/>
          <p:nvPr/>
        </p:nvSpPr>
        <p:spPr>
          <a:xfrm>
            <a:off x="7050024" y="2295144"/>
            <a:ext cx="329184" cy="164592"/>
          </a:xfrm>
          <a:prstGeom prst="rightArrow">
            <a:avLst/>
          </a:prstGeom>
          <a:solidFill>
            <a:srgbClr val="C7902B"/>
          </a:solidFill>
          <a:ln/>
        </p:spPr>
        <p:txBody>
          <a:bodyPr/>
          <a:lstStyle/>
          <a:p>
            <a:endParaRPr lang="en-US"/>
          </a:p>
        </p:txBody>
      </p:sp>
      <p:sp>
        <p:nvSpPr>
          <p:cNvPr id="17" name="Shape 14"/>
          <p:cNvSpPr/>
          <p:nvPr/>
        </p:nvSpPr>
        <p:spPr>
          <a:xfrm>
            <a:off x="7232904" y="1691640"/>
            <a:ext cx="2011680" cy="1371600"/>
          </a:xfrm>
          <a:prstGeom prst="roundRect">
            <a:avLst>
              <a:gd name="adj" fmla="val 5333"/>
            </a:avLst>
          </a:prstGeom>
          <a:solidFill>
            <a:srgbClr val="FBF2E1"/>
          </a:solidFill>
          <a:ln w="16510">
            <a:solidFill>
              <a:srgbClr val="8A5A12"/>
            </a:solidFill>
            <a:prstDash val="solid"/>
          </a:ln>
          <a:effectLst>
            <a:outerShdw blurRad="63500" dist="25400" dir="5400000" algn="bl" rotWithShape="0">
              <a:srgbClr val="000000">
                <a:alpha val="12000"/>
              </a:srgbClr>
            </a:outerShdw>
          </a:effectLst>
        </p:spPr>
        <p:txBody>
          <a:bodyPr/>
          <a:lstStyle/>
          <a:p>
            <a:endParaRPr lang="en-US"/>
          </a:p>
        </p:txBody>
      </p:sp>
      <p:sp>
        <p:nvSpPr>
          <p:cNvPr id="18" name="Text 15"/>
          <p:cNvSpPr/>
          <p:nvPr/>
        </p:nvSpPr>
        <p:spPr>
          <a:xfrm>
            <a:off x="7232904" y="1837944"/>
            <a:ext cx="2011680" cy="411480"/>
          </a:xfrm>
          <a:prstGeom prst="rect">
            <a:avLst/>
          </a:prstGeom>
          <a:noFill/>
          <a:ln/>
        </p:spPr>
        <p:txBody>
          <a:bodyPr wrap="square" lIns="0" tIns="0" rIns="0" bIns="0" rtlCol="0" anchor="ctr"/>
          <a:lstStyle/>
          <a:p>
            <a:pPr marL="0" indent="0" algn="ctr">
              <a:buNone/>
            </a:pPr>
            <a:r>
              <a:rPr lang="en-US" sz="1300" b="1" dirty="0">
                <a:solidFill>
                  <a:srgbClr val="8A5A12"/>
                </a:solidFill>
                <a:latin typeface="Calibri" pitchFamily="34" charset="0"/>
                <a:ea typeface="Calibri" pitchFamily="34" charset="-122"/>
                <a:cs typeface="Calibri" pitchFamily="34" charset="-120"/>
              </a:rPr>
              <a:t>Agent 2</a:t>
            </a:r>
            <a:endParaRPr lang="en-US" sz="1300" dirty="0"/>
          </a:p>
        </p:txBody>
      </p:sp>
      <p:sp>
        <p:nvSpPr>
          <p:cNvPr id="19" name="Text 16"/>
          <p:cNvSpPr/>
          <p:nvPr/>
        </p:nvSpPr>
        <p:spPr>
          <a:xfrm>
            <a:off x="7324344" y="2295144"/>
            <a:ext cx="1828800" cy="685800"/>
          </a:xfrm>
          <a:prstGeom prst="rect">
            <a:avLst/>
          </a:prstGeom>
          <a:noFill/>
          <a:ln/>
        </p:spPr>
        <p:txBody>
          <a:bodyPr wrap="square" lIns="0" tIns="0" rIns="0" bIns="0" rtlCol="0" anchor="ctr"/>
          <a:lstStyle/>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filter candidates</a:t>
            </a:r>
            <a:endParaRPr lang="en-US" sz="1050" dirty="0"/>
          </a:p>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High / Med / Low</a:t>
            </a:r>
            <a:endParaRPr lang="en-US" sz="1050" dirty="0"/>
          </a:p>
        </p:txBody>
      </p:sp>
      <p:sp>
        <p:nvSpPr>
          <p:cNvPr id="20" name="Shape 17"/>
          <p:cNvSpPr/>
          <p:nvPr/>
        </p:nvSpPr>
        <p:spPr>
          <a:xfrm>
            <a:off x="9262872" y="2295144"/>
            <a:ext cx="329184" cy="164592"/>
          </a:xfrm>
          <a:prstGeom prst="rightArrow">
            <a:avLst/>
          </a:prstGeom>
          <a:solidFill>
            <a:srgbClr val="C7902B"/>
          </a:solidFill>
          <a:ln/>
        </p:spPr>
        <p:txBody>
          <a:bodyPr/>
          <a:lstStyle/>
          <a:p>
            <a:endParaRPr lang="en-US"/>
          </a:p>
        </p:txBody>
      </p:sp>
      <p:sp>
        <p:nvSpPr>
          <p:cNvPr id="21" name="Shape 18"/>
          <p:cNvSpPr/>
          <p:nvPr/>
        </p:nvSpPr>
        <p:spPr>
          <a:xfrm>
            <a:off x="9445752" y="1691640"/>
            <a:ext cx="2011680" cy="1371600"/>
          </a:xfrm>
          <a:prstGeom prst="roundRect">
            <a:avLst>
              <a:gd name="adj" fmla="val 5333"/>
            </a:avLst>
          </a:prstGeom>
          <a:solidFill>
            <a:srgbClr val="FBF2E1"/>
          </a:solidFill>
          <a:ln w="16510">
            <a:solidFill>
              <a:srgbClr val="8A5A12"/>
            </a:solidFill>
            <a:prstDash val="solid"/>
          </a:ln>
          <a:effectLst>
            <a:outerShdw blurRad="63500" dist="25400" dir="5400000" algn="bl" rotWithShape="0">
              <a:srgbClr val="000000">
                <a:alpha val="12000"/>
              </a:srgbClr>
            </a:outerShdw>
          </a:effectLst>
        </p:spPr>
        <p:txBody>
          <a:bodyPr/>
          <a:lstStyle/>
          <a:p>
            <a:endParaRPr lang="en-US"/>
          </a:p>
        </p:txBody>
      </p:sp>
      <p:sp>
        <p:nvSpPr>
          <p:cNvPr id="22" name="Text 19"/>
          <p:cNvSpPr/>
          <p:nvPr/>
        </p:nvSpPr>
        <p:spPr>
          <a:xfrm>
            <a:off x="9445752" y="1837944"/>
            <a:ext cx="2011680" cy="411480"/>
          </a:xfrm>
          <a:prstGeom prst="rect">
            <a:avLst/>
          </a:prstGeom>
          <a:noFill/>
          <a:ln/>
        </p:spPr>
        <p:txBody>
          <a:bodyPr wrap="square" lIns="0" tIns="0" rIns="0" bIns="0" rtlCol="0" anchor="ctr"/>
          <a:lstStyle/>
          <a:p>
            <a:pPr marL="0" indent="0" algn="ctr">
              <a:buNone/>
            </a:pPr>
            <a:r>
              <a:rPr lang="en-US" sz="1300" b="1" dirty="0">
                <a:solidFill>
                  <a:srgbClr val="8A5A12"/>
                </a:solidFill>
                <a:latin typeface="Calibri" pitchFamily="34" charset="0"/>
                <a:ea typeface="Calibri" pitchFamily="34" charset="-122"/>
                <a:cs typeface="Calibri" pitchFamily="34" charset="-120"/>
              </a:rPr>
              <a:t>Agent 3</a:t>
            </a:r>
            <a:endParaRPr lang="en-US" sz="1300" dirty="0"/>
          </a:p>
        </p:txBody>
      </p:sp>
      <p:sp>
        <p:nvSpPr>
          <p:cNvPr id="23" name="Text 20"/>
          <p:cNvSpPr/>
          <p:nvPr/>
        </p:nvSpPr>
        <p:spPr>
          <a:xfrm>
            <a:off x="9537192" y="2295144"/>
            <a:ext cx="1828800" cy="685800"/>
          </a:xfrm>
          <a:prstGeom prst="rect">
            <a:avLst/>
          </a:prstGeom>
          <a:noFill/>
          <a:ln/>
        </p:spPr>
        <p:txBody>
          <a:bodyPr wrap="square" lIns="0" tIns="0" rIns="0" bIns="0" rtlCol="0" anchor="ctr"/>
          <a:lstStyle/>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select + justify</a:t>
            </a:r>
            <a:endParaRPr lang="en-US" sz="1050" dirty="0"/>
          </a:p>
          <a:p>
            <a:pPr marL="0" indent="0" algn="ctr">
              <a:lnSpc>
                <a:spcPct val="95000"/>
              </a:lnSpc>
              <a:buNone/>
            </a:pPr>
            <a:r>
              <a:rPr lang="en-US" sz="1050" dirty="0">
                <a:solidFill>
                  <a:srgbClr val="6E6A63"/>
                </a:solidFill>
                <a:latin typeface="Calibri" pitchFamily="34" charset="0"/>
                <a:ea typeface="Calibri" pitchFamily="34" charset="-122"/>
                <a:cs typeface="Calibri" pitchFamily="34" charset="-120"/>
              </a:rPr>
              <a:t>+ confidence</a:t>
            </a:r>
            <a:endParaRPr lang="en-US" sz="1050" dirty="0"/>
          </a:p>
        </p:txBody>
      </p:sp>
      <p:sp>
        <p:nvSpPr>
          <p:cNvPr id="24" name="Text 21"/>
          <p:cNvSpPr/>
          <p:nvPr/>
        </p:nvSpPr>
        <p:spPr>
          <a:xfrm>
            <a:off x="594360" y="3246120"/>
            <a:ext cx="11018520" cy="320040"/>
          </a:xfrm>
          <a:prstGeom prst="rect">
            <a:avLst/>
          </a:prstGeom>
          <a:noFill/>
          <a:ln/>
        </p:spPr>
        <p:txBody>
          <a:bodyPr wrap="square" lIns="0" tIns="0" rIns="0" bIns="0" rtlCol="0" anchor="ctr"/>
          <a:lstStyle/>
          <a:p>
            <a:pPr marL="0" indent="0" algn="ctr">
              <a:buNone/>
            </a:pPr>
            <a:r>
              <a:rPr lang="en-US" sz="1200" i="1" dirty="0">
                <a:solidFill>
                  <a:srgbClr val="6E6A63"/>
                </a:solidFill>
                <a:latin typeface="Calibri" pitchFamily="34" charset="0"/>
                <a:ea typeface="Calibri" pitchFamily="34" charset="-122"/>
                <a:cs typeface="Calibri" pitchFamily="34" charset="-120"/>
              </a:rPr>
              <a:t>3 specialized LLM agents · orchestrated with LangGraph · outputs a concept_id with rationale for human review</a:t>
            </a:r>
            <a:endParaRPr lang="en-US" sz="1200" dirty="0"/>
          </a:p>
        </p:txBody>
      </p:sp>
      <p:sp>
        <p:nvSpPr>
          <p:cNvPr id="25" name="Shape 22"/>
          <p:cNvSpPr/>
          <p:nvPr/>
        </p:nvSpPr>
        <p:spPr>
          <a:xfrm>
            <a:off x="594360" y="379476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6" name="Image 0" descr="preencoded.png"/>
          <p:cNvPicPr>
            <a:picLocks noChangeAspect="1"/>
          </p:cNvPicPr>
          <p:nvPr/>
        </p:nvPicPr>
        <p:blipFill>
          <a:blip r:embed="rId3"/>
          <a:stretch>
            <a:fillRect/>
          </a:stretch>
        </p:blipFill>
        <p:spPr>
          <a:xfrm>
            <a:off x="742493" y="3942893"/>
            <a:ext cx="252374" cy="252374"/>
          </a:xfrm>
          <a:prstGeom prst="rect">
            <a:avLst/>
          </a:prstGeom>
        </p:spPr>
      </p:pic>
      <p:sp>
        <p:nvSpPr>
          <p:cNvPr id="27" name="Text 23"/>
          <p:cNvSpPr/>
          <p:nvPr/>
        </p:nvSpPr>
        <p:spPr>
          <a:xfrm>
            <a:off x="1325880" y="3749040"/>
            <a:ext cx="4663440" cy="1188720"/>
          </a:xfrm>
          <a:prstGeom prst="rect">
            <a:avLst/>
          </a:prstGeom>
          <a:noFill/>
          <a:ln/>
        </p:spPr>
        <p:txBody>
          <a:bodyPr wrap="square" lIns="0" tIns="0" rIns="0" bIns="0" rtlCol="0" anchor="t"/>
          <a:lstStyle/>
          <a:p>
            <a:pPr marL="0" indent="0">
              <a:lnSpc>
                <a:spcPct val="100000"/>
              </a:lnSpc>
              <a:buNone/>
            </a:pPr>
            <a:r>
              <a:rPr lang="en-US" sz="1300" b="1" dirty="0">
                <a:solidFill>
                  <a:srgbClr val="23305F"/>
                </a:solidFill>
              </a:rPr>
              <a:t>Graph-enhanced retrieval</a:t>
            </a:r>
            <a:endParaRPr lang="en-US" sz="1300" dirty="0"/>
          </a:p>
          <a:p>
            <a:pPr marL="0" indent="0">
              <a:lnSpc>
                <a:spcPct val="100000"/>
              </a:lnSpc>
              <a:buNone/>
            </a:pPr>
            <a:r>
              <a:rPr lang="en-US" sz="1100" dirty="0">
                <a:solidFill>
                  <a:srgbClr val="6E6A63"/>
                </a:solidFill>
              </a:rPr>
              <a:t>embeddings shortlist candidates; the OMOP graph — ancestors, descendants, synonyms, panels, units — enriches each one for the agents to reason over</a:t>
            </a:r>
            <a:endParaRPr lang="en-US" sz="1300" dirty="0"/>
          </a:p>
        </p:txBody>
      </p:sp>
      <p:sp>
        <p:nvSpPr>
          <p:cNvPr id="28" name="Shape 24"/>
          <p:cNvSpPr/>
          <p:nvPr/>
        </p:nvSpPr>
        <p:spPr>
          <a:xfrm>
            <a:off x="6217920" y="3794760"/>
            <a:ext cx="548640" cy="548640"/>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9" name="Image 1" descr="preencoded.png"/>
          <p:cNvPicPr>
            <a:picLocks noChangeAspect="1"/>
          </p:cNvPicPr>
          <p:nvPr/>
        </p:nvPicPr>
        <p:blipFill>
          <a:blip r:embed="rId4"/>
          <a:stretch>
            <a:fillRect/>
          </a:stretch>
        </p:blipFill>
        <p:spPr>
          <a:xfrm>
            <a:off x="6366053" y="3942893"/>
            <a:ext cx="252374" cy="252374"/>
          </a:xfrm>
          <a:prstGeom prst="rect">
            <a:avLst/>
          </a:prstGeom>
        </p:spPr>
      </p:pic>
      <p:sp>
        <p:nvSpPr>
          <p:cNvPr id="30" name="Text 25"/>
          <p:cNvSpPr/>
          <p:nvPr/>
        </p:nvSpPr>
        <p:spPr>
          <a:xfrm>
            <a:off x="6949440" y="3749040"/>
            <a:ext cx="4663440" cy="1188720"/>
          </a:xfrm>
          <a:prstGeom prst="rect">
            <a:avLst/>
          </a:prstGeom>
          <a:noFill/>
          <a:ln/>
        </p:spPr>
        <p:txBody>
          <a:bodyPr wrap="square" lIns="0" tIns="0" rIns="0" bIns="0" rtlCol="0" anchor="t"/>
          <a:lstStyle/>
          <a:p>
            <a:pPr marL="0" indent="0">
              <a:lnSpc>
                <a:spcPct val="100000"/>
              </a:lnSpc>
              <a:buNone/>
            </a:pPr>
            <a:r>
              <a:rPr lang="en-US" sz="1300" b="1" dirty="0">
                <a:solidFill>
                  <a:srgbClr val="23305F"/>
                </a:solidFill>
              </a:rPr>
              <a:t>Explainable by design</a:t>
            </a:r>
            <a:endParaRPr lang="en-US" sz="1300" dirty="0"/>
          </a:p>
          <a:p>
            <a:pPr marL="0" indent="0">
              <a:lnSpc>
                <a:spcPct val="100000"/>
              </a:lnSpc>
              <a:buNone/>
            </a:pPr>
            <a:r>
              <a:rPr lang="en-US" sz="1100" dirty="0">
                <a:solidFill>
                  <a:srgbClr val="6E6A63"/>
                </a:solidFill>
              </a:rPr>
              <a:t>every pick carries a natural-language justification, a confidence, and alternative concept ids — built for validation, not blind trust</a:t>
            </a:r>
            <a:endParaRPr lang="en-US" sz="1300" dirty="0"/>
          </a:p>
        </p:txBody>
      </p:sp>
      <p:sp>
        <p:nvSpPr>
          <p:cNvPr id="31" name="Shape 26"/>
          <p:cNvSpPr/>
          <p:nvPr/>
        </p:nvSpPr>
        <p:spPr>
          <a:xfrm>
            <a:off x="594360" y="5577840"/>
            <a:ext cx="11018520" cy="960120"/>
          </a:xfrm>
          <a:prstGeom prst="roundRect">
            <a:avLst>
              <a:gd name="adj" fmla="val 7619"/>
            </a:avLst>
          </a:prstGeom>
          <a:solidFill>
            <a:srgbClr val="2A2013"/>
          </a:solidFill>
          <a:ln/>
        </p:spPr>
        <p:txBody>
          <a:bodyPr/>
          <a:lstStyle/>
          <a:p>
            <a:endParaRPr lang="en-US"/>
          </a:p>
        </p:txBody>
      </p:sp>
      <p:sp>
        <p:nvSpPr>
          <p:cNvPr id="32" name="Text 27"/>
          <p:cNvSpPr/>
          <p:nvPr/>
        </p:nvSpPr>
        <p:spPr>
          <a:xfrm>
            <a:off x="822960" y="5577840"/>
            <a:ext cx="10561320" cy="960120"/>
          </a:xfrm>
          <a:prstGeom prst="rect">
            <a:avLst/>
          </a:prstGeom>
          <a:noFill/>
          <a:ln/>
        </p:spPr>
        <p:txBody>
          <a:bodyPr wrap="square" lIns="0" tIns="0" rIns="0" bIns="0" rtlCol="0" anchor="ctr"/>
          <a:lstStyle/>
          <a:p>
            <a:pPr marL="0" indent="0" algn="ctr">
              <a:buNone/>
            </a:pPr>
            <a:r>
              <a:rPr lang="en-US" sz="1300" dirty="0">
                <a:solidFill>
                  <a:srgbClr val="F1E7D6"/>
                </a:solidFill>
                <a:latin typeface="Calibri" pitchFamily="34" charset="0"/>
                <a:ea typeface="Calibri" pitchFamily="34" charset="-122"/>
                <a:cs typeface="Calibri" pitchFamily="34" charset="-120"/>
              </a:rPr>
              <a:t>On 100 real lab terms:  </a:t>
            </a:r>
            <a:r>
              <a:rPr lang="en-US" sz="2000" b="1" dirty="0">
                <a:solidFill>
                  <a:srgbClr val="EBD9AE"/>
                </a:solidFill>
                <a:latin typeface="Cambria" pitchFamily="34" charset="0"/>
                <a:ea typeface="Cambria" pitchFamily="34" charset="-122"/>
                <a:cs typeface="Cambria" pitchFamily="34" charset="-120"/>
              </a:rPr>
              <a:t>48%</a:t>
            </a:r>
            <a:r>
              <a:rPr lang="en-US" sz="1300" dirty="0">
                <a:solidFill>
                  <a:srgbClr val="F1E7D6"/>
                </a:solidFill>
                <a:latin typeface="Calibri" pitchFamily="34" charset="0"/>
                <a:ea typeface="Calibri" pitchFamily="34" charset="-122"/>
                <a:cs typeface="Calibri" pitchFamily="34" charset="-120"/>
              </a:rPr>
              <a:t> exact match with the manual maps · </a:t>
            </a:r>
            <a:r>
              <a:rPr lang="en-US" sz="2000" b="1" dirty="0">
                <a:solidFill>
                  <a:srgbClr val="EBD9AE"/>
                </a:solidFill>
                <a:latin typeface="Cambria" pitchFamily="34" charset="0"/>
                <a:ea typeface="Cambria" pitchFamily="34" charset="-122"/>
                <a:cs typeface="Cambria" pitchFamily="34" charset="-120"/>
              </a:rPr>
              <a:t>70%</a:t>
            </a:r>
            <a:r>
              <a:rPr lang="en-US" sz="1300" dirty="0">
                <a:solidFill>
                  <a:srgbClr val="F1E7D6"/>
                </a:solidFill>
                <a:latin typeface="Calibri" pitchFamily="34" charset="0"/>
                <a:ea typeface="Calibri" pitchFamily="34" charset="-122"/>
                <a:cs typeface="Calibri" pitchFamily="34" charset="-120"/>
              </a:rPr>
              <a:t> within the top candidates · </a:t>
            </a:r>
            <a:r>
              <a:rPr lang="en-US" sz="2000" b="1" dirty="0">
                <a:solidFill>
                  <a:srgbClr val="EBD9AE"/>
                </a:solidFill>
                <a:latin typeface="Cambria" pitchFamily="34" charset="0"/>
                <a:ea typeface="Cambria" pitchFamily="34" charset="-122"/>
                <a:cs typeface="Cambria" pitchFamily="34" charset="-120"/>
              </a:rPr>
              <a:t>~$5</a:t>
            </a:r>
            <a:r>
              <a:rPr lang="en-US" sz="1300" dirty="0">
                <a:solidFill>
                  <a:srgbClr val="F1E7D6"/>
                </a:solidFill>
                <a:latin typeface="Calibri" pitchFamily="34" charset="0"/>
                <a:ea typeface="Calibri" pitchFamily="34" charset="-122"/>
                <a:cs typeface="Calibri" pitchFamily="34" charset="-120"/>
              </a:rPr>
              <a:t> per 100 terms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marL="0" indent="0">
              <a:buNone/>
            </a:pPr>
            <a:r>
              <a:rPr lang="en-US" sz="3000" b="1" dirty="0">
                <a:solidFill>
                  <a:srgbClr val="2B2B2B"/>
                </a:solidFill>
                <a:latin typeface="Cambria" pitchFamily="34" charset="0"/>
                <a:ea typeface="Cambria" pitchFamily="34" charset="-122"/>
                <a:cs typeface="Cambria" pitchFamily="34" charset="-120"/>
              </a:rPr>
              <a:t>How it could plug into COMET</a:t>
            </a:r>
            <a:endParaRPr lang="en-US" sz="3000" dirty="0"/>
          </a:p>
        </p:txBody>
      </p:sp>
      <p:sp>
        <p:nvSpPr>
          <p:cNvPr id="3" name="Text 1"/>
          <p:cNvSpPr/>
          <p:nvPr/>
        </p:nvSpPr>
        <p:spPr>
          <a:xfrm>
            <a:off x="566928" y="1024128"/>
            <a:ext cx="11064240" cy="365760"/>
          </a:xfrm>
          <a:prstGeom prst="rect">
            <a:avLst/>
          </a:prstGeom>
          <a:noFill/>
          <a:ln/>
        </p:spPr>
        <p:txBody>
          <a:bodyPr wrap="square" lIns="0" tIns="0" rIns="0" bIns="0" rtlCol="0" anchor="ctr"/>
          <a:lstStyle/>
          <a:p>
            <a:pPr marL="0" indent="0">
              <a:buNone/>
            </a:pPr>
            <a:r>
              <a:rPr lang="en-US" sz="1450" i="1" dirty="0">
                <a:solidFill>
                  <a:srgbClr val="C7902B"/>
                </a:solidFill>
                <a:latin typeface="Calibri" pitchFamily="34" charset="0"/>
                <a:ea typeface="Calibri" pitchFamily="34" charset="-122"/>
                <a:cs typeface="Calibri" pitchFamily="34" charset="-120"/>
              </a:rPr>
              <a:t>An agentic suggestion layer — on the guardrails and human review COMET already has</a:t>
            </a:r>
            <a:endParaRPr lang="en-US" sz="1450" dirty="0"/>
          </a:p>
        </p:txBody>
      </p:sp>
      <p:sp>
        <p:nvSpPr>
          <p:cNvPr id="5" name="Shape 2"/>
          <p:cNvSpPr/>
          <p:nvPr/>
        </p:nvSpPr>
        <p:spPr>
          <a:xfrm>
            <a:off x="594360" y="1645920"/>
            <a:ext cx="2011680" cy="1234440"/>
          </a:xfrm>
          <a:prstGeom prst="roundRect">
            <a:avLst>
              <a:gd name="adj" fmla="val 5926"/>
            </a:avLst>
          </a:prstGeom>
          <a:solidFill>
            <a:srgbClr val="F6F2EB"/>
          </a:solidFill>
          <a:ln w="16510">
            <a:solidFill>
              <a:srgbClr val="DAD3C6"/>
            </a:solidFill>
            <a:prstDash val="solid"/>
          </a:ln>
        </p:spPr>
        <p:txBody>
          <a:bodyPr/>
          <a:lstStyle/>
          <a:p>
            <a:endParaRPr lang="en-US"/>
          </a:p>
        </p:txBody>
      </p:sp>
      <p:sp>
        <p:nvSpPr>
          <p:cNvPr id="6" name="Text 3"/>
          <p:cNvSpPr/>
          <p:nvPr/>
        </p:nvSpPr>
        <p:spPr>
          <a:xfrm>
            <a:off x="667512" y="1901952"/>
            <a:ext cx="1865376" cy="640080"/>
          </a:xfrm>
          <a:prstGeom prst="rect">
            <a:avLst/>
          </a:prstGeom>
          <a:noFill/>
          <a:ln/>
        </p:spPr>
        <p:txBody>
          <a:bodyPr wrap="square" lIns="0" tIns="0" rIns="0" bIns="0" rtlCol="0" anchor="ctr"/>
          <a:lstStyle/>
          <a:p>
            <a:pPr marL="0" indent="0" algn="ctr">
              <a:buNone/>
            </a:pPr>
            <a:r>
              <a:rPr lang="en-US" sz="1250" b="1" dirty="0">
                <a:solidFill>
                  <a:srgbClr val="2B2B2B"/>
                </a:solidFill>
                <a:latin typeface="Calibri" pitchFamily="34" charset="0"/>
                <a:ea typeface="Calibri" pitchFamily="34" charset="-122"/>
                <a:cs typeface="Calibri" pitchFamily="34" charset="-120"/>
              </a:rPr>
              <a:t>Source term</a:t>
            </a:r>
            <a:endParaRPr lang="en-US" sz="1250" dirty="0"/>
          </a:p>
        </p:txBody>
      </p:sp>
      <p:sp>
        <p:nvSpPr>
          <p:cNvPr id="7" name="Shape 4"/>
          <p:cNvSpPr/>
          <p:nvPr/>
        </p:nvSpPr>
        <p:spPr>
          <a:xfrm>
            <a:off x="2624328" y="2180844"/>
            <a:ext cx="329184" cy="164592"/>
          </a:xfrm>
          <a:prstGeom prst="rightArrow">
            <a:avLst/>
          </a:prstGeom>
          <a:solidFill>
            <a:srgbClr val="C7902B"/>
          </a:solidFill>
          <a:ln/>
        </p:spPr>
        <p:txBody>
          <a:bodyPr/>
          <a:lstStyle/>
          <a:p>
            <a:endParaRPr lang="en-US"/>
          </a:p>
        </p:txBody>
      </p:sp>
      <p:sp>
        <p:nvSpPr>
          <p:cNvPr id="8" name="Shape 5"/>
          <p:cNvSpPr/>
          <p:nvPr/>
        </p:nvSpPr>
        <p:spPr>
          <a:xfrm>
            <a:off x="2807208" y="1645920"/>
            <a:ext cx="2011680" cy="1234440"/>
          </a:xfrm>
          <a:prstGeom prst="roundRect">
            <a:avLst>
              <a:gd name="adj" fmla="val 5926"/>
            </a:avLst>
          </a:prstGeom>
          <a:solidFill>
            <a:srgbClr val="FBF2E1"/>
          </a:solidFill>
          <a:ln w="25400">
            <a:solidFill>
              <a:srgbClr val="8A5A12"/>
            </a:solidFill>
            <a:prstDash val="solid"/>
          </a:ln>
        </p:spPr>
        <p:txBody>
          <a:bodyPr/>
          <a:lstStyle/>
          <a:p>
            <a:endParaRPr lang="en-US"/>
          </a:p>
        </p:txBody>
      </p:sp>
      <p:sp>
        <p:nvSpPr>
          <p:cNvPr id="9" name="Text 6"/>
          <p:cNvSpPr/>
          <p:nvPr/>
        </p:nvSpPr>
        <p:spPr>
          <a:xfrm>
            <a:off x="2880360" y="1901952"/>
            <a:ext cx="1865376" cy="640080"/>
          </a:xfrm>
          <a:prstGeom prst="rect">
            <a:avLst/>
          </a:prstGeom>
          <a:noFill/>
          <a:ln/>
        </p:spPr>
        <p:txBody>
          <a:bodyPr wrap="square" lIns="0" tIns="0" rIns="0" bIns="0" rtlCol="0" anchor="ctr"/>
          <a:lstStyle/>
          <a:p>
            <a:pPr marL="0" indent="0" algn="ctr">
              <a:buNone/>
            </a:pPr>
            <a:r>
              <a:rPr lang="en-US" sz="1250" b="1" dirty="0">
                <a:solidFill>
                  <a:srgbClr val="8A5A12"/>
                </a:solidFill>
                <a:latin typeface="Calibri" pitchFamily="34" charset="0"/>
                <a:ea typeface="Calibri" pitchFamily="34" charset="-122"/>
                <a:cs typeface="Calibri" pitchFamily="34" charset="-120"/>
              </a:rPr>
              <a:t>LLM agents</a:t>
            </a:r>
            <a:endParaRPr lang="en-US" sz="1250" dirty="0"/>
          </a:p>
          <a:p>
            <a:pPr marL="0" indent="0" algn="ctr">
              <a:buNone/>
            </a:pPr>
            <a:r>
              <a:rPr lang="en-US" sz="1250" b="1" dirty="0">
                <a:solidFill>
                  <a:srgbClr val="8A5A12"/>
                </a:solidFill>
                <a:latin typeface="Calibri" pitchFamily="34" charset="0"/>
                <a:ea typeface="Calibri" pitchFamily="34" charset="-122"/>
                <a:cs typeface="Calibri" pitchFamily="34" charset="-120"/>
              </a:rPr>
              <a:t>+ graph retrieval</a:t>
            </a:r>
            <a:endParaRPr lang="en-US" sz="1250" dirty="0"/>
          </a:p>
        </p:txBody>
      </p:sp>
      <p:sp>
        <p:nvSpPr>
          <p:cNvPr id="10" name="Text 7"/>
          <p:cNvSpPr/>
          <p:nvPr/>
        </p:nvSpPr>
        <p:spPr>
          <a:xfrm>
            <a:off x="2807208" y="2551176"/>
            <a:ext cx="2011680" cy="274320"/>
          </a:xfrm>
          <a:prstGeom prst="rect">
            <a:avLst/>
          </a:prstGeom>
          <a:noFill/>
          <a:ln/>
        </p:spPr>
        <p:txBody>
          <a:bodyPr wrap="square" lIns="0" tIns="0" rIns="0" bIns="0" rtlCol="0" anchor="ctr"/>
          <a:lstStyle/>
          <a:p>
            <a:pPr marL="0" indent="0" algn="ctr">
              <a:buNone/>
            </a:pPr>
            <a:r>
              <a:rPr lang="en-US" sz="850" b="1" i="1" dirty="0">
                <a:solidFill>
                  <a:srgbClr val="8A5A12"/>
                </a:solidFill>
                <a:latin typeface="Calibri" pitchFamily="34" charset="0"/>
                <a:ea typeface="Calibri" pitchFamily="34" charset="-122"/>
                <a:cs typeface="Calibri" pitchFamily="34" charset="-120"/>
              </a:rPr>
              <a:t>NEW LAYER</a:t>
            </a:r>
            <a:endParaRPr lang="en-US" sz="850" dirty="0"/>
          </a:p>
        </p:txBody>
      </p:sp>
      <p:sp>
        <p:nvSpPr>
          <p:cNvPr id="11" name="Shape 8"/>
          <p:cNvSpPr/>
          <p:nvPr/>
        </p:nvSpPr>
        <p:spPr>
          <a:xfrm>
            <a:off x="4837176" y="2180844"/>
            <a:ext cx="329184" cy="164592"/>
          </a:xfrm>
          <a:prstGeom prst="rightArrow">
            <a:avLst/>
          </a:prstGeom>
          <a:solidFill>
            <a:srgbClr val="C7902B"/>
          </a:solidFill>
          <a:ln/>
        </p:spPr>
        <p:txBody>
          <a:bodyPr/>
          <a:lstStyle/>
          <a:p>
            <a:endParaRPr lang="en-US"/>
          </a:p>
        </p:txBody>
      </p:sp>
      <p:sp>
        <p:nvSpPr>
          <p:cNvPr id="12" name="Shape 9"/>
          <p:cNvSpPr/>
          <p:nvPr/>
        </p:nvSpPr>
        <p:spPr>
          <a:xfrm>
            <a:off x="5020056" y="1645920"/>
            <a:ext cx="2011680" cy="1234440"/>
          </a:xfrm>
          <a:prstGeom prst="roundRect">
            <a:avLst>
              <a:gd name="adj" fmla="val 5926"/>
            </a:avLst>
          </a:prstGeom>
          <a:solidFill>
            <a:srgbClr val="E7F1E7"/>
          </a:solidFill>
          <a:ln w="16510">
            <a:solidFill>
              <a:srgbClr val="2E7D32"/>
            </a:solidFill>
            <a:prstDash val="solid"/>
          </a:ln>
        </p:spPr>
        <p:txBody>
          <a:bodyPr/>
          <a:lstStyle/>
          <a:p>
            <a:endParaRPr lang="en-US"/>
          </a:p>
        </p:txBody>
      </p:sp>
      <p:sp>
        <p:nvSpPr>
          <p:cNvPr id="13" name="Text 10"/>
          <p:cNvSpPr/>
          <p:nvPr/>
        </p:nvSpPr>
        <p:spPr>
          <a:xfrm>
            <a:off x="5093208" y="1901952"/>
            <a:ext cx="1865376" cy="640080"/>
          </a:xfrm>
          <a:prstGeom prst="rect">
            <a:avLst/>
          </a:prstGeom>
          <a:noFill/>
          <a:ln/>
        </p:spPr>
        <p:txBody>
          <a:bodyPr wrap="square" lIns="0" tIns="0" rIns="0" bIns="0" rtlCol="0" anchor="ctr"/>
          <a:lstStyle/>
          <a:p>
            <a:pPr marL="0" indent="0" algn="ctr">
              <a:buNone/>
            </a:pPr>
            <a:r>
              <a:rPr lang="en-US" sz="1250" b="1" dirty="0">
                <a:solidFill>
                  <a:srgbClr val="2E7D32"/>
                </a:solidFill>
                <a:latin typeface="Calibri" pitchFamily="34" charset="0"/>
                <a:ea typeface="Calibri" pitchFamily="34" charset="-122"/>
                <a:cs typeface="Calibri" pitchFamily="34" charset="-120"/>
              </a:rPr>
              <a:t>map_candidates</a:t>
            </a:r>
            <a:endParaRPr lang="en-US" sz="1250" dirty="0"/>
          </a:p>
        </p:txBody>
      </p:sp>
      <p:sp>
        <p:nvSpPr>
          <p:cNvPr id="14" name="Text 11"/>
          <p:cNvSpPr/>
          <p:nvPr/>
        </p:nvSpPr>
        <p:spPr>
          <a:xfrm>
            <a:off x="5020056" y="2551176"/>
            <a:ext cx="2011680" cy="274320"/>
          </a:xfrm>
          <a:prstGeom prst="rect">
            <a:avLst/>
          </a:prstGeom>
          <a:noFill/>
          <a:ln/>
        </p:spPr>
        <p:txBody>
          <a:bodyPr wrap="square" lIns="0" tIns="0" rIns="0" bIns="0" rtlCol="0" anchor="ctr"/>
          <a:lstStyle/>
          <a:p>
            <a:pPr marL="0" indent="0" algn="ctr">
              <a:buNone/>
            </a:pPr>
            <a:r>
              <a:rPr lang="en-US" sz="850" i="1" dirty="0">
                <a:solidFill>
                  <a:srgbClr val="2E7D32"/>
                </a:solidFill>
                <a:latin typeface="Calibri" pitchFamily="34" charset="0"/>
                <a:ea typeface="Calibri" pitchFamily="34" charset="-122"/>
                <a:cs typeface="Calibri" pitchFamily="34" charset="-120"/>
              </a:rPr>
              <a:t>already in COMET</a:t>
            </a:r>
            <a:endParaRPr lang="en-US" sz="850" dirty="0"/>
          </a:p>
        </p:txBody>
      </p:sp>
      <p:sp>
        <p:nvSpPr>
          <p:cNvPr id="15" name="Shape 12"/>
          <p:cNvSpPr/>
          <p:nvPr/>
        </p:nvSpPr>
        <p:spPr>
          <a:xfrm>
            <a:off x="7050024" y="2180844"/>
            <a:ext cx="329184" cy="164592"/>
          </a:xfrm>
          <a:prstGeom prst="rightArrow">
            <a:avLst/>
          </a:prstGeom>
          <a:solidFill>
            <a:srgbClr val="C7902B"/>
          </a:solidFill>
          <a:ln/>
        </p:spPr>
        <p:txBody>
          <a:bodyPr/>
          <a:lstStyle/>
          <a:p>
            <a:endParaRPr lang="en-US"/>
          </a:p>
        </p:txBody>
      </p:sp>
      <p:sp>
        <p:nvSpPr>
          <p:cNvPr id="16" name="Shape 13"/>
          <p:cNvSpPr/>
          <p:nvPr/>
        </p:nvSpPr>
        <p:spPr>
          <a:xfrm>
            <a:off x="7232904" y="1645920"/>
            <a:ext cx="2011680" cy="1234440"/>
          </a:xfrm>
          <a:prstGeom prst="roundRect">
            <a:avLst>
              <a:gd name="adj" fmla="val 5926"/>
            </a:avLst>
          </a:prstGeom>
          <a:solidFill>
            <a:srgbClr val="E7F1E7"/>
          </a:solidFill>
          <a:ln w="16510">
            <a:solidFill>
              <a:srgbClr val="2E7D32"/>
            </a:solidFill>
            <a:prstDash val="solid"/>
          </a:ln>
        </p:spPr>
        <p:txBody>
          <a:bodyPr/>
          <a:lstStyle/>
          <a:p>
            <a:endParaRPr lang="en-US"/>
          </a:p>
        </p:txBody>
      </p:sp>
      <p:sp>
        <p:nvSpPr>
          <p:cNvPr id="17" name="Text 14"/>
          <p:cNvSpPr/>
          <p:nvPr/>
        </p:nvSpPr>
        <p:spPr>
          <a:xfrm>
            <a:off x="7306056" y="1901952"/>
            <a:ext cx="1865376" cy="640080"/>
          </a:xfrm>
          <a:prstGeom prst="rect">
            <a:avLst/>
          </a:prstGeom>
          <a:noFill/>
          <a:ln/>
        </p:spPr>
        <p:txBody>
          <a:bodyPr wrap="square" lIns="0" tIns="0" rIns="0" bIns="0" rtlCol="0" anchor="ctr"/>
          <a:lstStyle/>
          <a:p>
            <a:pPr marL="0" indent="0" algn="ctr">
              <a:buNone/>
            </a:pPr>
            <a:r>
              <a:rPr lang="en-US" sz="1250" b="1" dirty="0">
                <a:solidFill>
                  <a:srgbClr val="2E7D32"/>
                </a:solidFill>
                <a:latin typeface="Calibri" pitchFamily="34" charset="0"/>
                <a:ea typeface="Calibri" pitchFamily="34" charset="-122"/>
                <a:cs typeface="Calibri" pitchFamily="34" charset="-120"/>
              </a:rPr>
              <a:t>guardrails +</a:t>
            </a:r>
            <a:endParaRPr lang="en-US" sz="1250" dirty="0"/>
          </a:p>
          <a:p>
            <a:pPr marL="0" indent="0" algn="ctr">
              <a:buNone/>
            </a:pPr>
            <a:r>
              <a:rPr lang="en-US" sz="1250" b="1" dirty="0">
                <a:solidFill>
                  <a:srgbClr val="2E7D32"/>
                </a:solidFill>
                <a:latin typeface="Calibri" pitchFamily="34" charset="0"/>
                <a:ea typeface="Calibri" pitchFamily="34" charset="-122"/>
                <a:cs typeface="Calibri" pitchFamily="34" charset="-120"/>
              </a:rPr>
              <a:t>human review</a:t>
            </a:r>
            <a:endParaRPr lang="en-US" sz="1250" dirty="0"/>
          </a:p>
        </p:txBody>
      </p:sp>
      <p:sp>
        <p:nvSpPr>
          <p:cNvPr id="18" name="Text 15"/>
          <p:cNvSpPr/>
          <p:nvPr/>
        </p:nvSpPr>
        <p:spPr>
          <a:xfrm>
            <a:off x="7232904" y="2551176"/>
            <a:ext cx="2011680" cy="274320"/>
          </a:xfrm>
          <a:prstGeom prst="rect">
            <a:avLst/>
          </a:prstGeom>
          <a:noFill/>
          <a:ln/>
        </p:spPr>
        <p:txBody>
          <a:bodyPr wrap="square" lIns="0" tIns="0" rIns="0" bIns="0" rtlCol="0" anchor="ctr"/>
          <a:lstStyle/>
          <a:p>
            <a:pPr marL="0" indent="0" algn="ctr">
              <a:buNone/>
            </a:pPr>
            <a:r>
              <a:rPr lang="en-US" sz="850" i="1" dirty="0">
                <a:solidFill>
                  <a:srgbClr val="2E7D32"/>
                </a:solidFill>
                <a:latin typeface="Calibri" pitchFamily="34" charset="0"/>
                <a:ea typeface="Calibri" pitchFamily="34" charset="-122"/>
                <a:cs typeface="Calibri" pitchFamily="34" charset="-120"/>
              </a:rPr>
              <a:t>already in COMET</a:t>
            </a:r>
            <a:endParaRPr lang="en-US" sz="850" dirty="0"/>
          </a:p>
        </p:txBody>
      </p:sp>
      <p:sp>
        <p:nvSpPr>
          <p:cNvPr id="19" name="Shape 16"/>
          <p:cNvSpPr/>
          <p:nvPr/>
        </p:nvSpPr>
        <p:spPr>
          <a:xfrm>
            <a:off x="9262872" y="2180844"/>
            <a:ext cx="329184" cy="164592"/>
          </a:xfrm>
          <a:prstGeom prst="rightArrow">
            <a:avLst/>
          </a:prstGeom>
          <a:solidFill>
            <a:srgbClr val="C7902B"/>
          </a:solidFill>
          <a:ln/>
        </p:spPr>
        <p:txBody>
          <a:bodyPr/>
          <a:lstStyle/>
          <a:p>
            <a:endParaRPr lang="en-US"/>
          </a:p>
        </p:txBody>
      </p:sp>
      <p:sp>
        <p:nvSpPr>
          <p:cNvPr id="20" name="Shape 17"/>
          <p:cNvSpPr/>
          <p:nvPr/>
        </p:nvSpPr>
        <p:spPr>
          <a:xfrm>
            <a:off x="9445752" y="1645920"/>
            <a:ext cx="2011680" cy="1234440"/>
          </a:xfrm>
          <a:prstGeom prst="roundRect">
            <a:avLst>
              <a:gd name="adj" fmla="val 5926"/>
            </a:avLst>
          </a:prstGeom>
          <a:solidFill>
            <a:srgbClr val="E7F1E7"/>
          </a:solidFill>
          <a:ln w="16510">
            <a:solidFill>
              <a:srgbClr val="2E7D32"/>
            </a:solidFill>
            <a:prstDash val="solid"/>
          </a:ln>
        </p:spPr>
        <p:txBody>
          <a:bodyPr/>
          <a:lstStyle/>
          <a:p>
            <a:endParaRPr lang="en-US"/>
          </a:p>
        </p:txBody>
      </p:sp>
      <p:sp>
        <p:nvSpPr>
          <p:cNvPr id="21" name="Text 18"/>
          <p:cNvSpPr/>
          <p:nvPr/>
        </p:nvSpPr>
        <p:spPr>
          <a:xfrm>
            <a:off x="9518904" y="1901952"/>
            <a:ext cx="1865376" cy="640080"/>
          </a:xfrm>
          <a:prstGeom prst="rect">
            <a:avLst/>
          </a:prstGeom>
          <a:noFill/>
          <a:ln/>
        </p:spPr>
        <p:txBody>
          <a:bodyPr wrap="square" lIns="0" tIns="0" rIns="0" bIns="0" rtlCol="0" anchor="ctr"/>
          <a:lstStyle/>
          <a:p>
            <a:pPr marL="0" indent="0" algn="ctr">
              <a:buNone/>
            </a:pPr>
            <a:r>
              <a:rPr lang="en-US" sz="1250" b="1" dirty="0">
                <a:solidFill>
                  <a:srgbClr val="2E7D32"/>
                </a:solidFill>
                <a:latin typeface="Calibri" pitchFamily="34" charset="0"/>
                <a:ea typeface="Calibri" pitchFamily="34" charset="-122"/>
                <a:cs typeface="Calibri" pitchFamily="34" charset="-120"/>
              </a:rPr>
              <a:t>STCM</a:t>
            </a:r>
            <a:endParaRPr lang="en-US" sz="1250" dirty="0"/>
          </a:p>
        </p:txBody>
      </p:sp>
      <p:sp>
        <p:nvSpPr>
          <p:cNvPr id="22" name="Text 19"/>
          <p:cNvSpPr/>
          <p:nvPr/>
        </p:nvSpPr>
        <p:spPr>
          <a:xfrm>
            <a:off x="9445752" y="2551176"/>
            <a:ext cx="2011680" cy="274320"/>
          </a:xfrm>
          <a:prstGeom prst="rect">
            <a:avLst/>
          </a:prstGeom>
          <a:noFill/>
          <a:ln/>
        </p:spPr>
        <p:txBody>
          <a:bodyPr wrap="square" lIns="0" tIns="0" rIns="0" bIns="0" rtlCol="0" anchor="ctr"/>
          <a:lstStyle/>
          <a:p>
            <a:pPr marL="0" indent="0" algn="ctr">
              <a:buNone/>
            </a:pPr>
            <a:r>
              <a:rPr lang="en-US" sz="850" i="1" dirty="0">
                <a:solidFill>
                  <a:srgbClr val="2E7D32"/>
                </a:solidFill>
                <a:latin typeface="Calibri" pitchFamily="34" charset="0"/>
                <a:ea typeface="Calibri" pitchFamily="34" charset="-122"/>
                <a:cs typeface="Calibri" pitchFamily="34" charset="-120"/>
              </a:rPr>
              <a:t>already in COMET</a:t>
            </a:r>
            <a:endParaRPr lang="en-US" sz="850" dirty="0"/>
          </a:p>
        </p:txBody>
      </p:sp>
      <p:sp>
        <p:nvSpPr>
          <p:cNvPr id="23" name="Shape 20"/>
          <p:cNvSpPr/>
          <p:nvPr/>
        </p:nvSpPr>
        <p:spPr>
          <a:xfrm>
            <a:off x="594360" y="3246120"/>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737555" y="3389315"/>
            <a:ext cx="243962" cy="243962"/>
          </a:xfrm>
          <a:prstGeom prst="rect">
            <a:avLst/>
          </a:prstGeom>
        </p:spPr>
      </p:pic>
      <p:sp>
        <p:nvSpPr>
          <p:cNvPr id="25" name="Text 21"/>
          <p:cNvSpPr/>
          <p:nvPr/>
        </p:nvSpPr>
        <p:spPr>
          <a:xfrm>
            <a:off x="1289304" y="3191256"/>
            <a:ext cx="4754880" cy="1143000"/>
          </a:xfrm>
          <a:prstGeom prst="rect">
            <a:avLst/>
          </a:prstGeom>
          <a:noFill/>
          <a:ln/>
        </p:spPr>
        <p:txBody>
          <a:bodyPr wrap="square" lIns="0" tIns="0" rIns="0" bIns="0" rtlCol="0" anchor="t"/>
          <a:lstStyle/>
          <a:p>
            <a:pPr marL="0" indent="0">
              <a:lnSpc>
                <a:spcPct val="100000"/>
              </a:lnSpc>
              <a:buNone/>
            </a:pPr>
            <a:r>
              <a:rPr lang="en-US" sz="1250" b="1" dirty="0">
                <a:solidFill>
                  <a:srgbClr val="23305F"/>
                </a:solidFill>
              </a:rPr>
              <a:t>The graph is already there</a:t>
            </a:r>
            <a:endParaRPr lang="en-US" sz="1250" dirty="0"/>
          </a:p>
          <a:p>
            <a:pPr marL="0" indent="0">
              <a:lnSpc>
                <a:spcPct val="100000"/>
              </a:lnSpc>
              <a:buNone/>
            </a:pPr>
            <a:r>
              <a:rPr lang="en-US" sz="1050" dirty="0">
                <a:solidFill>
                  <a:srgbClr val="6E6A63"/>
                </a:solidFill>
              </a:rPr>
              <a:t>concepts, synonyms, ancestors &amp; relationships live in Postgres today — add pgvector embeddings and the retrieval layer exists</a:t>
            </a:r>
            <a:endParaRPr lang="en-US" sz="1250" dirty="0"/>
          </a:p>
        </p:txBody>
      </p:sp>
      <p:sp>
        <p:nvSpPr>
          <p:cNvPr id="26" name="Shape 22"/>
          <p:cNvSpPr/>
          <p:nvPr/>
        </p:nvSpPr>
        <p:spPr>
          <a:xfrm>
            <a:off x="6217920" y="3246120"/>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27" name="Image 1" descr="preencoded.png"/>
          <p:cNvPicPr>
            <a:picLocks noChangeAspect="1"/>
          </p:cNvPicPr>
          <p:nvPr/>
        </p:nvPicPr>
        <p:blipFill>
          <a:blip r:embed="rId4"/>
          <a:stretch>
            <a:fillRect/>
          </a:stretch>
        </p:blipFill>
        <p:spPr>
          <a:xfrm>
            <a:off x="6361115" y="3389315"/>
            <a:ext cx="243962" cy="243962"/>
          </a:xfrm>
          <a:prstGeom prst="rect">
            <a:avLst/>
          </a:prstGeom>
        </p:spPr>
      </p:pic>
      <p:sp>
        <p:nvSpPr>
          <p:cNvPr id="28" name="Text 23"/>
          <p:cNvSpPr/>
          <p:nvPr/>
        </p:nvSpPr>
        <p:spPr>
          <a:xfrm>
            <a:off x="6912864" y="3191256"/>
            <a:ext cx="4754880" cy="1143000"/>
          </a:xfrm>
          <a:prstGeom prst="rect">
            <a:avLst/>
          </a:prstGeom>
          <a:noFill/>
          <a:ln/>
        </p:spPr>
        <p:txBody>
          <a:bodyPr wrap="square" lIns="0" tIns="0" rIns="0" bIns="0" rtlCol="0" anchor="t"/>
          <a:lstStyle/>
          <a:p>
            <a:pPr marL="0" indent="0">
              <a:lnSpc>
                <a:spcPct val="100000"/>
              </a:lnSpc>
              <a:buNone/>
            </a:pPr>
            <a:r>
              <a:rPr lang="en-US" sz="1250" b="1" dirty="0">
                <a:solidFill>
                  <a:srgbClr val="23305F"/>
                </a:solidFill>
              </a:rPr>
              <a:t>Guardrails stay the safety net</a:t>
            </a:r>
            <a:endParaRPr lang="en-US" sz="1250" dirty="0"/>
          </a:p>
          <a:p>
            <a:pPr marL="0" indent="0">
              <a:lnSpc>
                <a:spcPct val="100000"/>
              </a:lnSpc>
              <a:buNone/>
            </a:pPr>
            <a:r>
              <a:rPr lang="en-US" sz="1050" dirty="0">
                <a:solidFill>
                  <a:srgbClr val="6E6A63"/>
                </a:solidFill>
              </a:rPr>
              <a:t>every suggestion is checked against CDM v5.4 — standard, valid, right domain — before it can be accepted</a:t>
            </a:r>
            <a:endParaRPr lang="en-US" sz="1250" dirty="0"/>
          </a:p>
        </p:txBody>
      </p:sp>
      <p:sp>
        <p:nvSpPr>
          <p:cNvPr id="29" name="Shape 24"/>
          <p:cNvSpPr/>
          <p:nvPr/>
        </p:nvSpPr>
        <p:spPr>
          <a:xfrm>
            <a:off x="594360" y="4480560"/>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30" name="Image 2" descr="preencoded.png"/>
          <p:cNvPicPr>
            <a:picLocks noChangeAspect="1"/>
          </p:cNvPicPr>
          <p:nvPr/>
        </p:nvPicPr>
        <p:blipFill>
          <a:blip r:embed="rId5"/>
          <a:stretch>
            <a:fillRect/>
          </a:stretch>
        </p:blipFill>
        <p:spPr>
          <a:xfrm>
            <a:off x="737555" y="4623755"/>
            <a:ext cx="243962" cy="243962"/>
          </a:xfrm>
          <a:prstGeom prst="rect">
            <a:avLst/>
          </a:prstGeom>
        </p:spPr>
      </p:pic>
      <p:sp>
        <p:nvSpPr>
          <p:cNvPr id="31" name="Text 25"/>
          <p:cNvSpPr/>
          <p:nvPr/>
        </p:nvSpPr>
        <p:spPr>
          <a:xfrm>
            <a:off x="1289304" y="4425696"/>
            <a:ext cx="4754880" cy="1143000"/>
          </a:xfrm>
          <a:prstGeom prst="rect">
            <a:avLst/>
          </a:prstGeom>
          <a:noFill/>
          <a:ln/>
        </p:spPr>
        <p:txBody>
          <a:bodyPr wrap="square" lIns="0" tIns="0" rIns="0" bIns="0" rtlCol="0" anchor="t"/>
          <a:lstStyle/>
          <a:p>
            <a:pPr marL="0" indent="0">
              <a:lnSpc>
                <a:spcPct val="100000"/>
              </a:lnSpc>
              <a:buNone/>
            </a:pPr>
            <a:r>
              <a:rPr lang="en-US" sz="1250" b="1" dirty="0">
                <a:solidFill>
                  <a:srgbClr val="23305F"/>
                </a:solidFill>
              </a:rPr>
              <a:t>Explainable &amp; audited</a:t>
            </a:r>
            <a:endParaRPr lang="en-US" sz="1250" dirty="0"/>
          </a:p>
          <a:p>
            <a:pPr marL="0" indent="0">
              <a:lnSpc>
                <a:spcPct val="100000"/>
              </a:lnSpc>
              <a:buNone/>
            </a:pPr>
            <a:r>
              <a:rPr lang="en-US" sz="1050" dirty="0">
                <a:solidFill>
                  <a:srgbClr val="6E6A63"/>
                </a:solidFill>
              </a:rPr>
              <a:t>the model, confidence and rationale for each suggestion are logged; a human still approves the final map</a:t>
            </a:r>
            <a:endParaRPr lang="en-US" sz="1250" dirty="0"/>
          </a:p>
        </p:txBody>
      </p:sp>
      <p:sp>
        <p:nvSpPr>
          <p:cNvPr id="32" name="Shape 26"/>
          <p:cNvSpPr/>
          <p:nvPr/>
        </p:nvSpPr>
        <p:spPr>
          <a:xfrm>
            <a:off x="6217920" y="4480560"/>
            <a:ext cx="530352" cy="530352"/>
          </a:xfrm>
          <a:prstGeom prst="ellipse">
            <a:avLst/>
          </a:prstGeom>
          <a:solidFill>
            <a:srgbClr val="F6F2EB"/>
          </a:solidFill>
          <a:ln/>
          <a:effectLst>
            <a:outerShdw blurRad="63500" dist="25400" dir="5400000" algn="bl" rotWithShape="0">
              <a:srgbClr val="000000">
                <a:alpha val="18000"/>
              </a:srgbClr>
            </a:outerShdw>
          </a:effectLst>
        </p:spPr>
        <p:txBody>
          <a:bodyPr/>
          <a:lstStyle/>
          <a:p>
            <a:endParaRPr lang="en-US"/>
          </a:p>
        </p:txBody>
      </p:sp>
      <p:pic>
        <p:nvPicPr>
          <p:cNvPr id="33" name="Image 3" descr="preencoded.png"/>
          <p:cNvPicPr>
            <a:picLocks noChangeAspect="1"/>
          </p:cNvPicPr>
          <p:nvPr/>
        </p:nvPicPr>
        <p:blipFill>
          <a:blip r:embed="rId6"/>
          <a:stretch>
            <a:fillRect/>
          </a:stretch>
        </p:blipFill>
        <p:spPr>
          <a:xfrm>
            <a:off x="6361115" y="4623755"/>
            <a:ext cx="243962" cy="243962"/>
          </a:xfrm>
          <a:prstGeom prst="rect">
            <a:avLst/>
          </a:prstGeom>
        </p:spPr>
      </p:pic>
      <p:sp>
        <p:nvSpPr>
          <p:cNvPr id="34" name="Text 27"/>
          <p:cNvSpPr/>
          <p:nvPr/>
        </p:nvSpPr>
        <p:spPr>
          <a:xfrm>
            <a:off x="6912864" y="4425696"/>
            <a:ext cx="4754880" cy="1143000"/>
          </a:xfrm>
          <a:prstGeom prst="rect">
            <a:avLst/>
          </a:prstGeom>
          <a:noFill/>
          <a:ln/>
        </p:spPr>
        <p:txBody>
          <a:bodyPr wrap="square" lIns="0" tIns="0" rIns="0" bIns="0" rtlCol="0" anchor="t"/>
          <a:lstStyle/>
          <a:p>
            <a:pPr marL="0" indent="0">
              <a:lnSpc>
                <a:spcPct val="100000"/>
              </a:lnSpc>
              <a:buNone/>
            </a:pPr>
            <a:r>
              <a:rPr lang="en-US" sz="1250" b="1" dirty="0">
                <a:solidFill>
                  <a:srgbClr val="23305F"/>
                </a:solidFill>
              </a:rPr>
              <a:t>Private &amp; evaluated</a:t>
            </a:r>
            <a:endParaRPr lang="en-US" sz="1250" dirty="0"/>
          </a:p>
          <a:p>
            <a:pPr marL="0" indent="0">
              <a:lnSpc>
                <a:spcPct val="100000"/>
              </a:lnSpc>
              <a:buNone/>
            </a:pPr>
            <a:r>
              <a:rPr lang="en-US" sz="1050" dirty="0">
                <a:solidFill>
                  <a:srgbClr val="6E6A63"/>
                </a:solidFill>
              </a:rPr>
              <a:t>self-hostable models keep PHI in-tenant; A/B against approved maps and enable it only where it beats the lexical baseline</a:t>
            </a:r>
            <a:endParaRPr lang="en-US" sz="1250" dirty="0"/>
          </a:p>
        </p:txBody>
      </p:sp>
      <p:sp>
        <p:nvSpPr>
          <p:cNvPr id="35" name="Shape 28"/>
          <p:cNvSpPr/>
          <p:nvPr/>
        </p:nvSpPr>
        <p:spPr>
          <a:xfrm>
            <a:off x="594360" y="5897880"/>
            <a:ext cx="11018520" cy="731520"/>
          </a:xfrm>
          <a:prstGeom prst="roundRect">
            <a:avLst>
              <a:gd name="adj" fmla="val 10000"/>
            </a:avLst>
          </a:prstGeom>
          <a:solidFill>
            <a:srgbClr val="23305F"/>
          </a:solidFill>
          <a:ln/>
        </p:spPr>
        <p:txBody>
          <a:bodyPr/>
          <a:lstStyle/>
          <a:p>
            <a:endParaRPr lang="en-US"/>
          </a:p>
        </p:txBody>
      </p:sp>
      <p:sp>
        <p:nvSpPr>
          <p:cNvPr id="36" name="Text 29"/>
          <p:cNvSpPr/>
          <p:nvPr/>
        </p:nvSpPr>
        <p:spPr>
          <a:xfrm>
            <a:off x="822960" y="5897880"/>
            <a:ext cx="10561320" cy="731520"/>
          </a:xfrm>
          <a:prstGeom prst="rect">
            <a:avLst/>
          </a:prstGeom>
          <a:noFill/>
          <a:ln/>
        </p:spPr>
        <p:txBody>
          <a:bodyPr wrap="square" lIns="0" tIns="0" rIns="0" bIns="0" rtlCol="0" anchor="ctr"/>
          <a:lstStyle/>
          <a:p>
            <a:pPr marL="0" indent="0" algn="ctr">
              <a:buNone/>
            </a:pPr>
            <a:r>
              <a:rPr lang="en-US" sz="1300" b="1" dirty="0">
                <a:solidFill>
                  <a:srgbClr val="EBD9AE"/>
                </a:solidFill>
                <a:latin typeface="Calibri" pitchFamily="34" charset="0"/>
                <a:ea typeface="Calibri" pitchFamily="34" charset="-122"/>
                <a:cs typeface="Calibri" pitchFamily="34" charset="-120"/>
              </a:rPr>
              <a:t>COMET stays deterministic by default and human-in-the-loop</a:t>
            </a:r>
            <a:r>
              <a:rPr lang="en-US" sz="1300" dirty="0">
                <a:solidFill>
                  <a:srgbClr val="F1E7D6"/>
                </a:solidFill>
                <a:latin typeface="Calibri" pitchFamily="34" charset="0"/>
                <a:ea typeface="Calibri" pitchFamily="34" charset="-122"/>
                <a:cs typeface="Calibri" pitchFamily="34" charset="-120"/>
              </a:rPr>
              <a:t>  —  LLM agents augment candidate generation; they don't replace judgement or the guardrails.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A2013"/>
        </a:solidFill>
        <a:effectLst/>
      </p:bgPr>
    </p:bg>
    <p:spTree>
      <p:nvGrpSpPr>
        <p:cNvPr id="1" name=""/>
        <p:cNvGrpSpPr/>
        <p:nvPr/>
      </p:nvGrpSpPr>
      <p:grpSpPr>
        <a:xfrm>
          <a:off x="0" y="0"/>
          <a:ext cx="0" cy="0"/>
          <a:chOff x="0" y="0"/>
          <a:chExt cx="0" cy="0"/>
        </a:xfrm>
      </p:grpSpPr>
      <p:pic>
        <p:nvPicPr>
          <p:cNvPr id="2" name="Image 0" descr="/private/tmp/claude-501/-Users-mohammedabdallah-Projects-commet/f78115b9-c404-4e19-b5c5-246250312e25/scratchpad/gen/closing.png"/>
          <p:cNvPicPr>
            <a:picLocks noChangeAspect="1"/>
          </p:cNvPicPr>
          <p:nvPr/>
        </p:nvPicPr>
        <p:blipFill>
          <a:blip r:embed="rId3"/>
          <a:stretch>
            <a:fillRect/>
          </a:stretch>
        </p:blipFill>
        <p:spPr>
          <a:xfrm>
            <a:off x="0" y="841248"/>
            <a:ext cx="12191695" cy="5172548"/>
          </a:xfrm>
          <a:prstGeom prst="rect">
            <a:avLst/>
          </a:prstGeom>
        </p:spPr>
      </p:pic>
      <p:sp>
        <p:nvSpPr>
          <p:cNvPr id="4" name="Shape 0"/>
          <p:cNvSpPr/>
          <p:nvPr/>
        </p:nvSpPr>
        <p:spPr>
          <a:xfrm>
            <a:off x="0" y="0"/>
            <a:ext cx="12191695" cy="6858000"/>
          </a:xfrm>
          <a:prstGeom prst="rect">
            <a:avLst/>
          </a:prstGeom>
          <a:solidFill>
            <a:srgbClr val="2A2013">
              <a:alpha val="45000"/>
            </a:srgbClr>
          </a:solidFill>
          <a:ln/>
        </p:spPr>
        <p:txBody>
          <a:bodyPr/>
          <a:lstStyle/>
          <a:p>
            <a:endParaRPr lang="en-US"/>
          </a:p>
        </p:txBody>
      </p:sp>
      <p:sp>
        <p:nvSpPr>
          <p:cNvPr id="5" name="Text 1"/>
          <p:cNvSpPr/>
          <p:nvPr/>
        </p:nvSpPr>
        <p:spPr>
          <a:xfrm>
            <a:off x="777240" y="777240"/>
            <a:ext cx="10058400" cy="365760"/>
          </a:xfrm>
          <a:prstGeom prst="rect">
            <a:avLst/>
          </a:prstGeom>
          <a:noFill/>
          <a:ln/>
        </p:spPr>
        <p:txBody>
          <a:bodyPr wrap="square" lIns="0" tIns="0" rIns="0" bIns="0" rtlCol="0" anchor="ctr"/>
          <a:lstStyle/>
          <a:p>
            <a:pPr marL="0" indent="0">
              <a:buNone/>
            </a:pPr>
            <a:r>
              <a:rPr lang="en-US" sz="1400" b="1" kern="0" spc="200" dirty="0">
                <a:solidFill>
                  <a:srgbClr val="C7902B"/>
                </a:solidFill>
                <a:latin typeface="Calibri" pitchFamily="34" charset="0"/>
                <a:ea typeface="Calibri" pitchFamily="34" charset="-122"/>
                <a:cs typeface="Calibri" pitchFamily="34" charset="-120"/>
              </a:rPr>
              <a:t>FROM BEDSIDE TO BENCHMARK</a:t>
            </a:r>
            <a:endParaRPr lang="en-US" sz="1400" dirty="0"/>
          </a:p>
        </p:txBody>
      </p:sp>
      <p:sp>
        <p:nvSpPr>
          <p:cNvPr id="6" name="Text 2"/>
          <p:cNvSpPr/>
          <p:nvPr/>
        </p:nvSpPr>
        <p:spPr>
          <a:xfrm>
            <a:off x="731520" y="1188720"/>
            <a:ext cx="1051560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 mapping tool a team can trust</a:t>
            </a:r>
            <a:endParaRPr lang="en-US" sz="3400" dirty="0"/>
          </a:p>
        </p:txBody>
      </p:sp>
      <p:sp>
        <p:nvSpPr>
          <p:cNvPr id="7" name="Shape 3"/>
          <p:cNvSpPr/>
          <p:nvPr/>
        </p:nvSpPr>
        <p:spPr>
          <a:xfrm>
            <a:off x="777240" y="2514600"/>
            <a:ext cx="4297680" cy="1371600"/>
          </a:xfrm>
          <a:prstGeom prst="roundRect">
            <a:avLst>
              <a:gd name="adj" fmla="val 5333"/>
            </a:avLst>
          </a:prstGeom>
          <a:solidFill>
            <a:srgbClr val="34281A"/>
          </a:solidFill>
          <a:ln w="19050">
            <a:solidFill>
              <a:srgbClr val="4A3A22"/>
            </a:solidFill>
            <a:prstDash val="solid"/>
          </a:ln>
          <a:effectLst>
            <a:outerShdw blurRad="76200" dist="25400" dir="5400000" algn="bl" rotWithShape="0">
              <a:srgbClr val="000000">
                <a:alpha val="14000"/>
              </a:srgbClr>
            </a:outerShdw>
          </a:effectLst>
        </p:spPr>
        <p:txBody>
          <a:bodyPr/>
          <a:lstStyle/>
          <a:p>
            <a:endParaRPr lang="en-US"/>
          </a:p>
        </p:txBody>
      </p:sp>
      <p:sp>
        <p:nvSpPr>
          <p:cNvPr id="8" name="Text 4"/>
          <p:cNvSpPr/>
          <p:nvPr/>
        </p:nvSpPr>
        <p:spPr>
          <a:xfrm>
            <a:off x="868680" y="2514600"/>
            <a:ext cx="4114800" cy="1371600"/>
          </a:xfrm>
          <a:prstGeom prst="rect">
            <a:avLst/>
          </a:prstGeom>
          <a:noFill/>
          <a:ln/>
        </p:spPr>
        <p:txBody>
          <a:bodyPr wrap="square" lIns="0" tIns="0" rIns="0" bIns="0" rtlCol="0" anchor="ctr"/>
          <a:lstStyle/>
          <a:p>
            <a:pPr marL="0" indent="0" algn="ctr">
              <a:buNone/>
            </a:pPr>
            <a:r>
              <a:rPr lang="en-US" sz="1500" b="1" dirty="0">
                <a:solidFill>
                  <a:srgbClr val="EBD9AE"/>
                </a:solidFill>
              </a:rPr>
              <a:t>Original COMET</a:t>
            </a:r>
            <a:endParaRPr lang="en-US" sz="1500" dirty="0"/>
          </a:p>
          <a:p>
            <a:pPr marL="0" indent="0" algn="ctr">
              <a:buNone/>
            </a:pPr>
            <a:r>
              <a:rPr lang="en-US" sz="1200" dirty="0">
                <a:solidFill>
                  <a:srgbClr val="F1E7D6"/>
                </a:solidFill>
              </a:rPr>
              <a:t>legacy PHP · string search · no drift control · single-user</a:t>
            </a:r>
            <a:endParaRPr lang="en-US" sz="1500" dirty="0"/>
          </a:p>
        </p:txBody>
      </p:sp>
      <p:sp>
        <p:nvSpPr>
          <p:cNvPr id="9" name="Shape 5"/>
          <p:cNvSpPr/>
          <p:nvPr/>
        </p:nvSpPr>
        <p:spPr>
          <a:xfrm>
            <a:off x="5257800" y="2788920"/>
            <a:ext cx="822960" cy="822960"/>
          </a:xfrm>
          <a:prstGeom prst="ellipse">
            <a:avLst/>
          </a:prstGeom>
          <a:solidFill>
            <a:srgbClr val="C7902B"/>
          </a:solidFill>
          <a:ln/>
          <a:effectLst>
            <a:outerShdw blurRad="63500" dist="25400" dir="5400000" algn="bl" rotWithShape="0">
              <a:srgbClr val="000000">
                <a:alpha val="18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479999" y="3011119"/>
            <a:ext cx="378562" cy="378562"/>
          </a:xfrm>
          <a:prstGeom prst="rect">
            <a:avLst/>
          </a:prstGeom>
        </p:spPr>
      </p:pic>
      <p:sp>
        <p:nvSpPr>
          <p:cNvPr id="11" name="Shape 6"/>
          <p:cNvSpPr/>
          <p:nvPr/>
        </p:nvSpPr>
        <p:spPr>
          <a:xfrm>
            <a:off x="6400800" y="2514600"/>
            <a:ext cx="4846320" cy="1371600"/>
          </a:xfrm>
          <a:prstGeom prst="roundRect">
            <a:avLst>
              <a:gd name="adj" fmla="val 5333"/>
            </a:avLst>
          </a:prstGeom>
          <a:solidFill>
            <a:srgbClr val="34281A"/>
          </a:solidFill>
          <a:ln w="19050">
            <a:solidFill>
              <a:srgbClr val="C7902B"/>
            </a:solidFill>
            <a:prstDash val="solid"/>
          </a:ln>
          <a:effectLst>
            <a:outerShdw blurRad="76200" dist="25400" dir="5400000" algn="bl" rotWithShape="0">
              <a:srgbClr val="000000">
                <a:alpha val="14000"/>
              </a:srgbClr>
            </a:outerShdw>
          </a:effectLst>
        </p:spPr>
        <p:txBody>
          <a:bodyPr/>
          <a:lstStyle/>
          <a:p>
            <a:endParaRPr lang="en-US"/>
          </a:p>
        </p:txBody>
      </p:sp>
      <p:sp>
        <p:nvSpPr>
          <p:cNvPr id="12" name="Text 7"/>
          <p:cNvSpPr/>
          <p:nvPr/>
        </p:nvSpPr>
        <p:spPr>
          <a:xfrm>
            <a:off x="6492240" y="2514600"/>
            <a:ext cx="4663440" cy="1371600"/>
          </a:xfrm>
          <a:prstGeom prst="rect">
            <a:avLst/>
          </a:prstGeom>
          <a:noFill/>
          <a:ln/>
        </p:spPr>
        <p:txBody>
          <a:bodyPr wrap="square" lIns="0" tIns="0" rIns="0" bIns="0" rtlCol="0" anchor="ctr"/>
          <a:lstStyle/>
          <a:p>
            <a:pPr marL="0" indent="0" algn="ctr">
              <a:buNone/>
            </a:pPr>
            <a:r>
              <a:rPr lang="en-US" sz="1500" b="1" dirty="0">
                <a:solidFill>
                  <a:srgbClr val="EBD9AE"/>
                </a:solidFill>
              </a:rPr>
              <a:t>New COMET</a:t>
            </a:r>
            <a:endParaRPr lang="en-US" sz="1500" dirty="0"/>
          </a:p>
          <a:p>
            <a:pPr marL="0" indent="0" algn="ctr">
              <a:buNone/>
            </a:pPr>
            <a:r>
              <a:rPr lang="en-US" sz="1200" dirty="0">
                <a:solidFill>
                  <a:srgbClr val="F1E7D6"/>
                </a:solidFill>
              </a:rPr>
              <a:t>Laravel + Postgres · hybrid search · guardrails &amp; review · Canadian-ready · team workflow</a:t>
            </a:r>
            <a:endParaRPr lang="en-US" sz="1500" dirty="0"/>
          </a:p>
        </p:txBody>
      </p:sp>
      <p:sp>
        <p:nvSpPr>
          <p:cNvPr id="13" name="Text 8"/>
          <p:cNvSpPr/>
          <p:nvPr/>
        </p:nvSpPr>
        <p:spPr>
          <a:xfrm>
            <a:off x="777240" y="4297680"/>
            <a:ext cx="2743200" cy="640080"/>
          </a:xfrm>
          <a:prstGeom prst="rect">
            <a:avLst/>
          </a:prstGeom>
          <a:noFill/>
          <a:ln/>
        </p:spPr>
        <p:txBody>
          <a:bodyPr wrap="square" lIns="0" tIns="0" rIns="0" bIns="0" rtlCol="0" anchor="ctr"/>
          <a:lstStyle/>
          <a:p>
            <a:pPr marL="0" indent="0" algn="ctr">
              <a:buNone/>
            </a:pPr>
            <a:r>
              <a:rPr lang="en-US" sz="3400" b="1" dirty="0">
                <a:solidFill>
                  <a:srgbClr val="C7902B"/>
                </a:solidFill>
                <a:latin typeface="Cambria" pitchFamily="34" charset="0"/>
                <a:ea typeface="Cambria" pitchFamily="34" charset="-122"/>
                <a:cs typeface="Cambria" pitchFamily="34" charset="-120"/>
              </a:rPr>
              <a:t>12/12</a:t>
            </a:r>
            <a:endParaRPr lang="en-US" sz="3400" dirty="0"/>
          </a:p>
        </p:txBody>
      </p:sp>
      <p:sp>
        <p:nvSpPr>
          <p:cNvPr id="14" name="Text 9"/>
          <p:cNvSpPr/>
          <p:nvPr/>
        </p:nvSpPr>
        <p:spPr>
          <a:xfrm>
            <a:off x="777240" y="4956048"/>
            <a:ext cx="2743200" cy="457200"/>
          </a:xfrm>
          <a:prstGeom prst="rect">
            <a:avLst/>
          </a:prstGeom>
          <a:noFill/>
          <a:ln/>
        </p:spPr>
        <p:txBody>
          <a:bodyPr wrap="square" lIns="0" tIns="0" rIns="0" bIns="0" rtlCol="0" anchor="ctr"/>
          <a:lstStyle/>
          <a:p>
            <a:pPr marL="0" indent="0" algn="ctr">
              <a:buNone/>
            </a:pPr>
            <a:r>
              <a:rPr lang="en-US" sz="1250" dirty="0">
                <a:solidFill>
                  <a:srgbClr val="F1E7D6"/>
                </a:solidFill>
                <a:latin typeface="Calibri" pitchFamily="34" charset="0"/>
                <a:ea typeface="Calibri" pitchFamily="34" charset="-122"/>
                <a:cs typeface="Calibri" pitchFamily="34" charset="-120"/>
              </a:rPr>
              <a:t>milestones</a:t>
            </a:r>
            <a:endParaRPr lang="en-US" sz="1250" dirty="0"/>
          </a:p>
        </p:txBody>
      </p:sp>
      <p:sp>
        <p:nvSpPr>
          <p:cNvPr id="15" name="Text 10"/>
          <p:cNvSpPr/>
          <p:nvPr/>
        </p:nvSpPr>
        <p:spPr>
          <a:xfrm>
            <a:off x="3611880" y="4297680"/>
            <a:ext cx="2743200" cy="640080"/>
          </a:xfrm>
          <a:prstGeom prst="rect">
            <a:avLst/>
          </a:prstGeom>
          <a:noFill/>
          <a:ln/>
        </p:spPr>
        <p:txBody>
          <a:bodyPr wrap="square" lIns="0" tIns="0" rIns="0" bIns="0" rtlCol="0" anchor="ctr"/>
          <a:lstStyle/>
          <a:p>
            <a:pPr marL="0" indent="0" algn="ctr">
              <a:buNone/>
            </a:pPr>
            <a:r>
              <a:rPr lang="en-US" sz="3400" b="1" dirty="0">
                <a:solidFill>
                  <a:srgbClr val="C7902B"/>
                </a:solidFill>
                <a:latin typeface="Cambria" pitchFamily="34" charset="0"/>
                <a:ea typeface="Cambria" pitchFamily="34" charset="-122"/>
                <a:cs typeface="Cambria" pitchFamily="34" charset="-120"/>
              </a:rPr>
              <a:t>70</a:t>
            </a:r>
            <a:endParaRPr lang="en-US" sz="3400" dirty="0"/>
          </a:p>
        </p:txBody>
      </p:sp>
      <p:sp>
        <p:nvSpPr>
          <p:cNvPr id="16" name="Text 11"/>
          <p:cNvSpPr/>
          <p:nvPr/>
        </p:nvSpPr>
        <p:spPr>
          <a:xfrm>
            <a:off x="3611880" y="4956048"/>
            <a:ext cx="2743200" cy="457200"/>
          </a:xfrm>
          <a:prstGeom prst="rect">
            <a:avLst/>
          </a:prstGeom>
          <a:noFill/>
          <a:ln/>
        </p:spPr>
        <p:txBody>
          <a:bodyPr wrap="square" lIns="0" tIns="0" rIns="0" bIns="0" rtlCol="0" anchor="ctr"/>
          <a:lstStyle/>
          <a:p>
            <a:pPr marL="0" indent="0" algn="ctr">
              <a:buNone/>
            </a:pPr>
            <a:r>
              <a:rPr lang="en-US" sz="1250" dirty="0">
                <a:solidFill>
                  <a:srgbClr val="F1E7D6"/>
                </a:solidFill>
                <a:latin typeface="Calibri" pitchFamily="34" charset="0"/>
                <a:ea typeface="Calibri" pitchFamily="34" charset="-122"/>
                <a:cs typeface="Calibri" pitchFamily="34" charset="-120"/>
              </a:rPr>
              <a:t>automated tests</a:t>
            </a:r>
            <a:endParaRPr lang="en-US" sz="1250" dirty="0"/>
          </a:p>
        </p:txBody>
      </p:sp>
      <p:sp>
        <p:nvSpPr>
          <p:cNvPr id="17" name="Text 12"/>
          <p:cNvSpPr/>
          <p:nvPr/>
        </p:nvSpPr>
        <p:spPr>
          <a:xfrm>
            <a:off x="6446520" y="4297680"/>
            <a:ext cx="2743200" cy="640080"/>
          </a:xfrm>
          <a:prstGeom prst="rect">
            <a:avLst/>
          </a:prstGeom>
          <a:noFill/>
          <a:ln/>
        </p:spPr>
        <p:txBody>
          <a:bodyPr wrap="square" lIns="0" tIns="0" rIns="0" bIns="0" rtlCol="0" anchor="ctr"/>
          <a:lstStyle/>
          <a:p>
            <a:pPr marL="0" indent="0" algn="ctr">
              <a:buNone/>
            </a:pPr>
            <a:r>
              <a:rPr lang="en-US" sz="3400" b="1" dirty="0">
                <a:solidFill>
                  <a:srgbClr val="C7902B"/>
                </a:solidFill>
                <a:latin typeface="Cambria" pitchFamily="34" charset="0"/>
                <a:ea typeface="Cambria" pitchFamily="34" charset="-122"/>
                <a:cs typeface="Cambria" pitchFamily="34" charset="-120"/>
              </a:rPr>
              <a:t>189k</a:t>
            </a:r>
            <a:endParaRPr lang="en-US" sz="3400" dirty="0"/>
          </a:p>
        </p:txBody>
      </p:sp>
      <p:sp>
        <p:nvSpPr>
          <p:cNvPr id="18" name="Text 13"/>
          <p:cNvSpPr/>
          <p:nvPr/>
        </p:nvSpPr>
        <p:spPr>
          <a:xfrm>
            <a:off x="6446520" y="4956048"/>
            <a:ext cx="2743200" cy="457200"/>
          </a:xfrm>
          <a:prstGeom prst="rect">
            <a:avLst/>
          </a:prstGeom>
          <a:noFill/>
          <a:ln/>
        </p:spPr>
        <p:txBody>
          <a:bodyPr wrap="square" lIns="0" tIns="0" rIns="0" bIns="0" rtlCol="0" anchor="ctr"/>
          <a:lstStyle/>
          <a:p>
            <a:pPr marL="0" indent="0" algn="ctr">
              <a:buNone/>
            </a:pPr>
            <a:r>
              <a:rPr lang="en-US" sz="1250" dirty="0">
                <a:solidFill>
                  <a:srgbClr val="F1E7D6"/>
                </a:solidFill>
                <a:latin typeface="Calibri" pitchFamily="34" charset="0"/>
                <a:ea typeface="Calibri" pitchFamily="34" charset="-122"/>
                <a:cs typeface="Calibri" pitchFamily="34" charset="-120"/>
              </a:rPr>
              <a:t>source terms</a:t>
            </a:r>
            <a:endParaRPr lang="en-US" sz="1250" dirty="0"/>
          </a:p>
        </p:txBody>
      </p:sp>
      <p:sp>
        <p:nvSpPr>
          <p:cNvPr id="19" name="Text 14"/>
          <p:cNvSpPr/>
          <p:nvPr/>
        </p:nvSpPr>
        <p:spPr>
          <a:xfrm>
            <a:off x="9052560" y="4297680"/>
            <a:ext cx="2743200" cy="640080"/>
          </a:xfrm>
          <a:prstGeom prst="rect">
            <a:avLst/>
          </a:prstGeom>
          <a:noFill/>
          <a:ln/>
        </p:spPr>
        <p:txBody>
          <a:bodyPr wrap="square" lIns="0" tIns="0" rIns="0" bIns="0" rtlCol="0" anchor="ctr"/>
          <a:lstStyle/>
          <a:p>
            <a:pPr marL="0" indent="0" algn="ctr">
              <a:buNone/>
            </a:pPr>
            <a:r>
              <a:rPr lang="en-US" sz="3400" b="1" dirty="0">
                <a:solidFill>
                  <a:srgbClr val="C7902B"/>
                </a:solidFill>
                <a:latin typeface="Cambria" pitchFamily="34" charset="0"/>
                <a:ea typeface="Cambria" pitchFamily="34" charset="-122"/>
                <a:cs typeface="Cambria" pitchFamily="34" charset="-120"/>
              </a:rPr>
              <a:t>124k</a:t>
            </a:r>
            <a:endParaRPr lang="en-US" sz="3400" dirty="0"/>
          </a:p>
        </p:txBody>
      </p:sp>
      <p:sp>
        <p:nvSpPr>
          <p:cNvPr id="20" name="Text 15"/>
          <p:cNvSpPr/>
          <p:nvPr/>
        </p:nvSpPr>
        <p:spPr>
          <a:xfrm>
            <a:off x="9052560" y="4956048"/>
            <a:ext cx="2743200" cy="457200"/>
          </a:xfrm>
          <a:prstGeom prst="rect">
            <a:avLst/>
          </a:prstGeom>
          <a:noFill/>
          <a:ln/>
        </p:spPr>
        <p:txBody>
          <a:bodyPr wrap="square" lIns="0" tIns="0" rIns="0" bIns="0" rtlCol="0" anchor="ctr"/>
          <a:lstStyle/>
          <a:p>
            <a:pPr marL="0" indent="0" algn="ctr">
              <a:buNone/>
            </a:pPr>
            <a:r>
              <a:rPr lang="en-US" sz="1250" dirty="0">
                <a:solidFill>
                  <a:srgbClr val="F1E7D6"/>
                </a:solidFill>
                <a:latin typeface="Calibri" pitchFamily="34" charset="0"/>
                <a:ea typeface="Calibri" pitchFamily="34" charset="-122"/>
                <a:cs typeface="Calibri" pitchFamily="34" charset="-120"/>
              </a:rPr>
              <a:t>candidates</a:t>
            </a:r>
            <a:endParaRPr lang="en-US" sz="1250" dirty="0"/>
          </a:p>
        </p:txBody>
      </p:sp>
      <p:sp>
        <p:nvSpPr>
          <p:cNvPr id="21" name="Text 16"/>
          <p:cNvSpPr/>
          <p:nvPr/>
        </p:nvSpPr>
        <p:spPr>
          <a:xfrm>
            <a:off x="777240" y="5715000"/>
            <a:ext cx="10424160" cy="822960"/>
          </a:xfrm>
          <a:prstGeom prst="rect">
            <a:avLst/>
          </a:prstGeom>
          <a:noFill/>
          <a:ln/>
        </p:spPr>
        <p:txBody>
          <a:bodyPr wrap="square" lIns="0" tIns="0" rIns="0" bIns="0" rtlCol="0" anchor="ctr"/>
          <a:lstStyle/>
          <a:p>
            <a:pPr marL="0" indent="0">
              <a:lnSpc>
                <a:spcPct val="105000"/>
              </a:lnSpc>
              <a:buNone/>
            </a:pPr>
            <a:r>
              <a:rPr lang="en-US" sz="1500" i="1" dirty="0">
                <a:solidFill>
                  <a:srgbClr val="FFFFFF"/>
                </a:solidFill>
                <a:latin typeface="Cambria" pitchFamily="34" charset="0"/>
                <a:ea typeface="Cambria" pitchFamily="34" charset="-122"/>
                <a:cs typeface="Cambria" pitchFamily="34" charset="-120"/>
              </a:rPr>
              <a:t>The goal was never to map faster than a human — but to help a team map consistently, correctly, and accountably, at a scale no human could manage alone.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TotalTime>
  <Words>5016</Words>
  <Application>Microsoft Macintosh PowerPoint</Application>
  <PresentationFormat>Widescreen</PresentationFormat>
  <Paragraphs>495</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OMOP Concept Mapping with COMET</dc:title>
  <dc:subject>PptxGenJS Presentation</dc:subject>
  <dc:creator>COMET</dc:creator>
  <cp:lastModifiedBy>mohammed Abdallah</cp:lastModifiedBy>
  <cp:revision>2</cp:revision>
  <dcterms:created xsi:type="dcterms:W3CDTF">2026-07-08T06:50:25Z</dcterms:created>
  <dcterms:modified xsi:type="dcterms:W3CDTF">2026-07-09T01:22:28Z</dcterms:modified>
</cp:coreProperties>
</file>